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promise: network security for places with no security team. Raven runs on the gateway Mac, spots port scans, password guessing, malware check-ins, DNS tunnelling and unusual traffic, explains each in plain English, keeps a permanent history, and can alert Slack, Discord or Telegram. The screenshot on the right is the real console during a live test on this Mac.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schools, labs and small offices have the same exposure as a company but no analyst. Commercial tools assume a security operations team. The attacks themselves are quiet: a scan or a password-guessing run looks like background noise unless something is 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Capture reads packets with tcpdump or from a pcap file. Features count what each device did over 10 seconds, 5 minutes and 1 hour. Detectors are readable rules plus two statistical models. Correlation joins alerts on the same device into an incident with an attack chain. Explain writes the words, from templates or an optional local LLM. Deliver puts it on the console, in the permanent history and, if enabled, on Slack, Discord or Telegram. The key safety point is the bar underneath: network text is sanitised before any LLM, alert or screen sees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shows what the detector looks for and the real evidence recorded in the live loopback test (numbers from demo.md and docs/ABLATION.md). The first four are rules with thresholds you can read and tune. The fifth, unusual behaviour, is statistical and says only 'unusual', never a named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screenshot, not a mock-up: the console during the live loopback test with all four attacks run. 1: the packet monitor, newest first, filterable; packets from a flagged device turn red for a minute. 2: topology around this host, with service ports as small boxes, so a scan shows up as ports lighting up. 3: the alert stack, every CRITICAL stays visible. 4: packets per second. It listens on 127.0.0.1 only, with a one-time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detection is written to a SQLite database in the user's folder, so it survives restarts. The History tab filters by severity, time and source, searches headline, address, technique or incident id, opens the full explanation and the numbers behind it, exports CSV, and deletes chosen entries (two clicks to confirm, each deletion recorded in an audit log). The same data is available in the terminal with 'raven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Notifications tab shows the three channels with their state: ready, no credentials, or not listed in the config, and sent, failed and skipped counts for the last 24 hours. The banner says whether this run is armed: alerts only go out when the run was started with the notify flag and notifications are enabled. Below is the delivery log: every attempt with the headline and severity it carried and, for a failure, a short reason such as HTTP 500, never a URL or a token. The test button sends one clearly marked sample message to the real channel after a second click, so you can prove delivery before an attack happens. In this screenshot the notification transport was a fake that failed one Slack message on purpose to show a failure row, so nothing was sent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Devices tab is the inventory of what the capture has seen, by MAC address: addresses, last seen, packets, bytes sent and received, and how many alerts each device has with the worst severity. It is stored in the database, so it survives restarts. Select a device to see its recent alerts and give it a name; names are typed by the admin and never taken from network data. Broadcast and multicast addresses are not devices and are skipped. One limit: a device is a MAC, so machines behind a router show up as the 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Health tab answers whether the capture is alive and how the run is set up. Capture shows the source, state, uptime and how long ago the last packet arrived, in amber if a live capture has been silent. Detectors lists the rules, windows, cooldown and the two statistical models with their thresholds. Notifications and the LLM show setup, with credentials only as set or not set. Database shows size and counts. Underneath are the same checks as the doctor command, including whether the LLM server has the model, refreshed every few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short window misses a patient attacker who probes slowly. Raven counts over 10 seconds, 5 minutes and 1 hour. The default scan thresholds are 20 distinct ports in 10 seconds, 15 in 5 minutes and 60 in an hour. Expressed as a probing rate, that is the chart: a scan must go faster than 120 probes a minute to trip the short clock, but the 5-minute clock catches 3 a minute and the 1-hour clock catches 1 a minute. In the live loopback test a fast scan was CRITICAL through the 10-second window and a scan of one probe per second was HIGH through the 5-minute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own rule says a model ships enabled only if an ablation shows it adds something without raising false alarms on normal traffic. docs/ABLATION.md has the details; the data is synthetic. Left: a slow DNS tunnel with short names, 10 queries in 5 minutes, 20-character base32 labels. Only one rule signal fired, entropy 3.88, and two are needed, so the rules alone missed it. The n-gram model scores how pronounceable a name is. Ordinary names land at 2.5 to 3.5 bits per character, random ones at 5.4 and above; this tunnel scored 5.69, the second signal, so it was caught. Right: a 20-second bulk upload after 40 minutes of normal browsing. No rule covers volume. The Isolation Forest learned the network's normal, and bytes out was 263 times anything it had seen. Be upfront about limits: synthetic traffic, a small built-in word list, a 35-minute warm-up, and the real-network false-alarm rate is not yet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the live loopback test in demo.md: Raven captured lo0 on this Mac with only the 10-second window while the four attack scripts ran against 127.0.0.1. Bars show seconds from attack start to alert. The DNS tunnel was fastest, 1.7 s; the beacon needed about 12 s because it needs ten check-ins one second apart. The control, ordinary web browsing, raised nothing. Stability: port scan, brute force, DNS and the control were right in about 15 live runs each; the beacon missed 2 of 21 early attempts because the attack started before tcpdump was capturing, and after the driver waited for tcpdump it was 4 of 4. Real beacons check in every 30 to 300 seconds, so they need minutes, not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detector that cries wolf gets ignored, so every rule has a guard. DNS tunnelling needs two independent signals. A domain looked up by three or more devices is a shared service, not one machine's C2. A destination that many hosts contact is not a beacon. After an alert the same detector stays quiet for that device for five minutes. The Isolation Forest only alerts when a count or volume is more than double anything in its baseline; without that guard it raised false alarms on our benign test networks, which is why the guard exists. The result so far: 12 seeded benign networks of eight devices for 40 minutes raised nothing. Again: synthetic data, real-network rate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what the detector actually recorded: only numbers. Right is what the admin reads, taken from the real History detail in the screenshot: a headline, what happened, the likely cause and a suggested action. The text comes from fixed templates, so it is always available and always matches the evidence. If you run a local model, Ollama or llama.cpp, it rewrites the wording from the same sanitised fields. Its output is checked against the evidence: invented numbers, addresses or techniques cause the template to be used instead. The model can only pick an action from a fixed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Notifications are opt-in and off by default. Slack and Discord use webhooks, Telegram a bot token and chat id; keys live in a private file, never in the config or logs. Policies stop alert fatigue: a severity floor, de-duplication, a per-channel rate limit, retries with back-off and a circuit breaker that pauses a failing channel. Messages carry only a sanitised summary: device, technique, score and advice, never packet data. Be honest about status: delivery is tested against fakes; sending to real Slack, Discord and Telegram is on the verification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points. One: strings from the network are hostile and go through one sanitiser. Two: the console is local only, with a token, a strict content-security policy and no way for network text to become markup; the test suite fails if code that builds HTML from strings is added. Three: Raven only observes and alerts; it never blocks or changes the network. Four: secrets are in a mode 600 file and never printed. Five: the demo attack scripts refuse any target except loopback. Also mention the delete and history paths are validated and audited, and that automated security review found and we fixed a symlink issue in the sudo file-ownership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Raven sees what crosses the interface it captures, so it belongs on the gateway: a Mac sharing its connection, where clients appear on bridge100. On a normal laptop on Wi-Fi it only sees that laptop's own traffic. Be clear about the audience: small teams, schools and labs with no analyst, and people learning detection. It is not an enterprise product, not an intrusion prevention system, and does not read encrypted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blocks. Install uses uv, which fetches Python itself. The quick start needs no network at all: it builds a synthetic capture with one of each attack and replays it. 'Attack yourself' runs the four attacks against your own loopback while the console watches, so you can show the detection live. The demo config uses a 10-second window and keeps demo data out of your real history. Everything is in the README and USER_GUIDE.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promise and the call to action: try it in five minutes with no network. Offer to run the live attack demo now.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D101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D1013"/>
        </a:solidFill>
      </p:bgPr>
    </p:bg>
    <p:spTree>
      <p:nvGrpSpPr>
        <p:cNvPr id="1" name=""/>
        <p:cNvGrpSpPr/>
        <p:nvPr/>
      </p:nvGrpSpPr>
      <p:grpSpPr>
        <a:xfrm>
          <a:off x="0" y="0"/>
          <a:ext cx="0" cy="0"/>
          <a:chOff x="0" y="0"/>
          <a:chExt cx="0" cy="0"/>
        </a:xfrm>
      </p:grpSpPr>
      <p:sp>
        <p:nvSpPr>
          <p:cNvPr id="2" name="Shape 0"/>
          <p:cNvSpPr/>
          <p:nvPr/>
        </p:nvSpPr>
        <p:spPr>
          <a:xfrm>
            <a:off x="0" y="6492240"/>
            <a:ext cx="12188952" cy="365760"/>
          </a:xfrm>
          <a:prstGeom prst="rect">
            <a:avLst/>
          </a:prstGeom>
          <a:solidFill>
            <a:srgbClr val="0A0C0F"/>
          </a:solidFill>
          <a:ln w="12700">
            <a:solidFill>
              <a:srgbClr val="0A0C0F"/>
            </a:solidFill>
            <a:prstDash val="solid"/>
          </a:ln>
        </p:spPr>
      </p:sp>
      <p:sp>
        <p:nvSpPr>
          <p:cNvPr id="3" name="Shape 1"/>
          <p:cNvSpPr/>
          <p:nvPr/>
        </p:nvSpPr>
        <p:spPr>
          <a:xfrm>
            <a:off x="548640" y="6556248"/>
            <a:ext cx="109728" cy="109728"/>
          </a:xfrm>
          <a:prstGeom prst="rect">
            <a:avLst/>
          </a:prstGeom>
          <a:solidFill>
            <a:srgbClr val="C4403F"/>
          </a:solidFill>
          <a:ln w="12700">
            <a:solidFill>
              <a:srgbClr val="C4403F"/>
            </a:solidFill>
            <a:prstDash val="solid"/>
          </a:ln>
        </p:spPr>
      </p:sp>
      <p:sp>
        <p:nvSpPr>
          <p:cNvPr id="4" name="Text 2"/>
          <p:cNvSpPr/>
          <p:nvPr/>
        </p:nvSpPr>
        <p:spPr>
          <a:xfrm>
            <a:off x="749808" y="6492240"/>
            <a:ext cx="2743200" cy="256032"/>
          </a:xfrm>
          <a:prstGeom prst="rect">
            <a:avLst/>
          </a:prstGeom>
          <a:noFill/>
          <a:ln/>
        </p:spPr>
        <p:txBody>
          <a:bodyPr wrap="square" lIns="0" tIns="0" rIns="0" bIns="0" rtlCol="0" anchor="ctr"/>
          <a:lstStyle/>
          <a:p>
            <a:pPr indent="0" marL="0">
              <a:buNone/>
            </a:pPr>
            <a:r>
              <a:rPr lang="en-US" sz="1000" b="1" spc="400" kern="0" dirty="0">
                <a:solidFill>
                  <a:srgbClr val="7B8794"/>
                </a:solidFill>
                <a:latin typeface="Courier New" pitchFamily="34" charset="0"/>
                <a:ea typeface="Courier New" pitchFamily="34" charset="-122"/>
                <a:cs typeface="Courier New" pitchFamily="34" charset="-120"/>
              </a:rPr>
              <a:t>RAVEN</a:t>
            </a:r>
            <a:endParaRPr lang="en-US" sz="1000" dirty="0"/>
          </a:p>
        </p:txBody>
      </p:sp>
      <p:sp>
        <p:nvSpPr>
          <p:cNvPr id="5" name="Text 3"/>
          <p:cNvSpPr/>
          <p:nvPr>
            <p:ph idx="103" type="title" hasCustomPrompt="1"/>
          </p:nvPr>
        </p:nvSpPr>
        <p:spPr>
          <a:xfrm>
            <a:off x="548640" y="566928"/>
            <a:ext cx="11064240" cy="868680"/>
          </a:xfrm>
          <a:prstGeom prst="rect">
            <a:avLst/>
          </a:prstGeom>
          <a:noFill/>
          <a:ln/>
        </p:spPr>
        <p:txBody>
          <a:bodyPr wrap="square" rtlCol="0"/>
          <a:lstStyle>
            <a:lvl1pPr algn="l" indent="0" marL="0">
              <a:buNone/>
              <a:defRPr lang="en-US" sz="2800" b="1" dirty="0">
                <a:solidFill>
                  <a:srgbClr val="E6EAEE"/>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3.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edge"/>
          <p:cNvSpPr/>
          <p:nvPr/>
        </p:nvSpPr>
        <p:spPr>
          <a:xfrm>
            <a:off x="0" y="0"/>
            <a:ext cx="164592" cy="6858000"/>
          </a:xfrm>
          <a:prstGeom prst="rect">
            <a:avLst/>
          </a:prstGeom>
          <a:solidFill>
            <a:srgbClr val="C4403F"/>
          </a:solidFill>
          <a:ln/>
        </p:spPr>
      </p:sp>
      <p:sp>
        <p:nvSpPr>
          <p:cNvPr id="4" name="Text 1"/>
          <p:cNvSpPr txBox="1"/>
          <p:nvPr/>
        </p:nvSpPr>
        <p:spPr>
          <a:xfrm>
            <a:off x="640080" y="1097280"/>
            <a:ext cx="5486400" cy="274320"/>
          </a:xfrm>
          <a:prstGeom prst="rect">
            <a:avLst/>
          </a:prstGeom>
          <a:noFill/>
          <a:ln/>
        </p:spPr>
        <p:txBody>
          <a:bodyPr wrap="square" lIns="0" tIns="0" rIns="0" bIns="0" rtlCol="0" anchor="ctr"/>
          <a:lstStyle/>
          <a:p>
            <a:pPr indent="0" marL="0">
              <a:buNone/>
            </a:pPr>
            <a:r>
              <a:rPr lang="en-US" sz="1200" b="1" spc="500" kern="0" dirty="0">
                <a:solidFill>
                  <a:srgbClr val="C4403F"/>
                </a:solidFill>
                <a:latin typeface="Courier New" pitchFamily="34" charset="0"/>
                <a:ea typeface="Courier New" pitchFamily="34" charset="-122"/>
                <a:cs typeface="Courier New" pitchFamily="34" charset="-120"/>
              </a:rPr>
              <a:t>NETWORK ANOMALY DETECTOR</a:t>
            </a:r>
            <a:endParaRPr lang="en-US" sz="1200" dirty="0"/>
          </a:p>
        </p:txBody>
      </p:sp>
      <p:sp>
        <p:nvSpPr>
          <p:cNvPr id="5" name="Text 2"/>
          <p:cNvSpPr txBox="1"/>
          <p:nvPr/>
        </p:nvSpPr>
        <p:spPr>
          <a:xfrm>
            <a:off x="640080" y="1463040"/>
            <a:ext cx="5486400" cy="1097280"/>
          </a:xfrm>
          <a:prstGeom prst="rect">
            <a:avLst/>
          </a:prstGeom>
          <a:noFill/>
          <a:ln/>
        </p:spPr>
        <p:txBody>
          <a:bodyPr wrap="square" lIns="0" tIns="0" rIns="0" bIns="0" rtlCol="0" anchor="ctr"/>
          <a:lstStyle/>
          <a:p>
            <a:pPr indent="0" marL="0">
              <a:buNone/>
            </a:pPr>
            <a:r>
              <a:rPr lang="en-US" sz="6600" b="1" dirty="0">
                <a:solidFill>
                  <a:srgbClr val="E6EAEE"/>
                </a:solidFill>
                <a:latin typeface="Calibri" pitchFamily="34" charset="0"/>
                <a:ea typeface="Calibri" pitchFamily="34" charset="-122"/>
                <a:cs typeface="Calibri" pitchFamily="34" charset="-120"/>
              </a:rPr>
              <a:t>Raven</a:t>
            </a:r>
            <a:endParaRPr lang="en-US" sz="6600" dirty="0"/>
          </a:p>
        </p:txBody>
      </p:sp>
      <p:sp>
        <p:nvSpPr>
          <p:cNvPr id="6" name="Text 3"/>
          <p:cNvSpPr txBox="1"/>
          <p:nvPr/>
        </p:nvSpPr>
        <p:spPr>
          <a:xfrm>
            <a:off x="640080" y="2651760"/>
            <a:ext cx="5120640" cy="1005840"/>
          </a:xfrm>
          <a:prstGeom prst="rect">
            <a:avLst/>
          </a:prstGeom>
          <a:noFill/>
          <a:ln/>
        </p:spPr>
        <p:txBody>
          <a:bodyPr wrap="square" lIns="0" tIns="0" rIns="0" bIns="0" rtlCol="0" anchor="ctr"/>
          <a:lstStyle/>
          <a:p>
            <a:pPr indent="0" marL="0">
              <a:buNone/>
            </a:pPr>
            <a:r>
              <a:rPr lang="en-US" sz="2400" dirty="0">
                <a:solidFill>
                  <a:srgbClr val="CBD2D9"/>
                </a:solidFill>
                <a:latin typeface="Calibri" pitchFamily="34" charset="0"/>
                <a:ea typeface="Calibri" pitchFamily="34" charset="-122"/>
                <a:cs typeface="Calibri" pitchFamily="34" charset="-120"/>
              </a:rPr>
              <a:t>Network security for places with no security team.</a:t>
            </a:r>
            <a:endParaRPr lang="en-US" sz="2400" dirty="0"/>
          </a:p>
        </p:txBody>
      </p:sp>
      <p:sp>
        <p:nvSpPr>
          <p:cNvPr id="7" name="rule"/>
          <p:cNvSpPr/>
          <p:nvPr/>
        </p:nvSpPr>
        <p:spPr>
          <a:xfrm>
            <a:off x="640080" y="4343400"/>
            <a:ext cx="1554480" cy="0"/>
          </a:xfrm>
          <a:prstGeom prst="line">
            <a:avLst/>
          </a:prstGeom>
          <a:noFill/>
          <a:ln w="12700">
            <a:solidFill>
              <a:srgbClr val="2F3943"/>
            </a:solidFill>
            <a:prstDash val="solid"/>
          </a:ln>
        </p:spPr>
      </p:sp>
      <p:sp>
        <p:nvSpPr>
          <p:cNvPr id="8" name="Text 5"/>
          <p:cNvSpPr txBox="1"/>
          <p:nvPr/>
        </p:nvSpPr>
        <p:spPr>
          <a:xfrm>
            <a:off x="640080" y="4434840"/>
            <a:ext cx="1645920" cy="502920"/>
          </a:xfrm>
          <a:prstGeom prst="rect">
            <a:avLst/>
          </a:prstGeom>
          <a:noFill/>
          <a:ln/>
        </p:spPr>
        <p:txBody>
          <a:bodyPr wrap="square" lIns="0" tIns="0" rIns="0" bIns="0" rtlCol="0" anchor="ctr"/>
          <a:lstStyle/>
          <a:p>
            <a:pPr indent="0" marL="0">
              <a:buNone/>
            </a:pPr>
            <a:r>
              <a:rPr lang="en-US" sz="2800" b="1" dirty="0">
                <a:solidFill>
                  <a:srgbClr val="E6EAEE"/>
                </a:solidFill>
                <a:latin typeface="Courier New" pitchFamily="34" charset="0"/>
                <a:ea typeface="Courier New" pitchFamily="34" charset="-122"/>
                <a:cs typeface="Courier New" pitchFamily="34" charset="-120"/>
              </a:rPr>
              <a:t>5</a:t>
            </a:r>
            <a:endParaRPr lang="en-US" sz="2800" dirty="0"/>
          </a:p>
        </p:txBody>
      </p:sp>
      <p:sp>
        <p:nvSpPr>
          <p:cNvPr id="9" name="Text 6"/>
          <p:cNvSpPr txBox="1"/>
          <p:nvPr/>
        </p:nvSpPr>
        <p:spPr>
          <a:xfrm>
            <a:off x="640080" y="4983480"/>
            <a:ext cx="1645920" cy="548640"/>
          </a:xfrm>
          <a:prstGeom prst="rect">
            <a:avLst/>
          </a:prstGeom>
          <a:noFill/>
          <a:ln/>
        </p:spPr>
        <p:txBody>
          <a:bodyPr wrap="square" lIns="0" tIns="0" rIns="0" bIns="0" rtlCol="0" anchor="ctr"/>
          <a:lstStyle/>
          <a:p>
            <a:pPr indent="0" marL="0">
              <a:buNone/>
            </a:pPr>
            <a:r>
              <a:rPr lang="en-US" sz="1200" dirty="0">
                <a:solidFill>
                  <a:srgbClr val="7B8794"/>
                </a:solidFill>
                <a:latin typeface="Calibri" pitchFamily="34" charset="0"/>
                <a:ea typeface="Calibri" pitchFamily="34" charset="-122"/>
                <a:cs typeface="Calibri" pitchFamily="34" charset="-120"/>
              </a:rPr>
              <a:t>detectors, rules and</a:t>
            </a:r>
            <a:endParaRPr lang="en-US" sz="1200" dirty="0"/>
          </a:p>
          <a:p>
            <a:pPr indent="0" marL="0">
              <a:buNone/>
            </a:pPr>
            <a:r>
              <a:rPr lang="en-US" sz="1200" dirty="0">
                <a:solidFill>
                  <a:srgbClr val="7B8794"/>
                </a:solidFill>
                <a:latin typeface="Calibri" pitchFamily="34" charset="0"/>
                <a:ea typeface="Calibri" pitchFamily="34" charset="-122"/>
                <a:cs typeface="Calibri" pitchFamily="34" charset="-120"/>
              </a:rPr>
              <a:t>statistical</a:t>
            </a:r>
            <a:endParaRPr lang="en-US" sz="1200" dirty="0"/>
          </a:p>
        </p:txBody>
      </p:sp>
      <p:sp>
        <p:nvSpPr>
          <p:cNvPr id="10" name="rule"/>
          <p:cNvSpPr/>
          <p:nvPr/>
        </p:nvSpPr>
        <p:spPr>
          <a:xfrm>
            <a:off x="2423160" y="4343400"/>
            <a:ext cx="1554480" cy="0"/>
          </a:xfrm>
          <a:prstGeom prst="line">
            <a:avLst/>
          </a:prstGeom>
          <a:noFill/>
          <a:ln w="12700">
            <a:solidFill>
              <a:srgbClr val="2F3943"/>
            </a:solidFill>
            <a:prstDash val="solid"/>
          </a:ln>
        </p:spPr>
      </p:sp>
      <p:sp>
        <p:nvSpPr>
          <p:cNvPr id="11" name="Text 8"/>
          <p:cNvSpPr txBox="1"/>
          <p:nvPr/>
        </p:nvSpPr>
        <p:spPr>
          <a:xfrm>
            <a:off x="2423160" y="4434840"/>
            <a:ext cx="1645920" cy="502920"/>
          </a:xfrm>
          <a:prstGeom prst="rect">
            <a:avLst/>
          </a:prstGeom>
          <a:noFill/>
          <a:ln/>
        </p:spPr>
        <p:txBody>
          <a:bodyPr wrap="square" lIns="0" tIns="0" rIns="0" bIns="0" rtlCol="0" anchor="ctr"/>
          <a:lstStyle/>
          <a:p>
            <a:pPr indent="0" marL="0">
              <a:buNone/>
            </a:pPr>
            <a:r>
              <a:rPr lang="en-US" sz="2800" b="1" dirty="0">
                <a:solidFill>
                  <a:srgbClr val="E6EAEE"/>
                </a:solidFill>
                <a:latin typeface="Courier New" pitchFamily="34" charset="0"/>
                <a:ea typeface="Courier New" pitchFamily="34" charset="-122"/>
                <a:cs typeface="Courier New" pitchFamily="34" charset="-120"/>
              </a:rPr>
              <a:t>462</a:t>
            </a:r>
            <a:endParaRPr lang="en-US" sz="2800" dirty="0"/>
          </a:p>
        </p:txBody>
      </p:sp>
      <p:sp>
        <p:nvSpPr>
          <p:cNvPr id="12" name="Text 9"/>
          <p:cNvSpPr txBox="1"/>
          <p:nvPr/>
        </p:nvSpPr>
        <p:spPr>
          <a:xfrm>
            <a:off x="2423160" y="4983480"/>
            <a:ext cx="1645920" cy="548640"/>
          </a:xfrm>
          <a:prstGeom prst="rect">
            <a:avLst/>
          </a:prstGeom>
          <a:noFill/>
          <a:ln/>
        </p:spPr>
        <p:txBody>
          <a:bodyPr wrap="square" lIns="0" tIns="0" rIns="0" bIns="0" rtlCol="0" anchor="ctr"/>
          <a:lstStyle/>
          <a:p>
            <a:pPr indent="0" marL="0">
              <a:buNone/>
            </a:pPr>
            <a:r>
              <a:rPr lang="en-US" sz="1200" dirty="0">
                <a:solidFill>
                  <a:srgbClr val="7B8794"/>
                </a:solidFill>
                <a:latin typeface="Calibri" pitchFamily="34" charset="0"/>
                <a:ea typeface="Calibri" pitchFamily="34" charset="-122"/>
                <a:cs typeface="Calibri" pitchFamily="34" charset="-120"/>
              </a:rPr>
              <a:t>automated tests</a:t>
            </a:r>
            <a:endParaRPr lang="en-US" sz="1200" dirty="0"/>
          </a:p>
        </p:txBody>
      </p:sp>
      <p:sp>
        <p:nvSpPr>
          <p:cNvPr id="13" name="rule"/>
          <p:cNvSpPr/>
          <p:nvPr/>
        </p:nvSpPr>
        <p:spPr>
          <a:xfrm>
            <a:off x="4206240" y="4343400"/>
            <a:ext cx="1554480" cy="0"/>
          </a:xfrm>
          <a:prstGeom prst="line">
            <a:avLst/>
          </a:prstGeom>
          <a:noFill/>
          <a:ln w="12700">
            <a:solidFill>
              <a:srgbClr val="2F3943"/>
            </a:solidFill>
            <a:prstDash val="solid"/>
          </a:ln>
        </p:spPr>
      </p:sp>
      <p:sp>
        <p:nvSpPr>
          <p:cNvPr id="14" name="Text 11"/>
          <p:cNvSpPr txBox="1"/>
          <p:nvPr/>
        </p:nvSpPr>
        <p:spPr>
          <a:xfrm>
            <a:off x="4206240" y="4434840"/>
            <a:ext cx="1645920" cy="502920"/>
          </a:xfrm>
          <a:prstGeom prst="rect">
            <a:avLst/>
          </a:prstGeom>
          <a:noFill/>
          <a:ln/>
        </p:spPr>
        <p:txBody>
          <a:bodyPr wrap="square" lIns="0" tIns="0" rIns="0" bIns="0" rtlCol="0" anchor="ctr"/>
          <a:lstStyle/>
          <a:p>
            <a:pPr indent="0" marL="0">
              <a:buNone/>
            </a:pPr>
            <a:r>
              <a:rPr lang="en-US" sz="2800" b="1" dirty="0">
                <a:solidFill>
                  <a:srgbClr val="E6EAEE"/>
                </a:solidFill>
                <a:latin typeface="Courier New" pitchFamily="34" charset="0"/>
                <a:ea typeface="Courier New" pitchFamily="34" charset="-122"/>
                <a:cs typeface="Courier New" pitchFamily="34" charset="-120"/>
              </a:rPr>
              <a:t>4 / 4</a:t>
            </a:r>
            <a:endParaRPr lang="en-US" sz="2800" dirty="0"/>
          </a:p>
        </p:txBody>
      </p:sp>
      <p:sp>
        <p:nvSpPr>
          <p:cNvPr id="15" name="Text 12"/>
          <p:cNvSpPr txBox="1"/>
          <p:nvPr/>
        </p:nvSpPr>
        <p:spPr>
          <a:xfrm>
            <a:off x="4206240" y="4983480"/>
            <a:ext cx="1645920" cy="548640"/>
          </a:xfrm>
          <a:prstGeom prst="rect">
            <a:avLst/>
          </a:prstGeom>
          <a:noFill/>
          <a:ln/>
        </p:spPr>
        <p:txBody>
          <a:bodyPr wrap="square" lIns="0" tIns="0" rIns="0" bIns="0" rtlCol="0" anchor="ctr"/>
          <a:lstStyle/>
          <a:p>
            <a:pPr indent="0" marL="0">
              <a:buNone/>
            </a:pPr>
            <a:r>
              <a:rPr lang="en-US" sz="1200" dirty="0">
                <a:solidFill>
                  <a:srgbClr val="7B8794"/>
                </a:solidFill>
                <a:latin typeface="Calibri" pitchFamily="34" charset="0"/>
                <a:ea typeface="Calibri" pitchFamily="34" charset="-122"/>
                <a:cs typeface="Calibri" pitchFamily="34" charset="-120"/>
              </a:rPr>
              <a:t>live attacks caught</a:t>
            </a:r>
            <a:endParaRPr lang="en-US" sz="1200" dirty="0"/>
          </a:p>
          <a:p>
            <a:pPr indent="0" marL="0">
              <a:buNone/>
            </a:pPr>
            <a:r>
              <a:rPr lang="en-US" sz="1200" dirty="0">
                <a:solidFill>
                  <a:srgbClr val="7B8794"/>
                </a:solidFill>
                <a:latin typeface="Calibri" pitchFamily="34" charset="0"/>
                <a:ea typeface="Calibri" pitchFamily="34" charset="-122"/>
                <a:cs typeface="Calibri" pitchFamily="34" charset="-120"/>
              </a:rPr>
              <a:t>on loopback</a:t>
            </a:r>
            <a:endParaRPr lang="en-US" sz="1200" dirty="0"/>
          </a:p>
        </p:txBody>
      </p:sp>
      <p:sp>
        <p:nvSpPr>
          <p:cNvPr id="16" name="Text 13"/>
          <p:cNvSpPr txBox="1"/>
          <p:nvPr/>
        </p:nvSpPr>
        <p:spPr>
          <a:xfrm>
            <a:off x="640080" y="6035040"/>
            <a:ext cx="5486400" cy="274320"/>
          </a:xfrm>
          <a:prstGeom prst="rect">
            <a:avLst/>
          </a:prstGeom>
          <a:noFill/>
          <a:ln/>
        </p:spPr>
        <p:txBody>
          <a:bodyPr wrap="square" lIns="0" tIns="0" rIns="0" bIns="0" rtlCol="0" anchor="ctr"/>
          <a:lstStyle/>
          <a:p>
            <a:pPr indent="0" marL="0">
              <a:buNone/>
            </a:pPr>
            <a:r>
              <a:rPr lang="en-US" sz="1200" dirty="0">
                <a:solidFill>
                  <a:srgbClr val="7B8794"/>
                </a:solidFill>
                <a:latin typeface="Courier New" pitchFamily="34" charset="0"/>
                <a:ea typeface="Courier New" pitchFamily="34" charset="-122"/>
                <a:cs typeface="Courier New" pitchFamily="34" charset="-120"/>
              </a:rPr>
              <a:t>Runs on one Mac. No cloud. No account.</a:t>
            </a:r>
            <a:endParaRPr lang="en-US" sz="1200" dirty="0"/>
          </a:p>
        </p:txBody>
      </p:sp>
      <p:sp>
        <p:nvSpPr>
          <p:cNvPr id="17" name="frame"/>
          <p:cNvSpPr/>
          <p:nvPr/>
        </p:nvSpPr>
        <p:spPr>
          <a:xfrm>
            <a:off x="5897880" y="1591056"/>
            <a:ext cx="6144768" cy="3504438"/>
          </a:xfrm>
          <a:prstGeom prst="rect">
            <a:avLst/>
          </a:prstGeom>
          <a:solidFill>
            <a:srgbClr val="12161A"/>
          </a:solidFill>
          <a:ln w="12700">
            <a:solidFill>
              <a:srgbClr val="2F3943"/>
            </a:solidFill>
            <a:prstDash val="solid"/>
          </a:ln>
        </p:spPr>
      </p:sp>
      <p:pic>
        <p:nvPicPr>
          <p:cNvPr id="18" name="Image 0" descr="Raven web console during a live port scan, brute force, beacon and DNS tunnel test: packet monitor, topology and four CRITICAL alerts">    </p:cNvPr>
          <p:cNvPicPr>
            <a:picLocks noChangeAspect="1"/>
          </p:cNvPicPr>
          <p:nvPr/>
        </p:nvPicPr>
        <p:blipFill>
          <a:blip r:embed="rId1"/>
          <a:stretch>
            <a:fillRect/>
          </a:stretch>
        </p:blipFill>
        <p:spPr>
          <a:xfrm>
            <a:off x="5952744" y="1645920"/>
            <a:ext cx="6035040" cy="3394710"/>
          </a:xfrm>
          <a:prstGeom prst="rect">
            <a:avLst/>
          </a:prstGeom>
        </p:spPr>
      </p:pic>
      <p:sp>
        <p:nvSpPr>
          <p:cNvPr id="19" name="Text 15"/>
          <p:cNvSpPr txBox="1"/>
          <p:nvPr/>
        </p:nvSpPr>
        <p:spPr>
          <a:xfrm>
            <a:off x="5952744" y="5223510"/>
            <a:ext cx="6035040" cy="228600"/>
          </a:xfrm>
          <a:prstGeom prst="rect">
            <a:avLst/>
          </a:prstGeom>
          <a:noFill/>
          <a:ln/>
        </p:spPr>
        <p:txBody>
          <a:bodyPr wrap="square" lIns="0" tIns="0" rIns="0" bIns="0" rtlCol="0" anchor="ctr"/>
          <a:lstStyle/>
          <a:p>
            <a:pPr indent="0" marL="0">
              <a:buNone/>
            </a:pPr>
            <a:r>
              <a:rPr lang="en-US" sz="900" spc="200" kern="0" dirty="0">
                <a:solidFill>
                  <a:srgbClr val="4D5762"/>
                </a:solidFill>
                <a:latin typeface="Courier New" pitchFamily="34" charset="0"/>
                <a:ea typeface="Courier New" pitchFamily="34" charset="-122"/>
                <a:cs typeface="Courier New" pitchFamily="34" charset="-120"/>
              </a:rPr>
              <a:t>REAL SCREENSHOT: LIVE TEST ON LOOPBACK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Small networks are attacked like big ones. Nobody is watching.</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01  /  THE PROBLEM</a:t>
            </a:r>
            <a:endParaRPr lang="en-US" sz="1100" dirty="0"/>
          </a:p>
        </p:txBody>
      </p:sp>
      <p:sp>
        <p:nvSpPr>
          <p:cNvPr id="5" name="card"/>
          <p:cNvSpPr/>
          <p:nvPr/>
        </p:nvSpPr>
        <p:spPr>
          <a:xfrm>
            <a:off x="548640" y="1783080"/>
            <a:ext cx="3520440" cy="3017520"/>
          </a:xfrm>
          <a:prstGeom prst="rect">
            <a:avLst/>
          </a:prstGeom>
          <a:solidFill>
            <a:srgbClr val="12161A"/>
          </a:solidFill>
          <a:ln w="12700">
            <a:solidFill>
              <a:srgbClr val="232A31"/>
            </a:solidFill>
            <a:prstDash val="solid"/>
          </a:ln>
        </p:spPr>
      </p:sp>
      <p:sp>
        <p:nvSpPr>
          <p:cNvPr id="6" name="icon-box"/>
          <p:cNvSpPr/>
          <p:nvPr/>
        </p:nvSpPr>
        <p:spPr>
          <a:xfrm>
            <a:off x="822960" y="2057400"/>
            <a:ext cx="640080" cy="640080"/>
          </a:xfrm>
          <a:prstGeom prst="rect">
            <a:avLst/>
          </a:prstGeom>
          <a:solidFill>
            <a:srgbClr val="181D22"/>
          </a:solidFill>
          <a:ln w="12700">
            <a:solidFill>
              <a:srgbClr val="2F3943"/>
            </a:solidFill>
            <a:prstDash val="solid"/>
          </a:ln>
        </p:spPr>
      </p:sp>
      <p:pic>
        <p:nvPicPr>
          <p:cNvPr id="7" name="Image 0" descr="icon">    </p:cNvPr>
          <p:cNvPicPr>
            <a:picLocks noChangeAspect="1"/>
          </p:cNvPicPr>
          <p:nvPr/>
        </p:nvPicPr>
        <p:blipFill>
          <a:blip r:embed="rId1"/>
          <a:stretch>
            <a:fillRect/>
          </a:stretch>
        </p:blipFill>
        <p:spPr>
          <a:xfrm>
            <a:off x="995782" y="2230222"/>
            <a:ext cx="294437" cy="294437"/>
          </a:xfrm>
          <a:prstGeom prst="rect">
            <a:avLst/>
          </a:prstGeom>
        </p:spPr>
      </p:pic>
      <p:sp>
        <p:nvSpPr>
          <p:cNvPr id="8" name="Text 4"/>
          <p:cNvSpPr txBox="1"/>
          <p:nvPr/>
        </p:nvSpPr>
        <p:spPr>
          <a:xfrm>
            <a:off x="822960" y="2926080"/>
            <a:ext cx="3017520" cy="457200"/>
          </a:xfrm>
          <a:prstGeom prst="rect">
            <a:avLst/>
          </a:prstGeom>
          <a:noFill/>
          <a:ln/>
        </p:spPr>
        <p:txBody>
          <a:bodyPr wrap="square" lIns="0" tIns="0" rIns="0" bIns="0" rtlCol="0" anchor="ctr"/>
          <a:lstStyle/>
          <a:p>
            <a:pPr indent="0" marL="0">
              <a:buNone/>
            </a:pPr>
            <a:r>
              <a:rPr lang="en-US" sz="2100" b="1" dirty="0">
                <a:solidFill>
                  <a:srgbClr val="E6EAEE"/>
                </a:solidFill>
                <a:latin typeface="Calibri" pitchFamily="34" charset="0"/>
                <a:ea typeface="Calibri" pitchFamily="34" charset="-122"/>
                <a:cs typeface="Calibri" pitchFamily="34" charset="-120"/>
              </a:rPr>
              <a:t>No security staff</a:t>
            </a:r>
            <a:endParaRPr lang="en-US" sz="2100" dirty="0"/>
          </a:p>
        </p:txBody>
      </p:sp>
      <p:sp>
        <p:nvSpPr>
          <p:cNvPr id="9" name="Text 5"/>
          <p:cNvSpPr txBox="1"/>
          <p:nvPr/>
        </p:nvSpPr>
        <p:spPr>
          <a:xfrm>
            <a:off x="822960" y="3474720"/>
            <a:ext cx="3017520" cy="1188720"/>
          </a:xfrm>
          <a:prstGeom prst="rect">
            <a:avLst/>
          </a:prstGeom>
          <a:noFill/>
          <a:ln/>
        </p:spPr>
        <p:txBody>
          <a:bodyPr wrap="square" lIns="0" tIns="0" rIns="0" bIns="0" rtlCol="0" anchor="t"/>
          <a:lstStyle/>
          <a:p>
            <a:pPr indent="0" marL="0">
              <a:buNone/>
            </a:pPr>
            <a:r>
              <a:rPr lang="en-US" sz="1500" dirty="0">
                <a:solidFill>
                  <a:srgbClr val="CBD2D9"/>
                </a:solidFill>
                <a:latin typeface="Calibri" pitchFamily="34" charset="0"/>
                <a:ea typeface="Calibri" pitchFamily="34" charset="-122"/>
                <a:cs typeface="Calibri" pitchFamily="34" charset="-120"/>
              </a:rPr>
              <a:t>The admin is also the help desk. Nobody reads logs, and alerts nobody understands get ignored.</a:t>
            </a:r>
            <a:endParaRPr lang="en-US" sz="1500" dirty="0"/>
          </a:p>
        </p:txBody>
      </p:sp>
      <p:sp>
        <p:nvSpPr>
          <p:cNvPr id="10" name="card"/>
          <p:cNvSpPr/>
          <p:nvPr/>
        </p:nvSpPr>
        <p:spPr>
          <a:xfrm>
            <a:off x="4297680" y="1783080"/>
            <a:ext cx="3520440" cy="3017520"/>
          </a:xfrm>
          <a:prstGeom prst="rect">
            <a:avLst/>
          </a:prstGeom>
          <a:solidFill>
            <a:srgbClr val="12161A"/>
          </a:solidFill>
          <a:ln w="12700">
            <a:solidFill>
              <a:srgbClr val="232A31"/>
            </a:solidFill>
            <a:prstDash val="solid"/>
          </a:ln>
        </p:spPr>
      </p:sp>
      <p:sp>
        <p:nvSpPr>
          <p:cNvPr id="11" name="icon-box"/>
          <p:cNvSpPr/>
          <p:nvPr/>
        </p:nvSpPr>
        <p:spPr>
          <a:xfrm>
            <a:off x="4572000" y="2057400"/>
            <a:ext cx="640080" cy="640080"/>
          </a:xfrm>
          <a:prstGeom prst="rect">
            <a:avLst/>
          </a:prstGeom>
          <a:solidFill>
            <a:srgbClr val="181D22"/>
          </a:solidFill>
          <a:ln w="12700">
            <a:solidFill>
              <a:srgbClr val="2F3943"/>
            </a:solidFill>
            <a:prstDash val="solid"/>
          </a:ln>
        </p:spPr>
      </p:sp>
      <p:pic>
        <p:nvPicPr>
          <p:cNvPr id="12" name="Image 1" descr="icon">    </p:cNvPr>
          <p:cNvPicPr>
            <a:picLocks noChangeAspect="1"/>
          </p:cNvPicPr>
          <p:nvPr/>
        </p:nvPicPr>
        <p:blipFill>
          <a:blip r:embed="rId2"/>
          <a:stretch>
            <a:fillRect/>
          </a:stretch>
        </p:blipFill>
        <p:spPr>
          <a:xfrm>
            <a:off x="4744822" y="2230222"/>
            <a:ext cx="294437" cy="294437"/>
          </a:xfrm>
          <a:prstGeom prst="rect">
            <a:avLst/>
          </a:prstGeom>
        </p:spPr>
      </p:pic>
      <p:sp>
        <p:nvSpPr>
          <p:cNvPr id="13" name="Text 8"/>
          <p:cNvSpPr txBox="1"/>
          <p:nvPr/>
        </p:nvSpPr>
        <p:spPr>
          <a:xfrm>
            <a:off x="4572000" y="2926080"/>
            <a:ext cx="3017520" cy="457200"/>
          </a:xfrm>
          <a:prstGeom prst="rect">
            <a:avLst/>
          </a:prstGeom>
          <a:noFill/>
          <a:ln/>
        </p:spPr>
        <p:txBody>
          <a:bodyPr wrap="square" lIns="0" tIns="0" rIns="0" bIns="0" rtlCol="0" anchor="ctr"/>
          <a:lstStyle/>
          <a:p>
            <a:pPr indent="0" marL="0">
              <a:buNone/>
            </a:pPr>
            <a:r>
              <a:rPr lang="en-US" sz="2100" b="1" dirty="0">
                <a:solidFill>
                  <a:srgbClr val="E6EAEE"/>
                </a:solidFill>
                <a:latin typeface="Calibri" pitchFamily="34" charset="0"/>
                <a:ea typeface="Calibri" pitchFamily="34" charset="-122"/>
                <a:cs typeface="Calibri" pitchFamily="34" charset="-120"/>
              </a:rPr>
              <a:t>Tools built for a SOC</a:t>
            </a:r>
            <a:endParaRPr lang="en-US" sz="2100" dirty="0"/>
          </a:p>
        </p:txBody>
      </p:sp>
      <p:sp>
        <p:nvSpPr>
          <p:cNvPr id="14" name="Text 9"/>
          <p:cNvSpPr txBox="1"/>
          <p:nvPr/>
        </p:nvSpPr>
        <p:spPr>
          <a:xfrm>
            <a:off x="4572000" y="3474720"/>
            <a:ext cx="3017520" cy="1188720"/>
          </a:xfrm>
          <a:prstGeom prst="rect">
            <a:avLst/>
          </a:prstGeom>
          <a:noFill/>
          <a:ln/>
        </p:spPr>
        <p:txBody>
          <a:bodyPr wrap="square" lIns="0" tIns="0" rIns="0" bIns="0" rtlCol="0" anchor="t"/>
          <a:lstStyle/>
          <a:p>
            <a:pPr indent="0" marL="0">
              <a:buNone/>
            </a:pPr>
            <a:r>
              <a:rPr lang="en-US" sz="1500" dirty="0">
                <a:solidFill>
                  <a:srgbClr val="CBD2D9"/>
                </a:solidFill>
                <a:latin typeface="Calibri" pitchFamily="34" charset="0"/>
                <a:ea typeface="Calibri" pitchFamily="34" charset="-122"/>
                <a:cs typeface="Calibri" pitchFamily="34" charset="-120"/>
              </a:rPr>
              <a:t>Enterprise products assume analysts, a SIEM and a budget. Small teams cannot run or afford them.</a:t>
            </a:r>
            <a:endParaRPr lang="en-US" sz="1500" dirty="0"/>
          </a:p>
        </p:txBody>
      </p:sp>
      <p:sp>
        <p:nvSpPr>
          <p:cNvPr id="15" name="card"/>
          <p:cNvSpPr/>
          <p:nvPr/>
        </p:nvSpPr>
        <p:spPr>
          <a:xfrm>
            <a:off x="8046720" y="1783080"/>
            <a:ext cx="3520440" cy="3017520"/>
          </a:xfrm>
          <a:prstGeom prst="rect">
            <a:avLst/>
          </a:prstGeom>
          <a:solidFill>
            <a:srgbClr val="12161A"/>
          </a:solidFill>
          <a:ln w="12700">
            <a:solidFill>
              <a:srgbClr val="232A31"/>
            </a:solidFill>
            <a:prstDash val="solid"/>
          </a:ln>
        </p:spPr>
      </p:sp>
      <p:sp>
        <p:nvSpPr>
          <p:cNvPr id="16" name="icon-box"/>
          <p:cNvSpPr/>
          <p:nvPr/>
        </p:nvSpPr>
        <p:spPr>
          <a:xfrm>
            <a:off x="8321040" y="2057400"/>
            <a:ext cx="640080" cy="640080"/>
          </a:xfrm>
          <a:prstGeom prst="rect">
            <a:avLst/>
          </a:prstGeom>
          <a:solidFill>
            <a:srgbClr val="181D22"/>
          </a:solidFill>
          <a:ln w="12700">
            <a:solidFill>
              <a:srgbClr val="2F3943"/>
            </a:solidFill>
            <a:prstDash val="solid"/>
          </a:ln>
        </p:spPr>
      </p:sp>
      <p:pic>
        <p:nvPicPr>
          <p:cNvPr id="17" name="Image 2" descr="icon">    </p:cNvPr>
          <p:cNvPicPr>
            <a:picLocks noChangeAspect="1"/>
          </p:cNvPicPr>
          <p:nvPr/>
        </p:nvPicPr>
        <p:blipFill>
          <a:blip r:embed="rId3"/>
          <a:stretch>
            <a:fillRect/>
          </a:stretch>
        </p:blipFill>
        <p:spPr>
          <a:xfrm>
            <a:off x="8493862" y="2230222"/>
            <a:ext cx="294437" cy="294437"/>
          </a:xfrm>
          <a:prstGeom prst="rect">
            <a:avLst/>
          </a:prstGeom>
        </p:spPr>
      </p:pic>
      <p:sp>
        <p:nvSpPr>
          <p:cNvPr id="18" name="Text 12"/>
          <p:cNvSpPr txBox="1"/>
          <p:nvPr/>
        </p:nvSpPr>
        <p:spPr>
          <a:xfrm>
            <a:off x="8321040" y="2926080"/>
            <a:ext cx="3017520" cy="457200"/>
          </a:xfrm>
          <a:prstGeom prst="rect">
            <a:avLst/>
          </a:prstGeom>
          <a:noFill/>
          <a:ln/>
        </p:spPr>
        <p:txBody>
          <a:bodyPr wrap="square" lIns="0" tIns="0" rIns="0" bIns="0" rtlCol="0" anchor="ctr"/>
          <a:lstStyle/>
          <a:p>
            <a:pPr indent="0" marL="0">
              <a:buNone/>
            </a:pPr>
            <a:r>
              <a:rPr lang="en-US" sz="2100" b="1" dirty="0">
                <a:solidFill>
                  <a:srgbClr val="E6EAEE"/>
                </a:solidFill>
                <a:latin typeface="Calibri" pitchFamily="34" charset="0"/>
                <a:ea typeface="Calibri" pitchFamily="34" charset="-122"/>
                <a:cs typeface="Calibri" pitchFamily="34" charset="-120"/>
              </a:rPr>
              <a:t>Attacks hide in the noise</a:t>
            </a:r>
            <a:endParaRPr lang="en-US" sz="2100" dirty="0"/>
          </a:p>
        </p:txBody>
      </p:sp>
      <p:sp>
        <p:nvSpPr>
          <p:cNvPr id="19" name="Text 13"/>
          <p:cNvSpPr txBox="1"/>
          <p:nvPr/>
        </p:nvSpPr>
        <p:spPr>
          <a:xfrm>
            <a:off x="8321040" y="3474720"/>
            <a:ext cx="3017520" cy="1188720"/>
          </a:xfrm>
          <a:prstGeom prst="rect">
            <a:avLst/>
          </a:prstGeom>
          <a:noFill/>
          <a:ln/>
        </p:spPr>
        <p:txBody>
          <a:bodyPr wrap="square" lIns="0" tIns="0" rIns="0" bIns="0" rtlCol="0" anchor="t"/>
          <a:lstStyle/>
          <a:p>
            <a:pPr indent="0" marL="0">
              <a:buNone/>
            </a:pPr>
            <a:r>
              <a:rPr lang="en-US" sz="1500" dirty="0">
                <a:solidFill>
                  <a:srgbClr val="CBD2D9"/>
                </a:solidFill>
                <a:latin typeface="Calibri" pitchFamily="34" charset="0"/>
                <a:ea typeface="Calibri" pitchFamily="34" charset="-122"/>
                <a:cs typeface="Calibri" pitchFamily="34" charset="-120"/>
              </a:rPr>
              <a:t>A port scan, password guessing, a malware check-in: each is ordinary traffic until something counts it.</a:t>
            </a:r>
            <a:endParaRPr lang="en-US" sz="1500" dirty="0"/>
          </a:p>
        </p:txBody>
      </p:sp>
      <p:sp>
        <p:nvSpPr>
          <p:cNvPr id="20" name="callout"/>
          <p:cNvSpPr/>
          <p:nvPr/>
        </p:nvSpPr>
        <p:spPr>
          <a:xfrm>
            <a:off x="548640" y="5120640"/>
            <a:ext cx="11109960" cy="914400"/>
          </a:xfrm>
          <a:prstGeom prst="rect">
            <a:avLst/>
          </a:prstGeom>
          <a:solidFill>
            <a:srgbClr val="181D22"/>
          </a:solidFill>
          <a:ln w="12700">
            <a:solidFill>
              <a:srgbClr val="2F3943"/>
            </a:solidFill>
            <a:prstDash val="solid"/>
          </a:ln>
        </p:spPr>
      </p:sp>
      <p:sp>
        <p:nvSpPr>
          <p:cNvPr id="21" name="callout-edge"/>
          <p:cNvSpPr/>
          <p:nvPr/>
        </p:nvSpPr>
        <p:spPr>
          <a:xfrm>
            <a:off x="548640" y="5120640"/>
            <a:ext cx="73152" cy="914400"/>
          </a:xfrm>
          <a:prstGeom prst="rect">
            <a:avLst/>
          </a:prstGeom>
          <a:solidFill>
            <a:srgbClr val="C4403F"/>
          </a:solidFill>
          <a:ln/>
        </p:spPr>
      </p:sp>
      <p:sp>
        <p:nvSpPr>
          <p:cNvPr id="22" name="Text 16"/>
          <p:cNvSpPr txBox="1"/>
          <p:nvPr/>
        </p:nvSpPr>
        <p:spPr>
          <a:xfrm>
            <a:off x="868680" y="5120640"/>
            <a:ext cx="10515600" cy="914400"/>
          </a:xfrm>
          <a:prstGeom prst="rect">
            <a:avLst/>
          </a:prstGeom>
          <a:noFill/>
          <a:ln/>
        </p:spPr>
        <p:txBody>
          <a:bodyPr wrap="square" lIns="0" tIns="0" rIns="0" bIns="0" rtlCol="0" anchor="ctr"/>
          <a:lstStyle/>
          <a:p>
            <a:pPr indent="0" marL="0">
              <a:buNone/>
            </a:pPr>
            <a:r>
              <a:rPr lang="en-US" sz="1900" b="1" dirty="0">
                <a:solidFill>
                  <a:srgbClr val="E6EAEE"/>
                </a:solidFill>
                <a:latin typeface="Calibri" pitchFamily="34" charset="0"/>
                <a:ea typeface="Calibri" pitchFamily="34" charset="-122"/>
                <a:cs typeface="Calibri" pitchFamily="34" charset="-120"/>
              </a:rPr>
              <a:t>Raven: </a:t>
            </a:r>
            <a:pPr indent="0" marL="0">
              <a:buNone/>
            </a:pPr>
            <a:r>
              <a:rPr lang="en-US" sz="1900" dirty="0">
                <a:solidFill>
                  <a:srgbClr val="CBD2D9"/>
                </a:solidFill>
                <a:latin typeface="Calibri" pitchFamily="34" charset="0"/>
                <a:ea typeface="Calibri" pitchFamily="34" charset="-122"/>
                <a:cs typeface="Calibri" pitchFamily="34" charset="-120"/>
              </a:rPr>
              <a:t>one Mac on the gateway watches the traffic, spots the pattern, and tells the admin in plain English what to look at.</a:t>
            </a:r>
            <a:endParaRPr lang="en-US" sz="190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From packets to a plain-English alert in six steps</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02  /  HOW IT WORKS</a:t>
            </a:r>
            <a:endParaRPr lang="en-US" sz="1100" dirty="0"/>
          </a:p>
        </p:txBody>
      </p:sp>
      <p:sp>
        <p:nvSpPr>
          <p:cNvPr id="5" name="step"/>
          <p:cNvSpPr/>
          <p:nvPr/>
        </p:nvSpPr>
        <p:spPr>
          <a:xfrm>
            <a:off x="548640" y="1828800"/>
            <a:ext cx="1627632" cy="2103120"/>
          </a:xfrm>
          <a:prstGeom prst="rect">
            <a:avLst/>
          </a:prstGeom>
          <a:solidFill>
            <a:srgbClr val="12161A"/>
          </a:solidFill>
          <a:ln w="12700">
            <a:solidFill>
              <a:srgbClr val="232A31"/>
            </a:solidFill>
            <a:prstDash val="solid"/>
          </a:ln>
        </p:spPr>
      </p:sp>
      <p:sp>
        <p:nvSpPr>
          <p:cNvPr id="6" name="icon-box"/>
          <p:cNvSpPr/>
          <p:nvPr/>
        </p:nvSpPr>
        <p:spPr>
          <a:xfrm>
            <a:off x="731520" y="2011680"/>
            <a:ext cx="566928" cy="566928"/>
          </a:xfrm>
          <a:prstGeom prst="rect">
            <a:avLst/>
          </a:prstGeom>
          <a:solidFill>
            <a:srgbClr val="181D22"/>
          </a:solidFill>
          <a:ln w="12700">
            <a:solidFill>
              <a:srgbClr val="2F3943"/>
            </a:solidFill>
            <a:prstDash val="solid"/>
          </a:ln>
        </p:spPr>
      </p:sp>
      <p:pic>
        <p:nvPicPr>
          <p:cNvPr id="7" name="Image 0" descr="icon">    </p:cNvPr>
          <p:cNvPicPr>
            <a:picLocks noChangeAspect="1"/>
          </p:cNvPicPr>
          <p:nvPr/>
        </p:nvPicPr>
        <p:blipFill>
          <a:blip r:embed="rId1"/>
          <a:stretch>
            <a:fillRect/>
          </a:stretch>
        </p:blipFill>
        <p:spPr>
          <a:xfrm>
            <a:off x="884591" y="2164751"/>
            <a:ext cx="260787" cy="260787"/>
          </a:xfrm>
          <a:prstGeom prst="rect">
            <a:avLst/>
          </a:prstGeom>
        </p:spPr>
      </p:pic>
      <p:sp>
        <p:nvSpPr>
          <p:cNvPr id="8" name="Text 4"/>
          <p:cNvSpPr txBox="1"/>
          <p:nvPr/>
        </p:nvSpPr>
        <p:spPr>
          <a:xfrm>
            <a:off x="1719072" y="2029968"/>
            <a:ext cx="274320" cy="274320"/>
          </a:xfrm>
          <a:prstGeom prst="rect">
            <a:avLst/>
          </a:prstGeom>
          <a:noFill/>
          <a:ln/>
        </p:spPr>
        <p:txBody>
          <a:bodyPr wrap="square" lIns="0" tIns="0" rIns="0" bIns="0" rtlCol="0" anchor="ctr"/>
          <a:lstStyle/>
          <a:p>
            <a:pPr algn="r" indent="0" marL="0">
              <a:buNone/>
            </a:pPr>
            <a:r>
              <a:rPr lang="en-US" sz="1400" b="1" dirty="0">
                <a:solidFill>
                  <a:srgbClr val="4D5762"/>
                </a:solidFill>
                <a:latin typeface="Courier New" pitchFamily="34" charset="0"/>
                <a:ea typeface="Courier New" pitchFamily="34" charset="-122"/>
                <a:cs typeface="Courier New" pitchFamily="34" charset="-120"/>
              </a:rPr>
              <a:t>1</a:t>
            </a:r>
            <a:endParaRPr lang="en-US" sz="1400" dirty="0"/>
          </a:p>
        </p:txBody>
      </p:sp>
      <p:sp>
        <p:nvSpPr>
          <p:cNvPr id="9" name="Text 5"/>
          <p:cNvSpPr txBox="1"/>
          <p:nvPr/>
        </p:nvSpPr>
        <p:spPr>
          <a:xfrm>
            <a:off x="731520" y="2788920"/>
            <a:ext cx="1353312" cy="365760"/>
          </a:xfrm>
          <a:prstGeom prst="rect">
            <a:avLst/>
          </a:prstGeom>
          <a:noFill/>
          <a:ln/>
        </p:spPr>
        <p:txBody>
          <a:bodyPr wrap="square" lIns="0" tIns="0" rIns="0" bIns="0" rtlCol="0" anchor="ctr"/>
          <a:lstStyle/>
          <a:p>
            <a:pPr indent="0" marL="0">
              <a:buNone/>
            </a:pPr>
            <a:r>
              <a:rPr lang="en-US" sz="1800" b="1" dirty="0">
                <a:solidFill>
                  <a:srgbClr val="E6EAEE"/>
                </a:solidFill>
                <a:latin typeface="Calibri" pitchFamily="34" charset="0"/>
                <a:ea typeface="Calibri" pitchFamily="34" charset="-122"/>
                <a:cs typeface="Calibri" pitchFamily="34" charset="-120"/>
              </a:rPr>
              <a:t>Capture</a:t>
            </a:r>
            <a:endParaRPr lang="en-US" sz="1800" dirty="0"/>
          </a:p>
        </p:txBody>
      </p:sp>
      <p:sp>
        <p:nvSpPr>
          <p:cNvPr id="10" name="Text 6"/>
          <p:cNvSpPr txBox="1"/>
          <p:nvPr/>
        </p:nvSpPr>
        <p:spPr>
          <a:xfrm>
            <a:off x="731520" y="3200400"/>
            <a:ext cx="1353312" cy="822960"/>
          </a:xfrm>
          <a:prstGeom prst="rect">
            <a:avLst/>
          </a:prstGeom>
          <a:noFill/>
          <a:ln/>
        </p:spPr>
        <p:txBody>
          <a:bodyPr wrap="square" lIns="0" tIns="0" rIns="0" bIns="0" rtlCol="0" anchor="t"/>
          <a:lstStyle/>
          <a:p>
            <a:pPr indent="0" marL="0">
              <a:buNone/>
            </a:pPr>
            <a:r>
              <a:rPr lang="en-US" sz="1250" dirty="0">
                <a:solidFill>
                  <a:srgbClr val="7B8794"/>
                </a:solidFill>
                <a:latin typeface="Calibri" pitchFamily="34" charset="0"/>
                <a:ea typeface="Calibri" pitchFamily="34" charset="-122"/>
                <a:cs typeface="Calibri" pitchFamily="34" charset="-120"/>
              </a:rPr>
              <a:t>tcpdump live,</a:t>
            </a:r>
            <a:endParaRPr lang="en-US" sz="1250" dirty="0"/>
          </a:p>
          <a:p>
            <a:pPr indent="0" marL="0">
              <a:buNone/>
            </a:pPr>
            <a:r>
              <a:rPr lang="en-US" sz="1250" dirty="0">
                <a:solidFill>
                  <a:srgbClr val="7B8794"/>
                </a:solidFill>
                <a:latin typeface="Calibri" pitchFamily="34" charset="0"/>
                <a:ea typeface="Calibri" pitchFamily="34" charset="-122"/>
                <a:cs typeface="Calibri" pitchFamily="34" charset="-120"/>
              </a:rPr>
              <a:t>or any .pcap</a:t>
            </a:r>
            <a:endParaRPr lang="en-US" sz="1250" dirty="0"/>
          </a:p>
        </p:txBody>
      </p:sp>
      <p:sp>
        <p:nvSpPr>
          <p:cNvPr id="11" name="arrow"/>
          <p:cNvSpPr/>
          <p:nvPr/>
        </p:nvSpPr>
        <p:spPr>
          <a:xfrm>
            <a:off x="2203704" y="2990088"/>
            <a:ext cx="213970" cy="0"/>
          </a:xfrm>
          <a:prstGeom prst="line">
            <a:avLst/>
          </a:prstGeom>
          <a:noFill/>
          <a:ln w="25400">
            <a:solidFill>
              <a:srgbClr val="4D5762"/>
            </a:solidFill>
            <a:prstDash val="solid"/>
            <a:tailEnd type="triangle"/>
          </a:ln>
        </p:spPr>
      </p:sp>
      <p:sp>
        <p:nvSpPr>
          <p:cNvPr id="12" name="step"/>
          <p:cNvSpPr/>
          <p:nvPr/>
        </p:nvSpPr>
        <p:spPr>
          <a:xfrm>
            <a:off x="2445106" y="1828800"/>
            <a:ext cx="1627632" cy="2103120"/>
          </a:xfrm>
          <a:prstGeom prst="rect">
            <a:avLst/>
          </a:prstGeom>
          <a:solidFill>
            <a:srgbClr val="12161A"/>
          </a:solidFill>
          <a:ln w="12700">
            <a:solidFill>
              <a:srgbClr val="232A31"/>
            </a:solidFill>
            <a:prstDash val="solid"/>
          </a:ln>
        </p:spPr>
      </p:sp>
      <p:sp>
        <p:nvSpPr>
          <p:cNvPr id="13" name="icon-box"/>
          <p:cNvSpPr/>
          <p:nvPr/>
        </p:nvSpPr>
        <p:spPr>
          <a:xfrm>
            <a:off x="2627986" y="2011680"/>
            <a:ext cx="566928" cy="566928"/>
          </a:xfrm>
          <a:prstGeom prst="rect">
            <a:avLst/>
          </a:prstGeom>
          <a:solidFill>
            <a:srgbClr val="181D22"/>
          </a:solidFill>
          <a:ln w="12700">
            <a:solidFill>
              <a:srgbClr val="2F3943"/>
            </a:solidFill>
            <a:prstDash val="solid"/>
          </a:ln>
        </p:spPr>
      </p:sp>
      <p:pic>
        <p:nvPicPr>
          <p:cNvPr id="14" name="Image 1" descr="icon">    </p:cNvPr>
          <p:cNvPicPr>
            <a:picLocks noChangeAspect="1"/>
          </p:cNvPicPr>
          <p:nvPr/>
        </p:nvPicPr>
        <p:blipFill>
          <a:blip r:embed="rId2"/>
          <a:stretch>
            <a:fillRect/>
          </a:stretch>
        </p:blipFill>
        <p:spPr>
          <a:xfrm>
            <a:off x="2781056" y="2164751"/>
            <a:ext cx="260787" cy="260787"/>
          </a:xfrm>
          <a:prstGeom prst="rect">
            <a:avLst/>
          </a:prstGeom>
        </p:spPr>
      </p:pic>
      <p:sp>
        <p:nvSpPr>
          <p:cNvPr id="15" name="Text 10"/>
          <p:cNvSpPr txBox="1"/>
          <p:nvPr/>
        </p:nvSpPr>
        <p:spPr>
          <a:xfrm>
            <a:off x="3615538" y="2029968"/>
            <a:ext cx="274320" cy="274320"/>
          </a:xfrm>
          <a:prstGeom prst="rect">
            <a:avLst/>
          </a:prstGeom>
          <a:noFill/>
          <a:ln/>
        </p:spPr>
        <p:txBody>
          <a:bodyPr wrap="square" lIns="0" tIns="0" rIns="0" bIns="0" rtlCol="0" anchor="ctr"/>
          <a:lstStyle/>
          <a:p>
            <a:pPr algn="r" indent="0" marL="0">
              <a:buNone/>
            </a:pPr>
            <a:r>
              <a:rPr lang="en-US" sz="1400" b="1" dirty="0">
                <a:solidFill>
                  <a:srgbClr val="4D5762"/>
                </a:solidFill>
                <a:latin typeface="Courier New" pitchFamily="34" charset="0"/>
                <a:ea typeface="Courier New" pitchFamily="34" charset="-122"/>
                <a:cs typeface="Courier New" pitchFamily="34" charset="-120"/>
              </a:rPr>
              <a:t>2</a:t>
            </a:r>
            <a:endParaRPr lang="en-US" sz="1400" dirty="0"/>
          </a:p>
        </p:txBody>
      </p:sp>
      <p:sp>
        <p:nvSpPr>
          <p:cNvPr id="16" name="Text 11"/>
          <p:cNvSpPr txBox="1"/>
          <p:nvPr/>
        </p:nvSpPr>
        <p:spPr>
          <a:xfrm>
            <a:off x="2627986" y="2788920"/>
            <a:ext cx="1353312" cy="365760"/>
          </a:xfrm>
          <a:prstGeom prst="rect">
            <a:avLst/>
          </a:prstGeom>
          <a:noFill/>
          <a:ln/>
        </p:spPr>
        <p:txBody>
          <a:bodyPr wrap="square" lIns="0" tIns="0" rIns="0" bIns="0" rtlCol="0" anchor="ctr"/>
          <a:lstStyle/>
          <a:p>
            <a:pPr indent="0" marL="0">
              <a:buNone/>
            </a:pPr>
            <a:r>
              <a:rPr lang="en-US" sz="1800" b="1" dirty="0">
                <a:solidFill>
                  <a:srgbClr val="E6EAEE"/>
                </a:solidFill>
                <a:latin typeface="Calibri" pitchFamily="34" charset="0"/>
                <a:ea typeface="Calibri" pitchFamily="34" charset="-122"/>
                <a:cs typeface="Calibri" pitchFamily="34" charset="-120"/>
              </a:rPr>
              <a:t>Count</a:t>
            </a:r>
            <a:endParaRPr lang="en-US" sz="1800" dirty="0"/>
          </a:p>
        </p:txBody>
      </p:sp>
      <p:sp>
        <p:nvSpPr>
          <p:cNvPr id="17" name="Text 12"/>
          <p:cNvSpPr txBox="1"/>
          <p:nvPr/>
        </p:nvSpPr>
        <p:spPr>
          <a:xfrm>
            <a:off x="2627986" y="3200400"/>
            <a:ext cx="1353312" cy="822960"/>
          </a:xfrm>
          <a:prstGeom prst="rect">
            <a:avLst/>
          </a:prstGeom>
          <a:noFill/>
          <a:ln/>
        </p:spPr>
        <p:txBody>
          <a:bodyPr wrap="square" lIns="0" tIns="0" rIns="0" bIns="0" rtlCol="0" anchor="t"/>
          <a:lstStyle/>
          <a:p>
            <a:pPr indent="0" marL="0">
              <a:buNone/>
            </a:pPr>
            <a:r>
              <a:rPr lang="en-US" sz="1250" dirty="0">
                <a:solidFill>
                  <a:srgbClr val="7B8794"/>
                </a:solidFill>
                <a:latin typeface="Calibri" pitchFamily="34" charset="0"/>
                <a:ea typeface="Calibri" pitchFamily="34" charset="-122"/>
                <a:cs typeface="Calibri" pitchFamily="34" charset="-120"/>
              </a:rPr>
              <a:t>per device over</a:t>
            </a:r>
            <a:endParaRPr lang="en-US" sz="1250" dirty="0"/>
          </a:p>
          <a:p>
            <a:pPr indent="0" marL="0">
              <a:buNone/>
            </a:pPr>
            <a:r>
              <a:rPr lang="en-US" sz="1250" dirty="0">
                <a:solidFill>
                  <a:srgbClr val="7B8794"/>
                </a:solidFill>
                <a:latin typeface="Calibri" pitchFamily="34" charset="0"/>
                <a:ea typeface="Calibri" pitchFamily="34" charset="-122"/>
                <a:cs typeface="Calibri" pitchFamily="34" charset="-120"/>
              </a:rPr>
              <a:t>10 s, 5 min, 1 h</a:t>
            </a:r>
            <a:endParaRPr lang="en-US" sz="1250" dirty="0"/>
          </a:p>
        </p:txBody>
      </p:sp>
      <p:sp>
        <p:nvSpPr>
          <p:cNvPr id="18" name="arrow"/>
          <p:cNvSpPr/>
          <p:nvPr/>
        </p:nvSpPr>
        <p:spPr>
          <a:xfrm>
            <a:off x="4100170" y="2990088"/>
            <a:ext cx="213970" cy="0"/>
          </a:xfrm>
          <a:prstGeom prst="line">
            <a:avLst/>
          </a:prstGeom>
          <a:noFill/>
          <a:ln w="25400">
            <a:solidFill>
              <a:srgbClr val="4D5762"/>
            </a:solidFill>
            <a:prstDash val="solid"/>
            <a:tailEnd type="triangle"/>
          </a:ln>
        </p:spPr>
      </p:sp>
      <p:sp>
        <p:nvSpPr>
          <p:cNvPr id="19" name="step"/>
          <p:cNvSpPr/>
          <p:nvPr/>
        </p:nvSpPr>
        <p:spPr>
          <a:xfrm>
            <a:off x="4341571" y="1828800"/>
            <a:ext cx="1627632" cy="2103120"/>
          </a:xfrm>
          <a:prstGeom prst="rect">
            <a:avLst/>
          </a:prstGeom>
          <a:solidFill>
            <a:srgbClr val="12161A"/>
          </a:solidFill>
          <a:ln w="12700">
            <a:solidFill>
              <a:srgbClr val="232A31"/>
            </a:solidFill>
            <a:prstDash val="solid"/>
          </a:ln>
        </p:spPr>
      </p:sp>
      <p:sp>
        <p:nvSpPr>
          <p:cNvPr id="20" name="icon-box"/>
          <p:cNvSpPr/>
          <p:nvPr/>
        </p:nvSpPr>
        <p:spPr>
          <a:xfrm>
            <a:off x="4524451" y="2011680"/>
            <a:ext cx="566928" cy="566928"/>
          </a:xfrm>
          <a:prstGeom prst="rect">
            <a:avLst/>
          </a:prstGeom>
          <a:solidFill>
            <a:srgbClr val="181D22"/>
          </a:solidFill>
          <a:ln w="12700">
            <a:solidFill>
              <a:srgbClr val="2F3943"/>
            </a:solidFill>
            <a:prstDash val="solid"/>
          </a:ln>
        </p:spPr>
      </p:sp>
      <p:pic>
        <p:nvPicPr>
          <p:cNvPr id="21" name="Image 2" descr="icon">    </p:cNvPr>
          <p:cNvPicPr>
            <a:picLocks noChangeAspect="1"/>
          </p:cNvPicPr>
          <p:nvPr/>
        </p:nvPicPr>
        <p:blipFill>
          <a:blip r:embed="rId3"/>
          <a:stretch>
            <a:fillRect/>
          </a:stretch>
        </p:blipFill>
        <p:spPr>
          <a:xfrm>
            <a:off x="4677522" y="2164751"/>
            <a:ext cx="260787" cy="260787"/>
          </a:xfrm>
          <a:prstGeom prst="rect">
            <a:avLst/>
          </a:prstGeom>
        </p:spPr>
      </p:pic>
      <p:sp>
        <p:nvSpPr>
          <p:cNvPr id="22" name="Text 16"/>
          <p:cNvSpPr txBox="1"/>
          <p:nvPr/>
        </p:nvSpPr>
        <p:spPr>
          <a:xfrm>
            <a:off x="5512003" y="2029968"/>
            <a:ext cx="274320" cy="274320"/>
          </a:xfrm>
          <a:prstGeom prst="rect">
            <a:avLst/>
          </a:prstGeom>
          <a:noFill/>
          <a:ln/>
        </p:spPr>
        <p:txBody>
          <a:bodyPr wrap="square" lIns="0" tIns="0" rIns="0" bIns="0" rtlCol="0" anchor="ctr"/>
          <a:lstStyle/>
          <a:p>
            <a:pPr algn="r" indent="0" marL="0">
              <a:buNone/>
            </a:pPr>
            <a:r>
              <a:rPr lang="en-US" sz="1400" b="1" dirty="0">
                <a:solidFill>
                  <a:srgbClr val="4D5762"/>
                </a:solidFill>
                <a:latin typeface="Courier New" pitchFamily="34" charset="0"/>
                <a:ea typeface="Courier New" pitchFamily="34" charset="-122"/>
                <a:cs typeface="Courier New" pitchFamily="34" charset="-120"/>
              </a:rPr>
              <a:t>3</a:t>
            </a:r>
            <a:endParaRPr lang="en-US" sz="1400" dirty="0"/>
          </a:p>
        </p:txBody>
      </p:sp>
      <p:sp>
        <p:nvSpPr>
          <p:cNvPr id="23" name="Text 17"/>
          <p:cNvSpPr txBox="1"/>
          <p:nvPr/>
        </p:nvSpPr>
        <p:spPr>
          <a:xfrm>
            <a:off x="4524451" y="2788920"/>
            <a:ext cx="1353312" cy="365760"/>
          </a:xfrm>
          <a:prstGeom prst="rect">
            <a:avLst/>
          </a:prstGeom>
          <a:noFill/>
          <a:ln/>
        </p:spPr>
        <p:txBody>
          <a:bodyPr wrap="square" lIns="0" tIns="0" rIns="0" bIns="0" rtlCol="0" anchor="ctr"/>
          <a:lstStyle/>
          <a:p>
            <a:pPr indent="0" marL="0">
              <a:buNone/>
            </a:pPr>
            <a:r>
              <a:rPr lang="en-US" sz="1800" b="1" dirty="0">
                <a:solidFill>
                  <a:srgbClr val="E6EAEE"/>
                </a:solidFill>
                <a:latin typeface="Calibri" pitchFamily="34" charset="0"/>
                <a:ea typeface="Calibri" pitchFamily="34" charset="-122"/>
                <a:cs typeface="Calibri" pitchFamily="34" charset="-120"/>
              </a:rPr>
              <a:t>Detect</a:t>
            </a:r>
            <a:endParaRPr lang="en-US" sz="1800" dirty="0"/>
          </a:p>
        </p:txBody>
      </p:sp>
      <p:sp>
        <p:nvSpPr>
          <p:cNvPr id="24" name="Text 18"/>
          <p:cNvSpPr txBox="1"/>
          <p:nvPr/>
        </p:nvSpPr>
        <p:spPr>
          <a:xfrm>
            <a:off x="4524451" y="3200400"/>
            <a:ext cx="1353312" cy="822960"/>
          </a:xfrm>
          <a:prstGeom prst="rect">
            <a:avLst/>
          </a:prstGeom>
          <a:noFill/>
          <a:ln/>
        </p:spPr>
        <p:txBody>
          <a:bodyPr wrap="square" lIns="0" tIns="0" rIns="0" bIns="0" rtlCol="0" anchor="t"/>
          <a:lstStyle/>
          <a:p>
            <a:pPr indent="0" marL="0">
              <a:buNone/>
            </a:pPr>
            <a:r>
              <a:rPr lang="en-US" sz="1250" dirty="0">
                <a:solidFill>
                  <a:srgbClr val="7B8794"/>
                </a:solidFill>
                <a:latin typeface="Calibri" pitchFamily="34" charset="0"/>
                <a:ea typeface="Calibri" pitchFamily="34" charset="-122"/>
                <a:cs typeface="Calibri" pitchFamily="34" charset="-120"/>
              </a:rPr>
              <a:t>5 detectors:</a:t>
            </a:r>
            <a:endParaRPr lang="en-US" sz="1250" dirty="0"/>
          </a:p>
          <a:p>
            <a:pPr indent="0" marL="0">
              <a:buNone/>
            </a:pPr>
            <a:r>
              <a:rPr lang="en-US" sz="1250" dirty="0">
                <a:solidFill>
                  <a:srgbClr val="7B8794"/>
                </a:solidFill>
                <a:latin typeface="Calibri" pitchFamily="34" charset="0"/>
                <a:ea typeface="Calibri" pitchFamily="34" charset="-122"/>
                <a:cs typeface="Calibri" pitchFamily="34" charset="-120"/>
              </a:rPr>
              <a:t>rules + 2 models</a:t>
            </a:r>
            <a:endParaRPr lang="en-US" sz="1250" dirty="0"/>
          </a:p>
        </p:txBody>
      </p:sp>
      <p:sp>
        <p:nvSpPr>
          <p:cNvPr id="25" name="arrow"/>
          <p:cNvSpPr/>
          <p:nvPr/>
        </p:nvSpPr>
        <p:spPr>
          <a:xfrm>
            <a:off x="5996635" y="2990088"/>
            <a:ext cx="213970" cy="0"/>
          </a:xfrm>
          <a:prstGeom prst="line">
            <a:avLst/>
          </a:prstGeom>
          <a:noFill/>
          <a:ln w="25400">
            <a:solidFill>
              <a:srgbClr val="4D5762"/>
            </a:solidFill>
            <a:prstDash val="solid"/>
            <a:tailEnd type="triangle"/>
          </a:ln>
        </p:spPr>
      </p:sp>
      <p:sp>
        <p:nvSpPr>
          <p:cNvPr id="26" name="step"/>
          <p:cNvSpPr/>
          <p:nvPr/>
        </p:nvSpPr>
        <p:spPr>
          <a:xfrm>
            <a:off x="6238037" y="1828800"/>
            <a:ext cx="1627632" cy="2103120"/>
          </a:xfrm>
          <a:prstGeom prst="rect">
            <a:avLst/>
          </a:prstGeom>
          <a:solidFill>
            <a:srgbClr val="12161A"/>
          </a:solidFill>
          <a:ln w="12700">
            <a:solidFill>
              <a:srgbClr val="232A31"/>
            </a:solidFill>
            <a:prstDash val="solid"/>
          </a:ln>
        </p:spPr>
      </p:sp>
      <p:sp>
        <p:nvSpPr>
          <p:cNvPr id="27" name="icon-box"/>
          <p:cNvSpPr/>
          <p:nvPr/>
        </p:nvSpPr>
        <p:spPr>
          <a:xfrm>
            <a:off x="6420917" y="2011680"/>
            <a:ext cx="566928" cy="566928"/>
          </a:xfrm>
          <a:prstGeom prst="rect">
            <a:avLst/>
          </a:prstGeom>
          <a:solidFill>
            <a:srgbClr val="181D22"/>
          </a:solidFill>
          <a:ln w="12700">
            <a:solidFill>
              <a:srgbClr val="2F3943"/>
            </a:solidFill>
            <a:prstDash val="solid"/>
          </a:ln>
        </p:spPr>
      </p:sp>
      <p:pic>
        <p:nvPicPr>
          <p:cNvPr id="28" name="Image 3" descr="icon">    </p:cNvPr>
          <p:cNvPicPr>
            <a:picLocks noChangeAspect="1"/>
          </p:cNvPicPr>
          <p:nvPr/>
        </p:nvPicPr>
        <p:blipFill>
          <a:blip r:embed="rId4"/>
          <a:stretch>
            <a:fillRect/>
          </a:stretch>
        </p:blipFill>
        <p:spPr>
          <a:xfrm>
            <a:off x="6573987" y="2164751"/>
            <a:ext cx="260787" cy="260787"/>
          </a:xfrm>
          <a:prstGeom prst="rect">
            <a:avLst/>
          </a:prstGeom>
        </p:spPr>
      </p:pic>
      <p:sp>
        <p:nvSpPr>
          <p:cNvPr id="29" name="Text 22"/>
          <p:cNvSpPr txBox="1"/>
          <p:nvPr/>
        </p:nvSpPr>
        <p:spPr>
          <a:xfrm>
            <a:off x="7408469" y="2029968"/>
            <a:ext cx="274320" cy="274320"/>
          </a:xfrm>
          <a:prstGeom prst="rect">
            <a:avLst/>
          </a:prstGeom>
          <a:noFill/>
          <a:ln/>
        </p:spPr>
        <p:txBody>
          <a:bodyPr wrap="square" lIns="0" tIns="0" rIns="0" bIns="0" rtlCol="0" anchor="ctr"/>
          <a:lstStyle/>
          <a:p>
            <a:pPr algn="r" indent="0" marL="0">
              <a:buNone/>
            </a:pPr>
            <a:r>
              <a:rPr lang="en-US" sz="1400" b="1" dirty="0">
                <a:solidFill>
                  <a:srgbClr val="4D5762"/>
                </a:solidFill>
                <a:latin typeface="Courier New" pitchFamily="34" charset="0"/>
                <a:ea typeface="Courier New" pitchFamily="34" charset="-122"/>
                <a:cs typeface="Courier New" pitchFamily="34" charset="-120"/>
              </a:rPr>
              <a:t>4</a:t>
            </a:r>
            <a:endParaRPr lang="en-US" sz="1400" dirty="0"/>
          </a:p>
        </p:txBody>
      </p:sp>
      <p:sp>
        <p:nvSpPr>
          <p:cNvPr id="30" name="Text 23"/>
          <p:cNvSpPr txBox="1"/>
          <p:nvPr/>
        </p:nvSpPr>
        <p:spPr>
          <a:xfrm>
            <a:off x="6420917" y="2788920"/>
            <a:ext cx="1353312" cy="365760"/>
          </a:xfrm>
          <a:prstGeom prst="rect">
            <a:avLst/>
          </a:prstGeom>
          <a:noFill/>
          <a:ln/>
        </p:spPr>
        <p:txBody>
          <a:bodyPr wrap="square" lIns="0" tIns="0" rIns="0" bIns="0" rtlCol="0" anchor="ctr"/>
          <a:lstStyle/>
          <a:p>
            <a:pPr indent="0" marL="0">
              <a:buNone/>
            </a:pPr>
            <a:r>
              <a:rPr lang="en-US" sz="1800" b="1" dirty="0">
                <a:solidFill>
                  <a:srgbClr val="E6EAEE"/>
                </a:solidFill>
                <a:latin typeface="Calibri" pitchFamily="34" charset="0"/>
                <a:ea typeface="Calibri" pitchFamily="34" charset="-122"/>
                <a:cs typeface="Calibri" pitchFamily="34" charset="-120"/>
              </a:rPr>
              <a:t>Correlate</a:t>
            </a:r>
            <a:endParaRPr lang="en-US" sz="1800" dirty="0"/>
          </a:p>
        </p:txBody>
      </p:sp>
      <p:sp>
        <p:nvSpPr>
          <p:cNvPr id="31" name="Text 24"/>
          <p:cNvSpPr txBox="1"/>
          <p:nvPr/>
        </p:nvSpPr>
        <p:spPr>
          <a:xfrm>
            <a:off x="6420917" y="3200400"/>
            <a:ext cx="1353312" cy="822960"/>
          </a:xfrm>
          <a:prstGeom prst="rect">
            <a:avLst/>
          </a:prstGeom>
          <a:noFill/>
          <a:ln/>
        </p:spPr>
        <p:txBody>
          <a:bodyPr wrap="square" lIns="0" tIns="0" rIns="0" bIns="0" rtlCol="0" anchor="t"/>
          <a:lstStyle/>
          <a:p>
            <a:pPr indent="0" marL="0">
              <a:buNone/>
            </a:pPr>
            <a:r>
              <a:rPr lang="en-US" sz="1250" dirty="0">
                <a:solidFill>
                  <a:srgbClr val="7B8794"/>
                </a:solidFill>
                <a:latin typeface="Calibri" pitchFamily="34" charset="0"/>
                <a:ea typeface="Calibri" pitchFamily="34" charset="-122"/>
                <a:cs typeface="Calibri" pitchFamily="34" charset="-120"/>
              </a:rPr>
              <a:t>one incident per</a:t>
            </a:r>
            <a:endParaRPr lang="en-US" sz="1250" dirty="0"/>
          </a:p>
          <a:p>
            <a:pPr indent="0" marL="0">
              <a:buNone/>
            </a:pPr>
            <a:r>
              <a:rPr lang="en-US" sz="1250" dirty="0">
                <a:solidFill>
                  <a:srgbClr val="7B8794"/>
                </a:solidFill>
                <a:latin typeface="Calibri" pitchFamily="34" charset="0"/>
                <a:ea typeface="Calibri" pitchFamily="34" charset="-122"/>
                <a:cs typeface="Calibri" pitchFamily="34" charset="-120"/>
              </a:rPr>
              <a:t>device, ATT&amp;CK chain</a:t>
            </a:r>
            <a:endParaRPr lang="en-US" sz="1250" dirty="0"/>
          </a:p>
        </p:txBody>
      </p:sp>
      <p:sp>
        <p:nvSpPr>
          <p:cNvPr id="32" name="arrow"/>
          <p:cNvSpPr/>
          <p:nvPr/>
        </p:nvSpPr>
        <p:spPr>
          <a:xfrm>
            <a:off x="7893101" y="2990088"/>
            <a:ext cx="213970" cy="0"/>
          </a:xfrm>
          <a:prstGeom prst="line">
            <a:avLst/>
          </a:prstGeom>
          <a:noFill/>
          <a:ln w="25400">
            <a:solidFill>
              <a:srgbClr val="4D5762"/>
            </a:solidFill>
            <a:prstDash val="solid"/>
            <a:tailEnd type="triangle"/>
          </a:ln>
        </p:spPr>
      </p:sp>
      <p:sp>
        <p:nvSpPr>
          <p:cNvPr id="33" name="step"/>
          <p:cNvSpPr/>
          <p:nvPr/>
        </p:nvSpPr>
        <p:spPr>
          <a:xfrm>
            <a:off x="8134502" y="1828800"/>
            <a:ext cx="1627632" cy="2103120"/>
          </a:xfrm>
          <a:prstGeom prst="rect">
            <a:avLst/>
          </a:prstGeom>
          <a:solidFill>
            <a:srgbClr val="12161A"/>
          </a:solidFill>
          <a:ln w="12700">
            <a:solidFill>
              <a:srgbClr val="232A31"/>
            </a:solidFill>
            <a:prstDash val="solid"/>
          </a:ln>
        </p:spPr>
      </p:sp>
      <p:sp>
        <p:nvSpPr>
          <p:cNvPr id="34" name="icon-box"/>
          <p:cNvSpPr/>
          <p:nvPr/>
        </p:nvSpPr>
        <p:spPr>
          <a:xfrm>
            <a:off x="8317382" y="2011680"/>
            <a:ext cx="566928" cy="566928"/>
          </a:xfrm>
          <a:prstGeom prst="rect">
            <a:avLst/>
          </a:prstGeom>
          <a:solidFill>
            <a:srgbClr val="181D22"/>
          </a:solidFill>
          <a:ln w="12700">
            <a:solidFill>
              <a:srgbClr val="2F3943"/>
            </a:solidFill>
            <a:prstDash val="solid"/>
          </a:ln>
        </p:spPr>
      </p:sp>
      <p:pic>
        <p:nvPicPr>
          <p:cNvPr id="35" name="Image 4" descr="icon">    </p:cNvPr>
          <p:cNvPicPr>
            <a:picLocks noChangeAspect="1"/>
          </p:cNvPicPr>
          <p:nvPr/>
        </p:nvPicPr>
        <p:blipFill>
          <a:blip r:embed="rId5"/>
          <a:stretch>
            <a:fillRect/>
          </a:stretch>
        </p:blipFill>
        <p:spPr>
          <a:xfrm>
            <a:off x="8470453" y="2164751"/>
            <a:ext cx="260787" cy="260787"/>
          </a:xfrm>
          <a:prstGeom prst="rect">
            <a:avLst/>
          </a:prstGeom>
        </p:spPr>
      </p:pic>
      <p:sp>
        <p:nvSpPr>
          <p:cNvPr id="36" name="Text 28"/>
          <p:cNvSpPr txBox="1"/>
          <p:nvPr/>
        </p:nvSpPr>
        <p:spPr>
          <a:xfrm>
            <a:off x="9304934" y="2029968"/>
            <a:ext cx="274320" cy="274320"/>
          </a:xfrm>
          <a:prstGeom prst="rect">
            <a:avLst/>
          </a:prstGeom>
          <a:noFill/>
          <a:ln/>
        </p:spPr>
        <p:txBody>
          <a:bodyPr wrap="square" lIns="0" tIns="0" rIns="0" bIns="0" rtlCol="0" anchor="ctr"/>
          <a:lstStyle/>
          <a:p>
            <a:pPr algn="r" indent="0" marL="0">
              <a:buNone/>
            </a:pPr>
            <a:r>
              <a:rPr lang="en-US" sz="1400" b="1" dirty="0">
                <a:solidFill>
                  <a:srgbClr val="4D5762"/>
                </a:solidFill>
                <a:latin typeface="Courier New" pitchFamily="34" charset="0"/>
                <a:ea typeface="Courier New" pitchFamily="34" charset="-122"/>
                <a:cs typeface="Courier New" pitchFamily="34" charset="-120"/>
              </a:rPr>
              <a:t>5</a:t>
            </a:r>
            <a:endParaRPr lang="en-US" sz="1400" dirty="0"/>
          </a:p>
        </p:txBody>
      </p:sp>
      <p:sp>
        <p:nvSpPr>
          <p:cNvPr id="37" name="Text 29"/>
          <p:cNvSpPr txBox="1"/>
          <p:nvPr/>
        </p:nvSpPr>
        <p:spPr>
          <a:xfrm>
            <a:off x="8317382" y="2788920"/>
            <a:ext cx="1353312" cy="365760"/>
          </a:xfrm>
          <a:prstGeom prst="rect">
            <a:avLst/>
          </a:prstGeom>
          <a:noFill/>
          <a:ln/>
        </p:spPr>
        <p:txBody>
          <a:bodyPr wrap="square" lIns="0" tIns="0" rIns="0" bIns="0" rtlCol="0" anchor="ctr"/>
          <a:lstStyle/>
          <a:p>
            <a:pPr indent="0" marL="0">
              <a:buNone/>
            </a:pPr>
            <a:r>
              <a:rPr lang="en-US" sz="1800" b="1" dirty="0">
                <a:solidFill>
                  <a:srgbClr val="E6EAEE"/>
                </a:solidFill>
                <a:latin typeface="Calibri" pitchFamily="34" charset="0"/>
                <a:ea typeface="Calibri" pitchFamily="34" charset="-122"/>
                <a:cs typeface="Calibri" pitchFamily="34" charset="-120"/>
              </a:rPr>
              <a:t>Explain</a:t>
            </a:r>
            <a:endParaRPr lang="en-US" sz="1800" dirty="0"/>
          </a:p>
        </p:txBody>
      </p:sp>
      <p:sp>
        <p:nvSpPr>
          <p:cNvPr id="38" name="Text 30"/>
          <p:cNvSpPr txBox="1"/>
          <p:nvPr/>
        </p:nvSpPr>
        <p:spPr>
          <a:xfrm>
            <a:off x="8317382" y="3200400"/>
            <a:ext cx="1353312" cy="822960"/>
          </a:xfrm>
          <a:prstGeom prst="rect">
            <a:avLst/>
          </a:prstGeom>
          <a:noFill/>
          <a:ln/>
        </p:spPr>
        <p:txBody>
          <a:bodyPr wrap="square" lIns="0" tIns="0" rIns="0" bIns="0" rtlCol="0" anchor="t"/>
          <a:lstStyle/>
          <a:p>
            <a:pPr indent="0" marL="0">
              <a:buNone/>
            </a:pPr>
            <a:r>
              <a:rPr lang="en-US" sz="1250" dirty="0">
                <a:solidFill>
                  <a:srgbClr val="7B8794"/>
                </a:solidFill>
                <a:latin typeface="Calibri" pitchFamily="34" charset="0"/>
                <a:ea typeface="Calibri" pitchFamily="34" charset="-122"/>
                <a:cs typeface="Calibri" pitchFamily="34" charset="-120"/>
              </a:rPr>
              <a:t>plain English:</a:t>
            </a:r>
            <a:endParaRPr lang="en-US" sz="1250" dirty="0"/>
          </a:p>
          <a:p>
            <a:pPr indent="0" marL="0">
              <a:buNone/>
            </a:pPr>
            <a:r>
              <a:rPr lang="en-US" sz="1250" dirty="0">
                <a:solidFill>
                  <a:srgbClr val="7B8794"/>
                </a:solidFill>
                <a:latin typeface="Calibri" pitchFamily="34" charset="0"/>
                <a:ea typeface="Calibri" pitchFamily="34" charset="-122"/>
                <a:cs typeface="Calibri" pitchFamily="34" charset="-120"/>
              </a:rPr>
              <a:t>templates or local LLM</a:t>
            </a:r>
            <a:endParaRPr lang="en-US" sz="1250" dirty="0"/>
          </a:p>
        </p:txBody>
      </p:sp>
      <p:sp>
        <p:nvSpPr>
          <p:cNvPr id="39" name="arrow"/>
          <p:cNvSpPr/>
          <p:nvPr/>
        </p:nvSpPr>
        <p:spPr>
          <a:xfrm>
            <a:off x="9789566" y="2990088"/>
            <a:ext cx="213970" cy="0"/>
          </a:xfrm>
          <a:prstGeom prst="line">
            <a:avLst/>
          </a:prstGeom>
          <a:noFill/>
          <a:ln w="25400">
            <a:solidFill>
              <a:srgbClr val="4D5762"/>
            </a:solidFill>
            <a:prstDash val="solid"/>
            <a:tailEnd type="triangle"/>
          </a:ln>
        </p:spPr>
      </p:sp>
      <p:sp>
        <p:nvSpPr>
          <p:cNvPr id="40" name="step"/>
          <p:cNvSpPr/>
          <p:nvPr/>
        </p:nvSpPr>
        <p:spPr>
          <a:xfrm>
            <a:off x="10030968" y="1828800"/>
            <a:ext cx="1627632" cy="2103120"/>
          </a:xfrm>
          <a:prstGeom prst="rect">
            <a:avLst/>
          </a:prstGeom>
          <a:solidFill>
            <a:srgbClr val="12161A"/>
          </a:solidFill>
          <a:ln w="12700">
            <a:solidFill>
              <a:srgbClr val="232A31"/>
            </a:solidFill>
            <a:prstDash val="solid"/>
          </a:ln>
        </p:spPr>
      </p:sp>
      <p:sp>
        <p:nvSpPr>
          <p:cNvPr id="41" name="icon-box"/>
          <p:cNvSpPr/>
          <p:nvPr/>
        </p:nvSpPr>
        <p:spPr>
          <a:xfrm>
            <a:off x="10213848" y="2011680"/>
            <a:ext cx="566928" cy="566928"/>
          </a:xfrm>
          <a:prstGeom prst="rect">
            <a:avLst/>
          </a:prstGeom>
          <a:solidFill>
            <a:srgbClr val="181D22"/>
          </a:solidFill>
          <a:ln w="12700">
            <a:solidFill>
              <a:srgbClr val="2F3943"/>
            </a:solidFill>
            <a:prstDash val="solid"/>
          </a:ln>
        </p:spPr>
      </p:sp>
      <p:pic>
        <p:nvPicPr>
          <p:cNvPr id="42" name="Image 5" descr="icon">    </p:cNvPr>
          <p:cNvPicPr>
            <a:picLocks noChangeAspect="1"/>
          </p:cNvPicPr>
          <p:nvPr/>
        </p:nvPicPr>
        <p:blipFill>
          <a:blip r:embed="rId6"/>
          <a:stretch>
            <a:fillRect/>
          </a:stretch>
        </p:blipFill>
        <p:spPr>
          <a:xfrm>
            <a:off x="10366919" y="2164751"/>
            <a:ext cx="260787" cy="260787"/>
          </a:xfrm>
          <a:prstGeom prst="rect">
            <a:avLst/>
          </a:prstGeom>
        </p:spPr>
      </p:pic>
      <p:sp>
        <p:nvSpPr>
          <p:cNvPr id="43" name="Text 34"/>
          <p:cNvSpPr txBox="1"/>
          <p:nvPr/>
        </p:nvSpPr>
        <p:spPr>
          <a:xfrm>
            <a:off x="11201400" y="2029968"/>
            <a:ext cx="274320" cy="274320"/>
          </a:xfrm>
          <a:prstGeom prst="rect">
            <a:avLst/>
          </a:prstGeom>
          <a:noFill/>
          <a:ln/>
        </p:spPr>
        <p:txBody>
          <a:bodyPr wrap="square" lIns="0" tIns="0" rIns="0" bIns="0" rtlCol="0" anchor="ctr"/>
          <a:lstStyle/>
          <a:p>
            <a:pPr algn="r" indent="0" marL="0">
              <a:buNone/>
            </a:pPr>
            <a:r>
              <a:rPr lang="en-US" sz="1400" b="1" dirty="0">
                <a:solidFill>
                  <a:srgbClr val="4D5762"/>
                </a:solidFill>
                <a:latin typeface="Courier New" pitchFamily="34" charset="0"/>
                <a:ea typeface="Courier New" pitchFamily="34" charset="-122"/>
                <a:cs typeface="Courier New" pitchFamily="34" charset="-120"/>
              </a:rPr>
              <a:t>6</a:t>
            </a:r>
            <a:endParaRPr lang="en-US" sz="1400" dirty="0"/>
          </a:p>
        </p:txBody>
      </p:sp>
      <p:sp>
        <p:nvSpPr>
          <p:cNvPr id="44" name="Text 35"/>
          <p:cNvSpPr txBox="1"/>
          <p:nvPr/>
        </p:nvSpPr>
        <p:spPr>
          <a:xfrm>
            <a:off x="10213848" y="2788920"/>
            <a:ext cx="1353312" cy="365760"/>
          </a:xfrm>
          <a:prstGeom prst="rect">
            <a:avLst/>
          </a:prstGeom>
          <a:noFill/>
          <a:ln/>
        </p:spPr>
        <p:txBody>
          <a:bodyPr wrap="square" lIns="0" tIns="0" rIns="0" bIns="0" rtlCol="0" anchor="ctr"/>
          <a:lstStyle/>
          <a:p>
            <a:pPr indent="0" marL="0">
              <a:buNone/>
            </a:pPr>
            <a:r>
              <a:rPr lang="en-US" sz="1800" b="1" dirty="0">
                <a:solidFill>
                  <a:srgbClr val="E6EAEE"/>
                </a:solidFill>
                <a:latin typeface="Calibri" pitchFamily="34" charset="0"/>
                <a:ea typeface="Calibri" pitchFamily="34" charset="-122"/>
                <a:cs typeface="Calibri" pitchFamily="34" charset="-120"/>
              </a:rPr>
              <a:t>Deliver</a:t>
            </a:r>
            <a:endParaRPr lang="en-US" sz="1800" dirty="0"/>
          </a:p>
        </p:txBody>
      </p:sp>
      <p:sp>
        <p:nvSpPr>
          <p:cNvPr id="45" name="Text 36"/>
          <p:cNvSpPr txBox="1"/>
          <p:nvPr/>
        </p:nvSpPr>
        <p:spPr>
          <a:xfrm>
            <a:off x="10213848" y="3200400"/>
            <a:ext cx="1353312" cy="822960"/>
          </a:xfrm>
          <a:prstGeom prst="rect">
            <a:avLst/>
          </a:prstGeom>
          <a:noFill/>
          <a:ln/>
        </p:spPr>
        <p:txBody>
          <a:bodyPr wrap="square" lIns="0" tIns="0" rIns="0" bIns="0" rtlCol="0" anchor="t"/>
          <a:lstStyle/>
          <a:p>
            <a:pPr indent="0" marL="0">
              <a:buNone/>
            </a:pPr>
            <a:r>
              <a:rPr lang="en-US" sz="1250" dirty="0">
                <a:solidFill>
                  <a:srgbClr val="7B8794"/>
                </a:solidFill>
                <a:latin typeface="Calibri" pitchFamily="34" charset="0"/>
                <a:ea typeface="Calibri" pitchFamily="34" charset="-122"/>
                <a:cs typeface="Calibri" pitchFamily="34" charset="-120"/>
              </a:rPr>
              <a:t>console, history,</a:t>
            </a:r>
            <a:endParaRPr lang="en-US" sz="1250" dirty="0"/>
          </a:p>
          <a:p>
            <a:pPr indent="0" marL="0">
              <a:buNone/>
            </a:pPr>
            <a:r>
              <a:rPr lang="en-US" sz="1250" dirty="0">
                <a:solidFill>
                  <a:srgbClr val="7B8794"/>
                </a:solidFill>
                <a:latin typeface="Calibri" pitchFamily="34" charset="0"/>
                <a:ea typeface="Calibri" pitchFamily="34" charset="-122"/>
                <a:cs typeface="Calibri" pitchFamily="34" charset="-120"/>
              </a:rPr>
              <a:t>Slack/Discord/Telegram</a:t>
            </a:r>
            <a:endParaRPr lang="en-US" sz="1250" dirty="0"/>
          </a:p>
        </p:txBody>
      </p:sp>
      <p:sp>
        <p:nvSpPr>
          <p:cNvPr id="46" name="gate"/>
          <p:cNvSpPr/>
          <p:nvPr/>
        </p:nvSpPr>
        <p:spPr>
          <a:xfrm>
            <a:off x="548640" y="4526280"/>
            <a:ext cx="11109960" cy="685800"/>
          </a:xfrm>
          <a:prstGeom prst="rect">
            <a:avLst/>
          </a:prstGeom>
          <a:solidFill>
            <a:srgbClr val="181D22"/>
          </a:solidFill>
          <a:ln w="12700">
            <a:solidFill>
              <a:srgbClr val="2F3943"/>
            </a:solidFill>
            <a:prstDash val="solid"/>
          </a:ln>
        </p:spPr>
      </p:sp>
      <p:sp>
        <p:nvSpPr>
          <p:cNvPr id="47" name="gate-edge"/>
          <p:cNvSpPr/>
          <p:nvPr/>
        </p:nvSpPr>
        <p:spPr>
          <a:xfrm>
            <a:off x="548640" y="4526280"/>
            <a:ext cx="73152" cy="685800"/>
          </a:xfrm>
          <a:prstGeom prst="rect">
            <a:avLst/>
          </a:prstGeom>
          <a:solidFill>
            <a:srgbClr val="C9702D"/>
          </a:solidFill>
          <a:ln/>
        </p:spPr>
      </p:sp>
      <p:sp>
        <p:nvSpPr>
          <p:cNvPr id="48" name="Text 39"/>
          <p:cNvSpPr txBox="1"/>
          <p:nvPr/>
        </p:nvSpPr>
        <p:spPr>
          <a:xfrm>
            <a:off x="868680" y="4526280"/>
            <a:ext cx="10607040" cy="685800"/>
          </a:xfrm>
          <a:prstGeom prst="rect">
            <a:avLst/>
          </a:prstGeom>
          <a:noFill/>
          <a:ln/>
        </p:spPr>
        <p:txBody>
          <a:bodyPr wrap="square" lIns="0" tIns="0" rIns="0" bIns="0" rtlCol="0" anchor="ctr"/>
          <a:lstStyle/>
          <a:p>
            <a:pPr indent="0" marL="0">
              <a:buNone/>
            </a:pPr>
            <a:r>
              <a:rPr lang="en-US" sz="1400" b="1" dirty="0">
                <a:solidFill>
                  <a:srgbClr val="C9702D"/>
                </a:solidFill>
                <a:latin typeface="Calibri" pitchFamily="34" charset="0"/>
                <a:ea typeface="Calibri" pitchFamily="34" charset="-122"/>
                <a:cs typeface="Calibri" pitchFamily="34" charset="-120"/>
              </a:rPr>
              <a:t>Sanitiser gate:  </a:t>
            </a:r>
            <a:pPr indent="0" marL="0">
              <a:buNone/>
            </a:pPr>
            <a:r>
              <a:rPr lang="en-US" sz="1400" dirty="0">
                <a:solidFill>
                  <a:srgbClr val="CBD2D9"/>
                </a:solidFill>
                <a:latin typeface="Calibri" pitchFamily="34" charset="0"/>
                <a:ea typeface="Calibri" pitchFamily="34" charset="-122"/>
                <a:cs typeface="Calibri" pitchFamily="34" charset="-120"/>
              </a:rPr>
              <a:t>DNS names and hostnames come from the network, so they are treated as hostile. They are cleaned before any LLM, notification or screen sees them, and the console only ever shows them as plain text.</a:t>
            </a:r>
            <a:endParaRPr lang="en-US" sz="1400" dirty="0"/>
          </a:p>
        </p:txBody>
      </p:sp>
      <p:sp>
        <p:nvSpPr>
          <p:cNvPr id="49" name="gate2"/>
          <p:cNvSpPr/>
          <p:nvPr/>
        </p:nvSpPr>
        <p:spPr>
          <a:xfrm>
            <a:off x="548640" y="5440680"/>
            <a:ext cx="11109960" cy="685800"/>
          </a:xfrm>
          <a:prstGeom prst="rect">
            <a:avLst/>
          </a:prstGeom>
          <a:solidFill>
            <a:srgbClr val="181D22"/>
          </a:solidFill>
          <a:ln w="12700">
            <a:solidFill>
              <a:srgbClr val="2F3943"/>
            </a:solidFill>
            <a:prstDash val="solid"/>
          </a:ln>
        </p:spPr>
      </p:sp>
      <p:sp>
        <p:nvSpPr>
          <p:cNvPr id="50" name="gate2-edge"/>
          <p:cNvSpPr/>
          <p:nvPr/>
        </p:nvSpPr>
        <p:spPr>
          <a:xfrm>
            <a:off x="548640" y="5440680"/>
            <a:ext cx="73152" cy="685800"/>
          </a:xfrm>
          <a:prstGeom prst="rect">
            <a:avLst/>
          </a:prstGeom>
          <a:solidFill>
            <a:srgbClr val="5A9E84"/>
          </a:solidFill>
          <a:ln/>
        </p:spPr>
      </p:sp>
      <p:sp>
        <p:nvSpPr>
          <p:cNvPr id="51" name="Text 42"/>
          <p:cNvSpPr txBox="1"/>
          <p:nvPr/>
        </p:nvSpPr>
        <p:spPr>
          <a:xfrm>
            <a:off x="868680" y="5440680"/>
            <a:ext cx="10607040" cy="685800"/>
          </a:xfrm>
          <a:prstGeom prst="rect">
            <a:avLst/>
          </a:prstGeom>
          <a:noFill/>
          <a:ln/>
        </p:spPr>
        <p:txBody>
          <a:bodyPr wrap="square" lIns="0" tIns="0" rIns="0" bIns="0" rtlCol="0" anchor="ctr"/>
          <a:lstStyle/>
          <a:p>
            <a:pPr indent="0" marL="0">
              <a:buNone/>
            </a:pPr>
            <a:r>
              <a:rPr lang="en-US" sz="1400" b="1" dirty="0">
                <a:solidFill>
                  <a:srgbClr val="5A9E84"/>
                </a:solidFill>
                <a:latin typeface="Calibri" pitchFamily="34" charset="0"/>
                <a:ea typeface="Calibri" pitchFamily="34" charset="-122"/>
                <a:cs typeface="Calibri" pitchFamily="34" charset="-120"/>
              </a:rPr>
              <a:t>LLMs never decide:  </a:t>
            </a:r>
            <a:pPr indent="0" marL="0">
              <a:buNone/>
            </a:pPr>
            <a:r>
              <a:rPr lang="en-US" sz="1400" dirty="0">
                <a:solidFill>
                  <a:srgbClr val="CBD2D9"/>
                </a:solidFill>
                <a:latin typeface="Calibri" pitchFamily="34" charset="0"/>
                <a:ea typeface="Calibri" pitchFamily="34" charset="-122"/>
                <a:cs typeface="Calibri" pitchFamily="34" charset="-120"/>
              </a:rPr>
              <a:t>detection is rules and statistics. A local model, if you turn one on, only rewrites the wording, and its output is fact-checked against the evidence.</a:t>
            </a:r>
            <a:endParaRPr lang="en-US" sz="140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Five detectors, each tied to an ATT&amp;CK technique</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03  /  WHAT IT DETECTS</a:t>
            </a:r>
            <a:endParaRPr lang="en-US" sz="1100" dirty="0"/>
          </a:p>
        </p:txBody>
      </p:sp>
      <p:sp>
        <p:nvSpPr>
          <p:cNvPr id="5" name="card"/>
          <p:cNvSpPr/>
          <p:nvPr/>
        </p:nvSpPr>
        <p:spPr>
          <a:xfrm>
            <a:off x="548640" y="1645920"/>
            <a:ext cx="3611880" cy="2148840"/>
          </a:xfrm>
          <a:prstGeom prst="rect">
            <a:avLst/>
          </a:prstGeom>
          <a:solidFill>
            <a:srgbClr val="12161A"/>
          </a:solidFill>
          <a:ln w="12700">
            <a:solidFill>
              <a:srgbClr val="232A31"/>
            </a:solidFill>
            <a:prstDash val="solid"/>
          </a:ln>
        </p:spPr>
      </p:sp>
      <p:sp>
        <p:nvSpPr>
          <p:cNvPr id="6" name="card-top"/>
          <p:cNvSpPr/>
          <p:nvPr/>
        </p:nvSpPr>
        <p:spPr>
          <a:xfrm>
            <a:off x="548640" y="1645920"/>
            <a:ext cx="3611880" cy="64008"/>
          </a:xfrm>
          <a:prstGeom prst="rect">
            <a:avLst/>
          </a:prstGeom>
          <a:solidFill>
            <a:srgbClr val="C4403F"/>
          </a:solidFill>
          <a:ln/>
        </p:spPr>
      </p:sp>
      <p:sp>
        <p:nvSpPr>
          <p:cNvPr id="7" name="Text 4"/>
          <p:cNvSpPr txBox="1"/>
          <p:nvPr/>
        </p:nvSpPr>
        <p:spPr>
          <a:xfrm>
            <a:off x="777240" y="1874520"/>
            <a:ext cx="2103120" cy="365760"/>
          </a:xfrm>
          <a:prstGeom prst="rect">
            <a:avLst/>
          </a:prstGeom>
          <a:noFill/>
          <a:ln/>
        </p:spPr>
        <p:txBody>
          <a:bodyPr wrap="square" lIns="0" tIns="0" rIns="0" bIns="0" rtlCol="0" anchor="ctr"/>
          <a:lstStyle/>
          <a:p>
            <a:pPr indent="0" marL="0">
              <a:buNone/>
            </a:pPr>
            <a:r>
              <a:rPr lang="en-US" sz="1900" b="1" dirty="0">
                <a:solidFill>
                  <a:srgbClr val="E6EAEE"/>
                </a:solidFill>
                <a:latin typeface="Calibri" pitchFamily="34" charset="0"/>
                <a:ea typeface="Calibri" pitchFamily="34" charset="-122"/>
                <a:cs typeface="Calibri" pitchFamily="34" charset="-120"/>
              </a:rPr>
              <a:t>Port scan</a:t>
            </a:r>
            <a:endParaRPr lang="en-US" sz="1900" dirty="0"/>
          </a:p>
        </p:txBody>
      </p:sp>
      <p:sp>
        <p:nvSpPr>
          <p:cNvPr id="8" name="chip"/>
          <p:cNvSpPr/>
          <p:nvPr/>
        </p:nvSpPr>
        <p:spPr>
          <a:xfrm>
            <a:off x="2926080" y="1920240"/>
            <a:ext cx="1051560" cy="274320"/>
          </a:xfrm>
          <a:prstGeom prst="rect">
            <a:avLst/>
          </a:prstGeom>
          <a:ln w="12700">
            <a:solidFill>
              <a:srgbClr val="7B8794"/>
            </a:solidFill>
            <a:prstDash val="solid"/>
          </a:ln>
        </p:spPr>
      </p:sp>
      <p:sp>
        <p:nvSpPr>
          <p:cNvPr id="9" name="Text 6"/>
          <p:cNvSpPr txBox="1"/>
          <p:nvPr/>
        </p:nvSpPr>
        <p:spPr>
          <a:xfrm>
            <a:off x="2926080" y="1920240"/>
            <a:ext cx="1051560" cy="274320"/>
          </a:xfrm>
          <a:prstGeom prst="rect">
            <a:avLst/>
          </a:prstGeom>
          <a:noFill/>
          <a:ln/>
        </p:spPr>
        <p:txBody>
          <a:bodyPr wrap="square" lIns="0" tIns="0" rIns="0" bIns="0" rtlCol="0" anchor="ctr"/>
          <a:lstStyle/>
          <a:p>
            <a:pPr algn="ctr" indent="0" marL="0">
              <a:buNone/>
            </a:pPr>
            <a:r>
              <a:rPr lang="en-US" sz="1000" b="1" spc="100" kern="0" dirty="0">
                <a:solidFill>
                  <a:srgbClr val="7B8794"/>
                </a:solidFill>
                <a:latin typeface="Courier New" pitchFamily="34" charset="0"/>
                <a:ea typeface="Courier New" pitchFamily="34" charset="-122"/>
                <a:cs typeface="Courier New" pitchFamily="34" charset="-120"/>
              </a:rPr>
              <a:t>T1046</a:t>
            </a:r>
            <a:endParaRPr lang="en-US" sz="1000" dirty="0"/>
          </a:p>
        </p:txBody>
      </p:sp>
      <p:sp>
        <p:nvSpPr>
          <p:cNvPr id="10" name="Text 7"/>
          <p:cNvSpPr txBox="1"/>
          <p:nvPr/>
        </p:nvSpPr>
        <p:spPr>
          <a:xfrm>
            <a:off x="777240" y="2377440"/>
            <a:ext cx="3200400" cy="777240"/>
          </a:xfrm>
          <a:prstGeom prst="rect">
            <a:avLst/>
          </a:prstGeom>
          <a:noFill/>
          <a:ln/>
        </p:spPr>
        <p:txBody>
          <a:bodyPr wrap="square" lIns="0" tIns="0" rIns="0" bIns="0" rtlCol="0" anchor="t"/>
          <a:lstStyle/>
          <a:p>
            <a:pPr indent="0" marL="0">
              <a:buNone/>
            </a:pPr>
            <a:r>
              <a:rPr lang="en-US" sz="1300" dirty="0">
                <a:solidFill>
                  <a:srgbClr val="CBD2D9"/>
                </a:solidFill>
                <a:latin typeface="Calibri" pitchFamily="34" charset="0"/>
                <a:ea typeface="Calibri" pitchFamily="34" charset="-122"/>
                <a:cs typeface="Calibri" pitchFamily="34" charset="-120"/>
              </a:rPr>
              <a:t>One device probing many ports or hosts, fast or slow.</a:t>
            </a:r>
            <a:endParaRPr lang="en-US" sz="1300" dirty="0"/>
          </a:p>
        </p:txBody>
      </p:sp>
      <p:sp>
        <p:nvSpPr>
          <p:cNvPr id="11" name="rule"/>
          <p:cNvSpPr/>
          <p:nvPr/>
        </p:nvSpPr>
        <p:spPr>
          <a:xfrm>
            <a:off x="777240" y="3182112"/>
            <a:ext cx="3154680" cy="0"/>
          </a:xfrm>
          <a:prstGeom prst="line">
            <a:avLst/>
          </a:prstGeom>
          <a:noFill/>
          <a:ln w="12700">
            <a:solidFill>
              <a:srgbClr val="232A31"/>
            </a:solidFill>
            <a:prstDash val="solid"/>
          </a:ln>
        </p:spPr>
      </p:sp>
      <p:sp>
        <p:nvSpPr>
          <p:cNvPr id="12" name="Text 9"/>
          <p:cNvSpPr txBox="1"/>
          <p:nvPr/>
        </p:nvSpPr>
        <p:spPr>
          <a:xfrm>
            <a:off x="777240" y="3255264"/>
            <a:ext cx="3200400" cy="457200"/>
          </a:xfrm>
          <a:prstGeom prst="rect">
            <a:avLst/>
          </a:prstGeom>
          <a:noFill/>
          <a:ln/>
        </p:spPr>
        <p:txBody>
          <a:bodyPr wrap="square" lIns="0" tIns="0" rIns="0" bIns="0" rtlCol="0" anchor="t"/>
          <a:lstStyle/>
          <a:p>
            <a:pPr indent="0" marL="0">
              <a:buNone/>
            </a:pPr>
            <a:r>
              <a:rPr lang="en-US" sz="1100" dirty="0">
                <a:solidFill>
                  <a:srgbClr val="5B8DB8"/>
                </a:solidFill>
                <a:latin typeface="Courier New" pitchFamily="34" charset="0"/>
                <a:ea typeface="Courier New" pitchFamily="34" charset="-122"/>
                <a:cs typeface="Courier New" pitchFamily="34" charset="-120"/>
              </a:rPr>
              <a:t>400 ports in about 1 s, 99.75% failed</a:t>
            </a:r>
            <a:endParaRPr lang="en-US" sz="1100" dirty="0"/>
          </a:p>
        </p:txBody>
      </p:sp>
      <p:sp>
        <p:nvSpPr>
          <p:cNvPr id="13" name="card"/>
          <p:cNvSpPr/>
          <p:nvPr/>
        </p:nvSpPr>
        <p:spPr>
          <a:xfrm>
            <a:off x="4297680" y="1645920"/>
            <a:ext cx="3611880" cy="2148840"/>
          </a:xfrm>
          <a:prstGeom prst="rect">
            <a:avLst/>
          </a:prstGeom>
          <a:solidFill>
            <a:srgbClr val="12161A"/>
          </a:solidFill>
          <a:ln w="12700">
            <a:solidFill>
              <a:srgbClr val="232A31"/>
            </a:solidFill>
            <a:prstDash val="solid"/>
          </a:ln>
        </p:spPr>
      </p:sp>
      <p:sp>
        <p:nvSpPr>
          <p:cNvPr id="14" name="card-top"/>
          <p:cNvSpPr/>
          <p:nvPr/>
        </p:nvSpPr>
        <p:spPr>
          <a:xfrm>
            <a:off x="4297680" y="1645920"/>
            <a:ext cx="3611880" cy="64008"/>
          </a:xfrm>
          <a:prstGeom prst="rect">
            <a:avLst/>
          </a:prstGeom>
          <a:solidFill>
            <a:srgbClr val="C4403F"/>
          </a:solidFill>
          <a:ln/>
        </p:spPr>
      </p:sp>
      <p:sp>
        <p:nvSpPr>
          <p:cNvPr id="15" name="Text 12"/>
          <p:cNvSpPr txBox="1"/>
          <p:nvPr/>
        </p:nvSpPr>
        <p:spPr>
          <a:xfrm>
            <a:off x="4526280" y="1874520"/>
            <a:ext cx="2103120" cy="365760"/>
          </a:xfrm>
          <a:prstGeom prst="rect">
            <a:avLst/>
          </a:prstGeom>
          <a:noFill/>
          <a:ln/>
        </p:spPr>
        <p:txBody>
          <a:bodyPr wrap="square" lIns="0" tIns="0" rIns="0" bIns="0" rtlCol="0" anchor="ctr"/>
          <a:lstStyle/>
          <a:p>
            <a:pPr indent="0" marL="0">
              <a:buNone/>
            </a:pPr>
            <a:r>
              <a:rPr lang="en-US" sz="1900" b="1" dirty="0">
                <a:solidFill>
                  <a:srgbClr val="E6EAEE"/>
                </a:solidFill>
                <a:latin typeface="Calibri" pitchFamily="34" charset="0"/>
                <a:ea typeface="Calibri" pitchFamily="34" charset="-122"/>
                <a:cs typeface="Calibri" pitchFamily="34" charset="-120"/>
              </a:rPr>
              <a:t>Brute force</a:t>
            </a:r>
            <a:endParaRPr lang="en-US" sz="1900" dirty="0"/>
          </a:p>
        </p:txBody>
      </p:sp>
      <p:sp>
        <p:nvSpPr>
          <p:cNvPr id="16" name="chip"/>
          <p:cNvSpPr/>
          <p:nvPr/>
        </p:nvSpPr>
        <p:spPr>
          <a:xfrm>
            <a:off x="6675120" y="1920240"/>
            <a:ext cx="1051560" cy="274320"/>
          </a:xfrm>
          <a:prstGeom prst="rect">
            <a:avLst/>
          </a:prstGeom>
          <a:ln w="12700">
            <a:solidFill>
              <a:srgbClr val="7B8794"/>
            </a:solidFill>
            <a:prstDash val="solid"/>
          </a:ln>
        </p:spPr>
      </p:sp>
      <p:sp>
        <p:nvSpPr>
          <p:cNvPr id="17" name="Text 14"/>
          <p:cNvSpPr txBox="1"/>
          <p:nvPr/>
        </p:nvSpPr>
        <p:spPr>
          <a:xfrm>
            <a:off x="6675120" y="1920240"/>
            <a:ext cx="1051560" cy="274320"/>
          </a:xfrm>
          <a:prstGeom prst="rect">
            <a:avLst/>
          </a:prstGeom>
          <a:noFill/>
          <a:ln/>
        </p:spPr>
        <p:txBody>
          <a:bodyPr wrap="square" lIns="0" tIns="0" rIns="0" bIns="0" rtlCol="0" anchor="ctr"/>
          <a:lstStyle/>
          <a:p>
            <a:pPr algn="ctr" indent="0" marL="0">
              <a:buNone/>
            </a:pPr>
            <a:r>
              <a:rPr lang="en-US" sz="1000" b="1" spc="100" kern="0" dirty="0">
                <a:solidFill>
                  <a:srgbClr val="7B8794"/>
                </a:solidFill>
                <a:latin typeface="Courier New" pitchFamily="34" charset="0"/>
                <a:ea typeface="Courier New" pitchFamily="34" charset="-122"/>
                <a:cs typeface="Courier New" pitchFamily="34" charset="-120"/>
              </a:rPr>
              <a:t>T1110</a:t>
            </a:r>
            <a:endParaRPr lang="en-US" sz="1000" dirty="0"/>
          </a:p>
        </p:txBody>
      </p:sp>
      <p:sp>
        <p:nvSpPr>
          <p:cNvPr id="18" name="Text 15"/>
          <p:cNvSpPr txBox="1"/>
          <p:nvPr/>
        </p:nvSpPr>
        <p:spPr>
          <a:xfrm>
            <a:off x="4526280" y="2377440"/>
            <a:ext cx="3200400" cy="777240"/>
          </a:xfrm>
          <a:prstGeom prst="rect">
            <a:avLst/>
          </a:prstGeom>
          <a:noFill/>
          <a:ln/>
        </p:spPr>
        <p:txBody>
          <a:bodyPr wrap="square" lIns="0" tIns="0" rIns="0" bIns="0" rtlCol="0" anchor="t"/>
          <a:lstStyle/>
          <a:p>
            <a:pPr indent="0" marL="0">
              <a:buNone/>
            </a:pPr>
            <a:r>
              <a:rPr lang="en-US" sz="1300" dirty="0">
                <a:solidFill>
                  <a:srgbClr val="CBD2D9"/>
                </a:solidFill>
                <a:latin typeface="Calibri" pitchFamily="34" charset="0"/>
                <a:ea typeface="Calibri" pitchFamily="34" charset="-122"/>
                <a:cs typeface="Calibri" pitchFamily="34" charset="-120"/>
              </a:rPr>
              <a:t>Many connections to SSH, RDP, SMB or FTP that mostly complete.</a:t>
            </a:r>
            <a:endParaRPr lang="en-US" sz="1300" dirty="0"/>
          </a:p>
        </p:txBody>
      </p:sp>
      <p:sp>
        <p:nvSpPr>
          <p:cNvPr id="19" name="rule"/>
          <p:cNvSpPr/>
          <p:nvPr/>
        </p:nvSpPr>
        <p:spPr>
          <a:xfrm>
            <a:off x="4526280" y="3182112"/>
            <a:ext cx="3154680" cy="0"/>
          </a:xfrm>
          <a:prstGeom prst="line">
            <a:avLst/>
          </a:prstGeom>
          <a:noFill/>
          <a:ln w="12700">
            <a:solidFill>
              <a:srgbClr val="232A31"/>
            </a:solidFill>
            <a:prstDash val="solid"/>
          </a:ln>
        </p:spPr>
      </p:sp>
      <p:sp>
        <p:nvSpPr>
          <p:cNvPr id="20" name="Text 17"/>
          <p:cNvSpPr txBox="1"/>
          <p:nvPr/>
        </p:nvSpPr>
        <p:spPr>
          <a:xfrm>
            <a:off x="4526280" y="3255264"/>
            <a:ext cx="3200400" cy="457200"/>
          </a:xfrm>
          <a:prstGeom prst="rect">
            <a:avLst/>
          </a:prstGeom>
          <a:noFill/>
          <a:ln/>
        </p:spPr>
        <p:txBody>
          <a:bodyPr wrap="square" lIns="0" tIns="0" rIns="0" bIns="0" rtlCol="0" anchor="t"/>
          <a:lstStyle/>
          <a:p>
            <a:pPr indent="0" marL="0">
              <a:buNone/>
            </a:pPr>
            <a:r>
              <a:rPr lang="en-US" sz="1100" dirty="0">
                <a:solidFill>
                  <a:srgbClr val="5B8DB8"/>
                </a:solidFill>
                <a:latin typeface="Courier New" pitchFamily="34" charset="0"/>
                <a:ea typeface="Courier New" pitchFamily="34" charset="-122"/>
                <a:cs typeface="Courier New" pitchFamily="34" charset="-120"/>
              </a:rPr>
              <a:t>21 logins to port 2222, all completed</a:t>
            </a:r>
            <a:endParaRPr lang="en-US" sz="1100" dirty="0"/>
          </a:p>
        </p:txBody>
      </p:sp>
      <p:sp>
        <p:nvSpPr>
          <p:cNvPr id="21" name="card"/>
          <p:cNvSpPr/>
          <p:nvPr/>
        </p:nvSpPr>
        <p:spPr>
          <a:xfrm>
            <a:off x="8046720" y="1645920"/>
            <a:ext cx="3611880" cy="2148840"/>
          </a:xfrm>
          <a:prstGeom prst="rect">
            <a:avLst/>
          </a:prstGeom>
          <a:solidFill>
            <a:srgbClr val="12161A"/>
          </a:solidFill>
          <a:ln w="12700">
            <a:solidFill>
              <a:srgbClr val="232A31"/>
            </a:solidFill>
            <a:prstDash val="solid"/>
          </a:ln>
        </p:spPr>
      </p:sp>
      <p:sp>
        <p:nvSpPr>
          <p:cNvPr id="22" name="card-top"/>
          <p:cNvSpPr/>
          <p:nvPr/>
        </p:nvSpPr>
        <p:spPr>
          <a:xfrm>
            <a:off x="8046720" y="1645920"/>
            <a:ext cx="3611880" cy="64008"/>
          </a:xfrm>
          <a:prstGeom prst="rect">
            <a:avLst/>
          </a:prstGeom>
          <a:solidFill>
            <a:srgbClr val="C4403F"/>
          </a:solidFill>
          <a:ln/>
        </p:spPr>
      </p:sp>
      <p:sp>
        <p:nvSpPr>
          <p:cNvPr id="23" name="Text 20"/>
          <p:cNvSpPr txBox="1"/>
          <p:nvPr/>
        </p:nvSpPr>
        <p:spPr>
          <a:xfrm>
            <a:off x="8275320" y="1874520"/>
            <a:ext cx="2103120" cy="365760"/>
          </a:xfrm>
          <a:prstGeom prst="rect">
            <a:avLst/>
          </a:prstGeom>
          <a:noFill/>
          <a:ln/>
        </p:spPr>
        <p:txBody>
          <a:bodyPr wrap="square" lIns="0" tIns="0" rIns="0" bIns="0" rtlCol="0" anchor="ctr"/>
          <a:lstStyle/>
          <a:p>
            <a:pPr indent="0" marL="0">
              <a:buNone/>
            </a:pPr>
            <a:r>
              <a:rPr lang="en-US" sz="1900" b="1" dirty="0">
                <a:solidFill>
                  <a:srgbClr val="E6EAEE"/>
                </a:solidFill>
                <a:latin typeface="Calibri" pitchFamily="34" charset="0"/>
                <a:ea typeface="Calibri" pitchFamily="34" charset="-122"/>
                <a:cs typeface="Calibri" pitchFamily="34" charset="-120"/>
              </a:rPr>
              <a:t>Beaconing</a:t>
            </a:r>
            <a:endParaRPr lang="en-US" sz="1900" dirty="0"/>
          </a:p>
        </p:txBody>
      </p:sp>
      <p:sp>
        <p:nvSpPr>
          <p:cNvPr id="24" name="chip"/>
          <p:cNvSpPr/>
          <p:nvPr/>
        </p:nvSpPr>
        <p:spPr>
          <a:xfrm>
            <a:off x="10424160" y="1920240"/>
            <a:ext cx="1051560" cy="274320"/>
          </a:xfrm>
          <a:prstGeom prst="rect">
            <a:avLst/>
          </a:prstGeom>
          <a:ln w="12700">
            <a:solidFill>
              <a:srgbClr val="7B8794"/>
            </a:solidFill>
            <a:prstDash val="solid"/>
          </a:ln>
        </p:spPr>
      </p:sp>
      <p:sp>
        <p:nvSpPr>
          <p:cNvPr id="25" name="Text 22"/>
          <p:cNvSpPr txBox="1"/>
          <p:nvPr/>
        </p:nvSpPr>
        <p:spPr>
          <a:xfrm>
            <a:off x="10424160" y="1920240"/>
            <a:ext cx="1051560" cy="274320"/>
          </a:xfrm>
          <a:prstGeom prst="rect">
            <a:avLst/>
          </a:prstGeom>
          <a:noFill/>
          <a:ln/>
        </p:spPr>
        <p:txBody>
          <a:bodyPr wrap="square" lIns="0" tIns="0" rIns="0" bIns="0" rtlCol="0" anchor="ctr"/>
          <a:lstStyle/>
          <a:p>
            <a:pPr algn="ctr" indent="0" marL="0">
              <a:buNone/>
            </a:pPr>
            <a:r>
              <a:rPr lang="en-US" sz="1000" b="1" spc="100" kern="0" dirty="0">
                <a:solidFill>
                  <a:srgbClr val="7B8794"/>
                </a:solidFill>
                <a:latin typeface="Courier New" pitchFamily="34" charset="0"/>
                <a:ea typeface="Courier New" pitchFamily="34" charset="-122"/>
                <a:cs typeface="Courier New" pitchFamily="34" charset="-120"/>
              </a:rPr>
              <a:t>T1071.001</a:t>
            </a:r>
            <a:endParaRPr lang="en-US" sz="1000" dirty="0"/>
          </a:p>
        </p:txBody>
      </p:sp>
      <p:sp>
        <p:nvSpPr>
          <p:cNvPr id="26" name="Text 23"/>
          <p:cNvSpPr txBox="1"/>
          <p:nvPr/>
        </p:nvSpPr>
        <p:spPr>
          <a:xfrm>
            <a:off x="8275320" y="2377440"/>
            <a:ext cx="3200400" cy="777240"/>
          </a:xfrm>
          <a:prstGeom prst="rect">
            <a:avLst/>
          </a:prstGeom>
          <a:noFill/>
          <a:ln/>
        </p:spPr>
        <p:txBody>
          <a:bodyPr wrap="square" lIns="0" tIns="0" rIns="0" bIns="0" rtlCol="0" anchor="t"/>
          <a:lstStyle/>
          <a:p>
            <a:pPr indent="0" marL="0">
              <a:buNone/>
            </a:pPr>
            <a:r>
              <a:rPr lang="en-US" sz="1300" dirty="0">
                <a:solidFill>
                  <a:srgbClr val="CBD2D9"/>
                </a:solidFill>
                <a:latin typeface="Calibri" pitchFamily="34" charset="0"/>
                <a:ea typeface="Calibri" pitchFamily="34" charset="-122"/>
                <a:cs typeface="Calibri" pitchFamily="34" charset="-120"/>
              </a:rPr>
              <a:t>One server contacted at suspiciously regular intervals.</a:t>
            </a:r>
            <a:endParaRPr lang="en-US" sz="1300" dirty="0"/>
          </a:p>
        </p:txBody>
      </p:sp>
      <p:sp>
        <p:nvSpPr>
          <p:cNvPr id="27" name="rule"/>
          <p:cNvSpPr/>
          <p:nvPr/>
        </p:nvSpPr>
        <p:spPr>
          <a:xfrm>
            <a:off x="8275320" y="3182112"/>
            <a:ext cx="3154680" cy="0"/>
          </a:xfrm>
          <a:prstGeom prst="line">
            <a:avLst/>
          </a:prstGeom>
          <a:noFill/>
          <a:ln w="12700">
            <a:solidFill>
              <a:srgbClr val="232A31"/>
            </a:solidFill>
            <a:prstDash val="solid"/>
          </a:ln>
        </p:spPr>
      </p:sp>
      <p:sp>
        <p:nvSpPr>
          <p:cNvPr id="28" name="Text 25"/>
          <p:cNvSpPr txBox="1"/>
          <p:nvPr/>
        </p:nvSpPr>
        <p:spPr>
          <a:xfrm>
            <a:off x="8275320" y="3255264"/>
            <a:ext cx="3200400" cy="457200"/>
          </a:xfrm>
          <a:prstGeom prst="rect">
            <a:avLst/>
          </a:prstGeom>
          <a:noFill/>
          <a:ln/>
        </p:spPr>
        <p:txBody>
          <a:bodyPr wrap="square" lIns="0" tIns="0" rIns="0" bIns="0" rtlCol="0" anchor="t"/>
          <a:lstStyle/>
          <a:p>
            <a:pPr indent="0" marL="0">
              <a:buNone/>
            </a:pPr>
            <a:r>
              <a:rPr lang="en-US" sz="1100" dirty="0">
                <a:solidFill>
                  <a:srgbClr val="5B8DB8"/>
                </a:solidFill>
                <a:latin typeface="Courier New" pitchFamily="34" charset="0"/>
                <a:ea typeface="Courier New" pitchFamily="34" charset="-122"/>
                <a:cs typeface="Courier New" pitchFamily="34" charset="-120"/>
              </a:rPr>
              <a:t>13 check-ins every 1.0003 s, jitter 0.2%</a:t>
            </a:r>
            <a:endParaRPr lang="en-US" sz="1100" dirty="0"/>
          </a:p>
        </p:txBody>
      </p:sp>
      <p:sp>
        <p:nvSpPr>
          <p:cNvPr id="29" name="card"/>
          <p:cNvSpPr/>
          <p:nvPr/>
        </p:nvSpPr>
        <p:spPr>
          <a:xfrm>
            <a:off x="548640" y="3977640"/>
            <a:ext cx="3611880" cy="2148840"/>
          </a:xfrm>
          <a:prstGeom prst="rect">
            <a:avLst/>
          </a:prstGeom>
          <a:solidFill>
            <a:srgbClr val="12161A"/>
          </a:solidFill>
          <a:ln w="12700">
            <a:solidFill>
              <a:srgbClr val="232A31"/>
            </a:solidFill>
            <a:prstDash val="solid"/>
          </a:ln>
        </p:spPr>
      </p:sp>
      <p:sp>
        <p:nvSpPr>
          <p:cNvPr id="30" name="card-top"/>
          <p:cNvSpPr/>
          <p:nvPr/>
        </p:nvSpPr>
        <p:spPr>
          <a:xfrm>
            <a:off x="548640" y="3977640"/>
            <a:ext cx="3611880" cy="64008"/>
          </a:xfrm>
          <a:prstGeom prst="rect">
            <a:avLst/>
          </a:prstGeom>
          <a:solidFill>
            <a:srgbClr val="C4403F"/>
          </a:solidFill>
          <a:ln/>
        </p:spPr>
      </p:sp>
      <p:sp>
        <p:nvSpPr>
          <p:cNvPr id="31" name="Text 28"/>
          <p:cNvSpPr txBox="1"/>
          <p:nvPr/>
        </p:nvSpPr>
        <p:spPr>
          <a:xfrm>
            <a:off x="777240" y="4206240"/>
            <a:ext cx="2103120" cy="365760"/>
          </a:xfrm>
          <a:prstGeom prst="rect">
            <a:avLst/>
          </a:prstGeom>
          <a:noFill/>
          <a:ln/>
        </p:spPr>
        <p:txBody>
          <a:bodyPr wrap="square" lIns="0" tIns="0" rIns="0" bIns="0" rtlCol="0" anchor="ctr"/>
          <a:lstStyle/>
          <a:p>
            <a:pPr indent="0" marL="0">
              <a:buNone/>
            </a:pPr>
            <a:r>
              <a:rPr lang="en-US" sz="1900" b="1" dirty="0">
                <a:solidFill>
                  <a:srgbClr val="E6EAEE"/>
                </a:solidFill>
                <a:latin typeface="Calibri" pitchFamily="34" charset="0"/>
                <a:ea typeface="Calibri" pitchFamily="34" charset="-122"/>
                <a:cs typeface="Calibri" pitchFamily="34" charset="-120"/>
              </a:rPr>
              <a:t>DNS tunnelling</a:t>
            </a:r>
            <a:endParaRPr lang="en-US" sz="1900" dirty="0"/>
          </a:p>
        </p:txBody>
      </p:sp>
      <p:sp>
        <p:nvSpPr>
          <p:cNvPr id="32" name="chip"/>
          <p:cNvSpPr/>
          <p:nvPr/>
        </p:nvSpPr>
        <p:spPr>
          <a:xfrm>
            <a:off x="2926080" y="4251960"/>
            <a:ext cx="1051560" cy="274320"/>
          </a:xfrm>
          <a:prstGeom prst="rect">
            <a:avLst/>
          </a:prstGeom>
          <a:ln w="12700">
            <a:solidFill>
              <a:srgbClr val="7B8794"/>
            </a:solidFill>
            <a:prstDash val="solid"/>
          </a:ln>
        </p:spPr>
      </p:sp>
      <p:sp>
        <p:nvSpPr>
          <p:cNvPr id="33" name="Text 30"/>
          <p:cNvSpPr txBox="1"/>
          <p:nvPr/>
        </p:nvSpPr>
        <p:spPr>
          <a:xfrm>
            <a:off x="2926080" y="4251960"/>
            <a:ext cx="1051560" cy="274320"/>
          </a:xfrm>
          <a:prstGeom prst="rect">
            <a:avLst/>
          </a:prstGeom>
          <a:noFill/>
          <a:ln/>
        </p:spPr>
        <p:txBody>
          <a:bodyPr wrap="square" lIns="0" tIns="0" rIns="0" bIns="0" rtlCol="0" anchor="ctr"/>
          <a:lstStyle/>
          <a:p>
            <a:pPr algn="ctr" indent="0" marL="0">
              <a:buNone/>
            </a:pPr>
            <a:r>
              <a:rPr lang="en-US" sz="1000" b="1" spc="100" kern="0" dirty="0">
                <a:solidFill>
                  <a:srgbClr val="7B8794"/>
                </a:solidFill>
                <a:latin typeface="Courier New" pitchFamily="34" charset="0"/>
                <a:ea typeface="Courier New" pitchFamily="34" charset="-122"/>
                <a:cs typeface="Courier New" pitchFamily="34" charset="-120"/>
              </a:rPr>
              <a:t>T1071.004</a:t>
            </a:r>
            <a:endParaRPr lang="en-US" sz="1000" dirty="0"/>
          </a:p>
        </p:txBody>
      </p:sp>
      <p:sp>
        <p:nvSpPr>
          <p:cNvPr id="34" name="Text 31"/>
          <p:cNvSpPr txBox="1"/>
          <p:nvPr/>
        </p:nvSpPr>
        <p:spPr>
          <a:xfrm>
            <a:off x="777240" y="4709160"/>
            <a:ext cx="3200400" cy="777240"/>
          </a:xfrm>
          <a:prstGeom prst="rect">
            <a:avLst/>
          </a:prstGeom>
          <a:noFill/>
          <a:ln/>
        </p:spPr>
        <p:txBody>
          <a:bodyPr wrap="square" lIns="0" tIns="0" rIns="0" bIns="0" rtlCol="0" anchor="t"/>
          <a:lstStyle/>
          <a:p>
            <a:pPr indent="0" marL="0">
              <a:buNone/>
            </a:pPr>
            <a:r>
              <a:rPr lang="en-US" sz="1300" dirty="0">
                <a:solidFill>
                  <a:srgbClr val="CBD2D9"/>
                </a:solidFill>
                <a:latin typeface="Calibri" pitchFamily="34" charset="0"/>
                <a:ea typeface="Calibri" pitchFamily="34" charset="-122"/>
                <a:cs typeface="Calibri" pitchFamily="34" charset="-120"/>
              </a:rPr>
              <a:t>Long, random-looking lookups under one domain. An n-gram model scores how random the names look.</a:t>
            </a:r>
            <a:endParaRPr lang="en-US" sz="1300" dirty="0"/>
          </a:p>
        </p:txBody>
      </p:sp>
      <p:sp>
        <p:nvSpPr>
          <p:cNvPr id="35" name="rule"/>
          <p:cNvSpPr/>
          <p:nvPr/>
        </p:nvSpPr>
        <p:spPr>
          <a:xfrm>
            <a:off x="777240" y="5513832"/>
            <a:ext cx="3154680" cy="0"/>
          </a:xfrm>
          <a:prstGeom prst="line">
            <a:avLst/>
          </a:prstGeom>
          <a:noFill/>
          <a:ln w="12700">
            <a:solidFill>
              <a:srgbClr val="232A31"/>
            </a:solidFill>
            <a:prstDash val="solid"/>
          </a:ln>
        </p:spPr>
      </p:sp>
      <p:sp>
        <p:nvSpPr>
          <p:cNvPr id="36" name="Text 33"/>
          <p:cNvSpPr txBox="1"/>
          <p:nvPr/>
        </p:nvSpPr>
        <p:spPr>
          <a:xfrm>
            <a:off x="777240" y="5586984"/>
            <a:ext cx="3200400" cy="457200"/>
          </a:xfrm>
          <a:prstGeom prst="rect">
            <a:avLst/>
          </a:prstGeom>
          <a:noFill/>
          <a:ln/>
        </p:spPr>
        <p:txBody>
          <a:bodyPr wrap="square" lIns="0" tIns="0" rIns="0" bIns="0" rtlCol="0" anchor="t"/>
          <a:lstStyle/>
          <a:p>
            <a:pPr indent="0" marL="0">
              <a:buNone/>
            </a:pPr>
            <a:r>
              <a:rPr lang="en-US" sz="1100" dirty="0">
                <a:solidFill>
                  <a:srgbClr val="5B8DB8"/>
                </a:solidFill>
                <a:latin typeface="Courier New" pitchFamily="34" charset="0"/>
                <a:ea typeface="Courier New" pitchFamily="34" charset="-122"/>
                <a:cs typeface="Courier New" pitchFamily="34" charset="-120"/>
              </a:rPr>
              <a:t>14 TXT lookups, 67 characters, 4.5 bits/char</a:t>
            </a:r>
            <a:endParaRPr lang="en-US" sz="1100" dirty="0"/>
          </a:p>
        </p:txBody>
      </p:sp>
      <p:sp>
        <p:nvSpPr>
          <p:cNvPr id="37" name="card"/>
          <p:cNvSpPr/>
          <p:nvPr/>
        </p:nvSpPr>
        <p:spPr>
          <a:xfrm>
            <a:off x="4297680" y="3977640"/>
            <a:ext cx="3611880" cy="2148840"/>
          </a:xfrm>
          <a:prstGeom prst="rect">
            <a:avLst/>
          </a:prstGeom>
          <a:solidFill>
            <a:srgbClr val="12161A"/>
          </a:solidFill>
          <a:ln w="12700">
            <a:solidFill>
              <a:srgbClr val="232A31"/>
            </a:solidFill>
            <a:prstDash val="solid"/>
          </a:ln>
        </p:spPr>
      </p:sp>
      <p:sp>
        <p:nvSpPr>
          <p:cNvPr id="38" name="card-top"/>
          <p:cNvSpPr/>
          <p:nvPr/>
        </p:nvSpPr>
        <p:spPr>
          <a:xfrm>
            <a:off x="4297680" y="3977640"/>
            <a:ext cx="3611880" cy="64008"/>
          </a:xfrm>
          <a:prstGeom prst="rect">
            <a:avLst/>
          </a:prstGeom>
          <a:solidFill>
            <a:srgbClr val="B8993B"/>
          </a:solidFill>
          <a:ln/>
        </p:spPr>
      </p:sp>
      <p:sp>
        <p:nvSpPr>
          <p:cNvPr id="39" name="Text 36"/>
          <p:cNvSpPr txBox="1"/>
          <p:nvPr/>
        </p:nvSpPr>
        <p:spPr>
          <a:xfrm>
            <a:off x="4526280" y="4206240"/>
            <a:ext cx="2103120" cy="365760"/>
          </a:xfrm>
          <a:prstGeom prst="rect">
            <a:avLst/>
          </a:prstGeom>
          <a:noFill/>
          <a:ln/>
        </p:spPr>
        <p:txBody>
          <a:bodyPr wrap="square" lIns="0" tIns="0" rIns="0" bIns="0" rtlCol="0" anchor="ctr"/>
          <a:lstStyle/>
          <a:p>
            <a:pPr indent="0" marL="0">
              <a:buNone/>
            </a:pPr>
            <a:r>
              <a:rPr lang="en-US" sz="1900" b="1" dirty="0">
                <a:solidFill>
                  <a:srgbClr val="E6EAEE"/>
                </a:solidFill>
                <a:latin typeface="Calibri" pitchFamily="34" charset="0"/>
                <a:ea typeface="Calibri" pitchFamily="34" charset="-122"/>
                <a:cs typeface="Calibri" pitchFamily="34" charset="-120"/>
              </a:rPr>
              <a:t>Unusual behaviour</a:t>
            </a:r>
            <a:endParaRPr lang="en-US" sz="1900" dirty="0"/>
          </a:p>
        </p:txBody>
      </p:sp>
      <p:sp>
        <p:nvSpPr>
          <p:cNvPr id="40" name="chip"/>
          <p:cNvSpPr/>
          <p:nvPr/>
        </p:nvSpPr>
        <p:spPr>
          <a:xfrm>
            <a:off x="6675120" y="4251960"/>
            <a:ext cx="1051560" cy="274320"/>
          </a:xfrm>
          <a:prstGeom prst="rect">
            <a:avLst/>
          </a:prstGeom>
          <a:ln w="12700">
            <a:solidFill>
              <a:srgbClr val="B8993B"/>
            </a:solidFill>
            <a:prstDash val="solid"/>
          </a:ln>
        </p:spPr>
      </p:sp>
      <p:sp>
        <p:nvSpPr>
          <p:cNvPr id="41" name="Text 38"/>
          <p:cNvSpPr txBox="1"/>
          <p:nvPr/>
        </p:nvSpPr>
        <p:spPr>
          <a:xfrm>
            <a:off x="6675120" y="4251960"/>
            <a:ext cx="1051560" cy="274320"/>
          </a:xfrm>
          <a:prstGeom prst="rect">
            <a:avLst/>
          </a:prstGeom>
          <a:noFill/>
          <a:ln/>
        </p:spPr>
        <p:txBody>
          <a:bodyPr wrap="square" lIns="0" tIns="0" rIns="0" bIns="0" rtlCol="0" anchor="ctr"/>
          <a:lstStyle/>
          <a:p>
            <a:pPr algn="ctr" indent="0" marL="0">
              <a:buNone/>
            </a:pPr>
            <a:r>
              <a:rPr lang="en-US" sz="1000" b="1" spc="100" kern="0" dirty="0">
                <a:solidFill>
                  <a:srgbClr val="B8993B"/>
                </a:solidFill>
                <a:latin typeface="Courier New" pitchFamily="34" charset="0"/>
                <a:ea typeface="Courier New" pitchFamily="34" charset="-122"/>
                <a:cs typeface="Courier New" pitchFamily="34" charset="-120"/>
              </a:rPr>
              <a:t>statistical</a:t>
            </a:r>
            <a:endParaRPr lang="en-US" sz="1000" dirty="0"/>
          </a:p>
        </p:txBody>
      </p:sp>
      <p:sp>
        <p:nvSpPr>
          <p:cNvPr id="42" name="Text 39"/>
          <p:cNvSpPr txBox="1"/>
          <p:nvPr/>
        </p:nvSpPr>
        <p:spPr>
          <a:xfrm>
            <a:off x="4526280" y="4709160"/>
            <a:ext cx="3200400" cy="777240"/>
          </a:xfrm>
          <a:prstGeom prst="rect">
            <a:avLst/>
          </a:prstGeom>
          <a:noFill/>
          <a:ln/>
        </p:spPr>
        <p:txBody>
          <a:bodyPr wrap="square" lIns="0" tIns="0" rIns="0" bIns="0" rtlCol="0" anchor="t"/>
          <a:lstStyle/>
          <a:p>
            <a:pPr indent="0" marL="0">
              <a:buNone/>
            </a:pPr>
            <a:r>
              <a:rPr lang="en-US" sz="1300" dirty="0">
                <a:solidFill>
                  <a:srgbClr val="CBD2D9"/>
                </a:solidFill>
                <a:latin typeface="Calibri" pitchFamily="34" charset="0"/>
                <a:ea typeface="Calibri" pitchFamily="34" charset="-122"/>
                <a:cs typeface="Calibri" pitchFamily="34" charset="-120"/>
              </a:rPr>
              <a:t>An Isolation Forest learns your network's normal, then flags volume far beyond it.</a:t>
            </a:r>
            <a:endParaRPr lang="en-US" sz="1300" dirty="0"/>
          </a:p>
        </p:txBody>
      </p:sp>
      <p:sp>
        <p:nvSpPr>
          <p:cNvPr id="43" name="rule"/>
          <p:cNvSpPr/>
          <p:nvPr/>
        </p:nvSpPr>
        <p:spPr>
          <a:xfrm>
            <a:off x="4526280" y="5513832"/>
            <a:ext cx="3154680" cy="0"/>
          </a:xfrm>
          <a:prstGeom prst="line">
            <a:avLst/>
          </a:prstGeom>
          <a:noFill/>
          <a:ln w="12700">
            <a:solidFill>
              <a:srgbClr val="232A31"/>
            </a:solidFill>
            <a:prstDash val="solid"/>
          </a:ln>
        </p:spPr>
      </p:sp>
      <p:sp>
        <p:nvSpPr>
          <p:cNvPr id="44" name="Text 41"/>
          <p:cNvSpPr txBox="1"/>
          <p:nvPr/>
        </p:nvSpPr>
        <p:spPr>
          <a:xfrm>
            <a:off x="4526280" y="5586984"/>
            <a:ext cx="3200400" cy="457200"/>
          </a:xfrm>
          <a:prstGeom prst="rect">
            <a:avLst/>
          </a:prstGeom>
          <a:noFill/>
          <a:ln/>
        </p:spPr>
        <p:txBody>
          <a:bodyPr wrap="square" lIns="0" tIns="0" rIns="0" bIns="0" rtlCol="0" anchor="t"/>
          <a:lstStyle/>
          <a:p>
            <a:pPr indent="0" marL="0">
              <a:buNone/>
            </a:pPr>
            <a:r>
              <a:rPr lang="en-US" sz="1100" dirty="0">
                <a:solidFill>
                  <a:srgbClr val="5B8DB8"/>
                </a:solidFill>
                <a:latin typeface="Courier New" pitchFamily="34" charset="0"/>
                <a:ea typeface="Courier New" pitchFamily="34" charset="-122"/>
                <a:cs typeface="Courier New" pitchFamily="34" charset="-120"/>
              </a:rPr>
              <a:t>bulk upload: bytes_out 263x the baseline</a:t>
            </a:r>
            <a:endParaRPr lang="en-US" sz="1100" dirty="0"/>
          </a:p>
        </p:txBody>
      </p:sp>
      <p:sp>
        <p:nvSpPr>
          <p:cNvPr id="45" name="note"/>
          <p:cNvSpPr/>
          <p:nvPr/>
        </p:nvSpPr>
        <p:spPr>
          <a:xfrm>
            <a:off x="8046720" y="3977640"/>
            <a:ext cx="3611880" cy="2148840"/>
          </a:xfrm>
          <a:prstGeom prst="rect">
            <a:avLst/>
          </a:prstGeom>
          <a:ln w="12700">
            <a:solidFill>
              <a:srgbClr val="2F3943"/>
            </a:solidFill>
            <a:prstDash val="solid"/>
          </a:ln>
        </p:spPr>
      </p:sp>
      <p:sp>
        <p:nvSpPr>
          <p:cNvPr id="46" name="Text 43"/>
          <p:cNvSpPr txBox="1"/>
          <p:nvPr/>
        </p:nvSpPr>
        <p:spPr>
          <a:xfrm>
            <a:off x="8275320" y="4160520"/>
            <a:ext cx="3200400" cy="228600"/>
          </a:xfrm>
          <a:prstGeom prst="rect">
            <a:avLst/>
          </a:prstGeom>
          <a:noFill/>
          <a:ln/>
        </p:spPr>
        <p:txBody>
          <a:bodyPr wrap="square" lIns="0" tIns="0" rIns="0" bIns="0" rtlCol="0" anchor="ctr"/>
          <a:lstStyle/>
          <a:p>
            <a:pPr indent="0" marL="0">
              <a:buNone/>
            </a:pPr>
            <a:r>
              <a:rPr lang="en-US" sz="1000" b="1" spc="300" kern="0" dirty="0">
                <a:solidFill>
                  <a:srgbClr val="B8993B"/>
                </a:solidFill>
                <a:latin typeface="Courier New" pitchFamily="34" charset="0"/>
                <a:ea typeface="Courier New" pitchFamily="34" charset="-122"/>
                <a:cs typeface="Courier New" pitchFamily="34" charset="-120"/>
              </a:rPr>
              <a:t>WHY THE STATISTICAL ONE IS CAPPED</a:t>
            </a:r>
            <a:endParaRPr lang="en-US" sz="1000" dirty="0"/>
          </a:p>
        </p:txBody>
      </p:sp>
      <p:sp>
        <p:nvSpPr>
          <p:cNvPr id="47" name="Text 44"/>
          <p:cNvSpPr txBox="1"/>
          <p:nvPr/>
        </p:nvSpPr>
        <p:spPr>
          <a:xfrm>
            <a:off x="8275320" y="4526280"/>
            <a:ext cx="3200400" cy="1463040"/>
          </a:xfrm>
          <a:prstGeom prst="rect">
            <a:avLst/>
          </a:prstGeom>
          <a:noFill/>
          <a:ln/>
        </p:spPr>
        <p:txBody>
          <a:bodyPr wrap="square" lIns="0" tIns="0" rIns="0" bIns="0" rtlCol="0" anchor="t"/>
          <a:lstStyle/>
          <a:p>
            <a:pPr indent="0" marL="0">
              <a:buNone/>
            </a:pPr>
            <a:r>
              <a:rPr lang="en-US" sz="1300" dirty="0">
                <a:solidFill>
                  <a:srgbClr val="CBD2D9"/>
                </a:solidFill>
                <a:latin typeface="Calibri" pitchFamily="34" charset="0"/>
                <a:ea typeface="Calibri" pitchFamily="34" charset="-122"/>
                <a:cs typeface="Calibri" pitchFamily="34" charset="-120"/>
              </a:rPr>
              <a:t>It only knows "unusual", not "attack". Its alerts are capped at MEDIUM, carry no ATT&amp;CK technique, and are hidden while a named attack is already active on that device.</a:t>
            </a:r>
            <a:endParaRPr lang="en-US" sz="130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A local console that shows what is happening, now</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04  /  THE LIVE CONSOLE</a:t>
            </a:r>
            <a:endParaRPr lang="en-US" sz="1100" dirty="0"/>
          </a:p>
        </p:txBody>
      </p:sp>
      <p:sp>
        <p:nvSpPr>
          <p:cNvPr id="5" name="frame"/>
          <p:cNvSpPr/>
          <p:nvPr/>
        </p:nvSpPr>
        <p:spPr>
          <a:xfrm>
            <a:off x="502920" y="1554480"/>
            <a:ext cx="7680960" cy="4360545"/>
          </a:xfrm>
          <a:prstGeom prst="rect">
            <a:avLst/>
          </a:prstGeom>
          <a:solidFill>
            <a:srgbClr val="12161A"/>
          </a:solidFill>
          <a:ln w="12700">
            <a:solidFill>
              <a:srgbClr val="2F3943"/>
            </a:solidFill>
            <a:prstDash val="solid"/>
          </a:ln>
        </p:spPr>
      </p:sp>
      <p:pic>
        <p:nvPicPr>
          <p:cNvPr id="6" name="Image 0" descr="Live tab of the Raven console">    </p:cNvPr>
          <p:cNvPicPr>
            <a:picLocks noChangeAspect="1"/>
          </p:cNvPicPr>
          <p:nvPr/>
        </p:nvPicPr>
        <p:blipFill>
          <a:blip r:embed="rId1"/>
          <a:stretch>
            <a:fillRect/>
          </a:stretch>
        </p:blipFill>
        <p:spPr>
          <a:xfrm>
            <a:off x="548640" y="1600200"/>
            <a:ext cx="7589520" cy="4269105"/>
          </a:xfrm>
          <a:prstGeom prst="rect">
            <a:avLst/>
          </a:prstGeom>
        </p:spPr>
      </p:pic>
      <p:sp>
        <p:nvSpPr>
          <p:cNvPr id="7" name="marker"/>
          <p:cNvSpPr/>
          <p:nvPr/>
        </p:nvSpPr>
        <p:spPr>
          <a:xfrm>
            <a:off x="2024939" y="1773473"/>
            <a:ext cx="310896" cy="310896"/>
          </a:xfrm>
          <a:prstGeom prst="rect">
            <a:avLst/>
          </a:prstGeom>
          <a:solidFill>
            <a:srgbClr val="C4403F"/>
          </a:solidFill>
          <a:ln w="12700">
            <a:solidFill>
              <a:srgbClr val="0D1013"/>
            </a:solidFill>
            <a:prstDash val="solid"/>
          </a:ln>
        </p:spPr>
      </p:sp>
      <p:sp>
        <p:nvSpPr>
          <p:cNvPr id="8" name="Text 4"/>
          <p:cNvSpPr txBox="1"/>
          <p:nvPr/>
        </p:nvSpPr>
        <p:spPr>
          <a:xfrm>
            <a:off x="2024939" y="1773473"/>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9" name="marker"/>
          <p:cNvSpPr/>
          <p:nvPr/>
        </p:nvSpPr>
        <p:spPr>
          <a:xfrm>
            <a:off x="7792974" y="1773473"/>
            <a:ext cx="310896" cy="310896"/>
          </a:xfrm>
          <a:prstGeom prst="rect">
            <a:avLst/>
          </a:prstGeom>
          <a:solidFill>
            <a:srgbClr val="C4403F"/>
          </a:solidFill>
          <a:ln w="12700">
            <a:solidFill>
              <a:srgbClr val="0D1013"/>
            </a:solidFill>
            <a:prstDash val="solid"/>
          </a:ln>
        </p:spPr>
      </p:sp>
      <p:sp>
        <p:nvSpPr>
          <p:cNvPr id="10" name="Text 6"/>
          <p:cNvSpPr txBox="1"/>
          <p:nvPr/>
        </p:nvSpPr>
        <p:spPr>
          <a:xfrm>
            <a:off x="7792974" y="1773473"/>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11" name="marker"/>
          <p:cNvSpPr/>
          <p:nvPr/>
        </p:nvSpPr>
        <p:spPr>
          <a:xfrm>
            <a:off x="7792974" y="3600650"/>
            <a:ext cx="310896" cy="310896"/>
          </a:xfrm>
          <a:prstGeom prst="rect">
            <a:avLst/>
          </a:prstGeom>
          <a:solidFill>
            <a:srgbClr val="C4403F"/>
          </a:solidFill>
          <a:ln w="12700">
            <a:solidFill>
              <a:srgbClr val="0D1013"/>
            </a:solidFill>
            <a:prstDash val="solid"/>
          </a:ln>
        </p:spPr>
      </p:sp>
      <p:sp>
        <p:nvSpPr>
          <p:cNvPr id="12" name="Text 8"/>
          <p:cNvSpPr txBox="1"/>
          <p:nvPr/>
        </p:nvSpPr>
        <p:spPr>
          <a:xfrm>
            <a:off x="7792974" y="360065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13" name="marker"/>
          <p:cNvSpPr/>
          <p:nvPr/>
        </p:nvSpPr>
        <p:spPr>
          <a:xfrm>
            <a:off x="1911096" y="5052146"/>
            <a:ext cx="310896" cy="310896"/>
          </a:xfrm>
          <a:prstGeom prst="rect">
            <a:avLst/>
          </a:prstGeom>
          <a:solidFill>
            <a:srgbClr val="C4403F"/>
          </a:solidFill>
          <a:ln w="12700">
            <a:solidFill>
              <a:srgbClr val="0D1013"/>
            </a:solidFill>
            <a:prstDash val="solid"/>
          </a:ln>
        </p:spPr>
      </p:sp>
      <p:sp>
        <p:nvSpPr>
          <p:cNvPr id="14" name="Text 10"/>
          <p:cNvSpPr txBox="1"/>
          <p:nvPr/>
        </p:nvSpPr>
        <p:spPr>
          <a:xfrm>
            <a:off x="1911096" y="505214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15" name="marker"/>
          <p:cNvSpPr/>
          <p:nvPr/>
        </p:nvSpPr>
        <p:spPr>
          <a:xfrm>
            <a:off x="8503920" y="1627632"/>
            <a:ext cx="310896" cy="310896"/>
          </a:xfrm>
          <a:prstGeom prst="rect">
            <a:avLst/>
          </a:prstGeom>
          <a:solidFill>
            <a:srgbClr val="C4403F"/>
          </a:solidFill>
          <a:ln/>
        </p:spPr>
      </p:sp>
      <p:sp>
        <p:nvSpPr>
          <p:cNvPr id="16" name="Text 12"/>
          <p:cNvSpPr txBox="1"/>
          <p:nvPr/>
        </p:nvSpPr>
        <p:spPr>
          <a:xfrm>
            <a:off x="8503920" y="16276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17" name="Text 13"/>
          <p:cNvSpPr txBox="1"/>
          <p:nvPr/>
        </p:nvSpPr>
        <p:spPr>
          <a:xfrm>
            <a:off x="8961120" y="1600200"/>
            <a:ext cx="2743200" cy="365760"/>
          </a:xfrm>
          <a:prstGeom prst="rect">
            <a:avLst/>
          </a:prstGeom>
          <a:noFill/>
          <a:ln/>
        </p:spPr>
        <p:txBody>
          <a:bodyPr wrap="square" lIns="0" tIns="0" rIns="0" bIns="0" rtlCol="0" anchor="ctr"/>
          <a:lstStyle/>
          <a:p>
            <a:pPr indent="0" marL="0">
              <a:buNone/>
            </a:pPr>
            <a:r>
              <a:rPr lang="en-US" sz="1600" b="1" dirty="0">
                <a:solidFill>
                  <a:srgbClr val="E6EAEE"/>
                </a:solidFill>
                <a:latin typeface="Calibri" pitchFamily="34" charset="0"/>
                <a:ea typeface="Calibri" pitchFamily="34" charset="-122"/>
                <a:cs typeface="Calibri" pitchFamily="34" charset="-120"/>
              </a:rPr>
              <a:t>Packet monitor</a:t>
            </a:r>
            <a:endParaRPr lang="en-US" sz="1600" dirty="0"/>
          </a:p>
        </p:txBody>
      </p:sp>
      <p:sp>
        <p:nvSpPr>
          <p:cNvPr id="18" name="Text 14"/>
          <p:cNvSpPr txBox="1"/>
          <p:nvPr/>
        </p:nvSpPr>
        <p:spPr>
          <a:xfrm>
            <a:off x="8961120" y="1965960"/>
            <a:ext cx="2743200" cy="685800"/>
          </a:xfrm>
          <a:prstGeom prst="rect">
            <a:avLst/>
          </a:prstGeom>
          <a:noFill/>
          <a:ln/>
        </p:spPr>
        <p:txBody>
          <a:bodyPr wrap="square" lIns="0" tIns="0" rIns="0" bIns="0" rtlCol="0" anchor="t"/>
          <a:lstStyle/>
          <a:p>
            <a:pPr indent="0" marL="0">
              <a:buNone/>
            </a:pPr>
            <a:r>
              <a:rPr lang="en-US" sz="1200" dirty="0">
                <a:solidFill>
                  <a:srgbClr val="7B8794"/>
                </a:solidFill>
                <a:latin typeface="Calibri" pitchFamily="34" charset="0"/>
                <a:ea typeface="Calibri" pitchFamily="34" charset="-122"/>
                <a:cs typeface="Calibri" pitchFamily="34" charset="-120"/>
              </a:rPr>
              <a:t>Every packet event, newest first, with a filter box. A flagged device shows red for a minute.</a:t>
            </a:r>
            <a:endParaRPr lang="en-US" sz="1200" dirty="0"/>
          </a:p>
        </p:txBody>
      </p:sp>
      <p:sp>
        <p:nvSpPr>
          <p:cNvPr id="19" name="marker"/>
          <p:cNvSpPr/>
          <p:nvPr/>
        </p:nvSpPr>
        <p:spPr>
          <a:xfrm>
            <a:off x="8503920" y="2706624"/>
            <a:ext cx="310896" cy="310896"/>
          </a:xfrm>
          <a:prstGeom prst="rect">
            <a:avLst/>
          </a:prstGeom>
          <a:solidFill>
            <a:srgbClr val="C4403F"/>
          </a:solidFill>
          <a:ln/>
        </p:spPr>
      </p:sp>
      <p:sp>
        <p:nvSpPr>
          <p:cNvPr id="20" name="Text 16"/>
          <p:cNvSpPr txBox="1"/>
          <p:nvPr/>
        </p:nvSpPr>
        <p:spPr>
          <a:xfrm>
            <a:off x="8503920" y="27066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21" name="Text 17"/>
          <p:cNvSpPr txBox="1"/>
          <p:nvPr/>
        </p:nvSpPr>
        <p:spPr>
          <a:xfrm>
            <a:off x="8961120" y="2679192"/>
            <a:ext cx="2743200" cy="365760"/>
          </a:xfrm>
          <a:prstGeom prst="rect">
            <a:avLst/>
          </a:prstGeom>
          <a:noFill/>
          <a:ln/>
        </p:spPr>
        <p:txBody>
          <a:bodyPr wrap="square" lIns="0" tIns="0" rIns="0" bIns="0" rtlCol="0" anchor="ctr"/>
          <a:lstStyle/>
          <a:p>
            <a:pPr indent="0" marL="0">
              <a:buNone/>
            </a:pPr>
            <a:r>
              <a:rPr lang="en-US" sz="1600" b="1" dirty="0">
                <a:solidFill>
                  <a:srgbClr val="E6EAEE"/>
                </a:solidFill>
                <a:latin typeface="Calibri" pitchFamily="34" charset="0"/>
                <a:ea typeface="Calibri" pitchFamily="34" charset="-122"/>
                <a:cs typeface="Calibri" pitchFamily="34" charset="-120"/>
              </a:rPr>
              <a:t>Network topology</a:t>
            </a:r>
            <a:endParaRPr lang="en-US" sz="1600" dirty="0"/>
          </a:p>
        </p:txBody>
      </p:sp>
      <p:sp>
        <p:nvSpPr>
          <p:cNvPr id="22" name="Text 18"/>
          <p:cNvSpPr txBox="1"/>
          <p:nvPr/>
        </p:nvSpPr>
        <p:spPr>
          <a:xfrm>
            <a:off x="8961120" y="3044952"/>
            <a:ext cx="2743200" cy="685800"/>
          </a:xfrm>
          <a:prstGeom prst="rect">
            <a:avLst/>
          </a:prstGeom>
          <a:noFill/>
          <a:ln/>
        </p:spPr>
        <p:txBody>
          <a:bodyPr wrap="square" lIns="0" tIns="0" rIns="0" bIns="0" rtlCol="0" anchor="t"/>
          <a:lstStyle/>
          <a:p>
            <a:pPr indent="0" marL="0">
              <a:buNone/>
            </a:pPr>
            <a:r>
              <a:rPr lang="en-US" sz="1200" dirty="0">
                <a:solidFill>
                  <a:srgbClr val="7B8794"/>
                </a:solidFill>
                <a:latin typeface="Calibri" pitchFamily="34" charset="0"/>
                <a:ea typeface="Calibri" pitchFamily="34" charset="-122"/>
                <a:cs typeface="Calibri" pitchFamily="34" charset="-120"/>
              </a:rPr>
              <a:t>This host in the middle, devices around it, service ports as small boxes. A scan lights up the ports.</a:t>
            </a:r>
            <a:endParaRPr lang="en-US" sz="1200" dirty="0"/>
          </a:p>
        </p:txBody>
      </p:sp>
      <p:sp>
        <p:nvSpPr>
          <p:cNvPr id="23" name="marker"/>
          <p:cNvSpPr/>
          <p:nvPr/>
        </p:nvSpPr>
        <p:spPr>
          <a:xfrm>
            <a:off x="8503920" y="3785616"/>
            <a:ext cx="310896" cy="310896"/>
          </a:xfrm>
          <a:prstGeom prst="rect">
            <a:avLst/>
          </a:prstGeom>
          <a:solidFill>
            <a:srgbClr val="C4403F"/>
          </a:solidFill>
          <a:ln/>
        </p:spPr>
      </p:sp>
      <p:sp>
        <p:nvSpPr>
          <p:cNvPr id="24" name="Text 20"/>
          <p:cNvSpPr txBox="1"/>
          <p:nvPr/>
        </p:nvSpPr>
        <p:spPr>
          <a:xfrm>
            <a:off x="8503920" y="37856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25" name="Text 21"/>
          <p:cNvSpPr txBox="1"/>
          <p:nvPr/>
        </p:nvSpPr>
        <p:spPr>
          <a:xfrm>
            <a:off x="8961120" y="3758184"/>
            <a:ext cx="2743200" cy="365760"/>
          </a:xfrm>
          <a:prstGeom prst="rect">
            <a:avLst/>
          </a:prstGeom>
          <a:noFill/>
          <a:ln/>
        </p:spPr>
        <p:txBody>
          <a:bodyPr wrap="square" lIns="0" tIns="0" rIns="0" bIns="0" rtlCol="0" anchor="ctr"/>
          <a:lstStyle/>
          <a:p>
            <a:pPr indent="0" marL="0">
              <a:buNone/>
            </a:pPr>
            <a:r>
              <a:rPr lang="en-US" sz="1600" b="1" dirty="0">
                <a:solidFill>
                  <a:srgbClr val="E6EAEE"/>
                </a:solidFill>
                <a:latin typeface="Calibri" pitchFamily="34" charset="0"/>
                <a:ea typeface="Calibri" pitchFamily="34" charset="-122"/>
                <a:cs typeface="Calibri" pitchFamily="34" charset="-120"/>
              </a:rPr>
              <a:t>Alert stack</a:t>
            </a:r>
            <a:endParaRPr lang="en-US" sz="1600" dirty="0"/>
          </a:p>
        </p:txBody>
      </p:sp>
      <p:sp>
        <p:nvSpPr>
          <p:cNvPr id="26" name="Text 22"/>
          <p:cNvSpPr txBox="1"/>
          <p:nvPr/>
        </p:nvSpPr>
        <p:spPr>
          <a:xfrm>
            <a:off x="8961120" y="4123944"/>
            <a:ext cx="2743200" cy="685800"/>
          </a:xfrm>
          <a:prstGeom prst="rect">
            <a:avLst/>
          </a:prstGeom>
          <a:noFill/>
          <a:ln/>
        </p:spPr>
        <p:txBody>
          <a:bodyPr wrap="square" lIns="0" tIns="0" rIns="0" bIns="0" rtlCol="0" anchor="t"/>
          <a:lstStyle/>
          <a:p>
            <a:pPr indent="0" marL="0">
              <a:buNone/>
            </a:pPr>
            <a:r>
              <a:rPr lang="en-US" sz="1200" dirty="0">
                <a:solidFill>
                  <a:srgbClr val="7B8794"/>
                </a:solidFill>
                <a:latin typeface="Calibri" pitchFamily="34" charset="0"/>
                <a:ea typeface="Calibri" pitchFamily="34" charset="-122"/>
                <a:cs typeface="Calibri" pitchFamily="34" charset="-120"/>
              </a:rPr>
              <a:t>Every CRITICAL stays on screen with its headline and ATT&amp;CK chain.</a:t>
            </a:r>
            <a:endParaRPr lang="en-US" sz="1200" dirty="0"/>
          </a:p>
        </p:txBody>
      </p:sp>
      <p:sp>
        <p:nvSpPr>
          <p:cNvPr id="27" name="marker"/>
          <p:cNvSpPr/>
          <p:nvPr/>
        </p:nvSpPr>
        <p:spPr>
          <a:xfrm>
            <a:off x="8503920" y="4864608"/>
            <a:ext cx="310896" cy="310896"/>
          </a:xfrm>
          <a:prstGeom prst="rect">
            <a:avLst/>
          </a:prstGeom>
          <a:solidFill>
            <a:srgbClr val="C4403F"/>
          </a:solidFill>
          <a:ln/>
        </p:spPr>
      </p:sp>
      <p:sp>
        <p:nvSpPr>
          <p:cNvPr id="28" name="Text 24"/>
          <p:cNvSpPr txBox="1"/>
          <p:nvPr/>
        </p:nvSpPr>
        <p:spPr>
          <a:xfrm>
            <a:off x="8503920" y="48646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29" name="Text 25"/>
          <p:cNvSpPr txBox="1"/>
          <p:nvPr/>
        </p:nvSpPr>
        <p:spPr>
          <a:xfrm>
            <a:off x="8961120" y="4837176"/>
            <a:ext cx="2743200" cy="365760"/>
          </a:xfrm>
          <a:prstGeom prst="rect">
            <a:avLst/>
          </a:prstGeom>
          <a:noFill/>
          <a:ln/>
        </p:spPr>
        <p:txBody>
          <a:bodyPr wrap="square" lIns="0" tIns="0" rIns="0" bIns="0" rtlCol="0" anchor="ctr"/>
          <a:lstStyle/>
          <a:p>
            <a:pPr indent="0" marL="0">
              <a:buNone/>
            </a:pPr>
            <a:r>
              <a:rPr lang="en-US" sz="1600" b="1" dirty="0">
                <a:solidFill>
                  <a:srgbClr val="E6EAEE"/>
                </a:solidFill>
                <a:latin typeface="Calibri" pitchFamily="34" charset="0"/>
                <a:ea typeface="Calibri" pitchFamily="34" charset="-122"/>
                <a:cs typeface="Calibri" pitchFamily="34" charset="-120"/>
              </a:rPr>
              <a:t>Packets per second</a:t>
            </a:r>
            <a:endParaRPr lang="en-US" sz="1600" dirty="0"/>
          </a:p>
        </p:txBody>
      </p:sp>
      <p:sp>
        <p:nvSpPr>
          <p:cNvPr id="30" name="Text 26"/>
          <p:cNvSpPr txBox="1"/>
          <p:nvPr/>
        </p:nvSpPr>
        <p:spPr>
          <a:xfrm>
            <a:off x="8961120" y="5202936"/>
            <a:ext cx="2743200" cy="685800"/>
          </a:xfrm>
          <a:prstGeom prst="rect">
            <a:avLst/>
          </a:prstGeom>
          <a:noFill/>
          <a:ln/>
        </p:spPr>
        <p:txBody>
          <a:bodyPr wrap="square" lIns="0" tIns="0" rIns="0" bIns="0" rtlCol="0" anchor="t"/>
          <a:lstStyle/>
          <a:p>
            <a:pPr indent="0" marL="0">
              <a:buNone/>
            </a:pPr>
            <a:r>
              <a:rPr lang="en-US" sz="1200" dirty="0">
                <a:solidFill>
                  <a:srgbClr val="7B8794"/>
                </a:solidFill>
                <a:latin typeface="Calibri" pitchFamily="34" charset="0"/>
                <a:ea typeface="Calibri" pitchFamily="34" charset="-122"/>
                <a:cs typeface="Calibri" pitchFamily="34" charset="-120"/>
              </a:rPr>
              <a:t>The last 60 seconds, so a burst stands out.</a:t>
            </a:r>
            <a:endParaRPr lang="en-US" sz="1200" dirty="0"/>
          </a:p>
        </p:txBody>
      </p:sp>
      <p:sp>
        <p:nvSpPr>
          <p:cNvPr id="31" name="Text 27"/>
          <p:cNvSpPr txBox="1"/>
          <p:nvPr/>
        </p:nvSpPr>
        <p:spPr>
          <a:xfrm>
            <a:off x="548640" y="5989320"/>
            <a:ext cx="10972800" cy="274320"/>
          </a:xfrm>
          <a:prstGeom prst="rect">
            <a:avLst/>
          </a:prstGeom>
          <a:noFill/>
          <a:ln/>
        </p:spPr>
        <p:txBody>
          <a:bodyPr wrap="square" lIns="0" tIns="0" rIns="0" bIns="0" rtlCol="0" anchor="ctr"/>
          <a:lstStyle/>
          <a:p>
            <a:pPr indent="0" marL="0">
              <a:buNone/>
            </a:pPr>
            <a:r>
              <a:rPr lang="en-US" sz="1100" dirty="0">
                <a:solidFill>
                  <a:srgbClr val="4D5762"/>
                </a:solidFill>
                <a:latin typeface="Courier New" pitchFamily="34" charset="0"/>
                <a:ea typeface="Courier New" pitchFamily="34" charset="-122"/>
                <a:cs typeface="Courier New" pitchFamily="34" charset="-120"/>
              </a:rPr>
              <a:t>Listens on 127.0.0.1 only. Token needed once. Strict content-security policy.</a:t>
            </a:r>
            <a:endParaRPr lang="en-US" sz="110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A permanent history you can search, export and clean up</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05  /  THE HISTORY</a:t>
            </a:r>
            <a:endParaRPr lang="en-US" sz="1100" dirty="0"/>
          </a:p>
        </p:txBody>
      </p:sp>
      <p:sp>
        <p:nvSpPr>
          <p:cNvPr id="5" name="frame"/>
          <p:cNvSpPr/>
          <p:nvPr/>
        </p:nvSpPr>
        <p:spPr>
          <a:xfrm>
            <a:off x="502920" y="1554480"/>
            <a:ext cx="8092440" cy="4592003"/>
          </a:xfrm>
          <a:prstGeom prst="rect">
            <a:avLst/>
          </a:prstGeom>
          <a:solidFill>
            <a:srgbClr val="12161A"/>
          </a:solidFill>
          <a:ln w="12700">
            <a:solidFill>
              <a:srgbClr val="2F3943"/>
            </a:solidFill>
            <a:prstDash val="solid"/>
          </a:ln>
        </p:spPr>
      </p:sp>
      <p:pic>
        <p:nvPicPr>
          <p:cNvPr id="6" name="Image 0" descr="History tab with four CRITICAL detections and the detail pane open on a beaconing alert">    </p:cNvPr>
          <p:cNvPicPr>
            <a:picLocks noChangeAspect="1"/>
          </p:cNvPicPr>
          <p:nvPr/>
        </p:nvPicPr>
        <p:blipFill>
          <a:blip r:embed="rId1"/>
          <a:stretch>
            <a:fillRect/>
          </a:stretch>
        </p:blipFill>
        <p:spPr>
          <a:xfrm>
            <a:off x="548640" y="1600200"/>
            <a:ext cx="8001000" cy="4500563"/>
          </a:xfrm>
          <a:prstGeom prst="rect">
            <a:avLst/>
          </a:prstGeom>
        </p:spPr>
      </p:pic>
      <p:sp>
        <p:nvSpPr>
          <p:cNvPr id="7" name="rule"/>
          <p:cNvSpPr/>
          <p:nvPr/>
        </p:nvSpPr>
        <p:spPr>
          <a:xfrm>
            <a:off x="8823960" y="1554480"/>
            <a:ext cx="0" cy="731520"/>
          </a:xfrm>
          <a:prstGeom prst="line">
            <a:avLst/>
          </a:prstGeom>
          <a:noFill/>
          <a:ln w="25400">
            <a:solidFill>
              <a:srgbClr val="C4403F"/>
            </a:solidFill>
            <a:prstDash val="solid"/>
          </a:ln>
        </p:spPr>
      </p:sp>
      <p:sp>
        <p:nvSpPr>
          <p:cNvPr id="8" name="Text 4"/>
          <p:cNvSpPr txBox="1"/>
          <p:nvPr/>
        </p:nvSpPr>
        <p:spPr>
          <a:xfrm>
            <a:off x="9052560" y="1554480"/>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Survives restarts</a:t>
            </a:r>
            <a:endParaRPr lang="en-US" sz="1500" dirty="0"/>
          </a:p>
        </p:txBody>
      </p:sp>
      <p:sp>
        <p:nvSpPr>
          <p:cNvPr id="9" name="Text 5"/>
          <p:cNvSpPr txBox="1"/>
          <p:nvPr/>
        </p:nvSpPr>
        <p:spPr>
          <a:xfrm>
            <a:off x="9052560" y="1874520"/>
            <a:ext cx="2651760" cy="45720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SQLite in ~/.raven. The same history from any folder.</a:t>
            </a:r>
            <a:endParaRPr lang="en-US" sz="1150" dirty="0"/>
          </a:p>
        </p:txBody>
      </p:sp>
      <p:sp>
        <p:nvSpPr>
          <p:cNvPr id="10" name="rule"/>
          <p:cNvSpPr/>
          <p:nvPr/>
        </p:nvSpPr>
        <p:spPr>
          <a:xfrm>
            <a:off x="8823960" y="2450592"/>
            <a:ext cx="0" cy="731520"/>
          </a:xfrm>
          <a:prstGeom prst="line">
            <a:avLst/>
          </a:prstGeom>
          <a:noFill/>
          <a:ln w="25400">
            <a:solidFill>
              <a:srgbClr val="C4403F"/>
            </a:solidFill>
            <a:prstDash val="solid"/>
          </a:ln>
        </p:spPr>
      </p:sp>
      <p:sp>
        <p:nvSpPr>
          <p:cNvPr id="11" name="Text 7"/>
          <p:cNvSpPr txBox="1"/>
          <p:nvPr/>
        </p:nvSpPr>
        <p:spPr>
          <a:xfrm>
            <a:off x="9052560" y="2450592"/>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Find anything</a:t>
            </a:r>
            <a:endParaRPr lang="en-US" sz="1500" dirty="0"/>
          </a:p>
        </p:txBody>
      </p:sp>
      <p:sp>
        <p:nvSpPr>
          <p:cNvPr id="12" name="Text 8"/>
          <p:cNvSpPr txBox="1"/>
          <p:nvPr/>
        </p:nvSpPr>
        <p:spPr>
          <a:xfrm>
            <a:off x="9052560" y="2770632"/>
            <a:ext cx="2651760" cy="45720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Filter by severity, time, source. Search headline, IP, technique or incident.</a:t>
            </a:r>
            <a:endParaRPr lang="en-US" sz="1150" dirty="0"/>
          </a:p>
        </p:txBody>
      </p:sp>
      <p:sp>
        <p:nvSpPr>
          <p:cNvPr id="13" name="rule"/>
          <p:cNvSpPr/>
          <p:nvPr/>
        </p:nvSpPr>
        <p:spPr>
          <a:xfrm>
            <a:off x="8823960" y="3346704"/>
            <a:ext cx="0" cy="731520"/>
          </a:xfrm>
          <a:prstGeom prst="line">
            <a:avLst/>
          </a:prstGeom>
          <a:noFill/>
          <a:ln w="25400">
            <a:solidFill>
              <a:srgbClr val="C4403F"/>
            </a:solidFill>
            <a:prstDash val="solid"/>
          </a:ln>
        </p:spPr>
      </p:sp>
      <p:sp>
        <p:nvSpPr>
          <p:cNvPr id="14" name="Text 10"/>
          <p:cNvSpPr txBox="1"/>
          <p:nvPr/>
        </p:nvSpPr>
        <p:spPr>
          <a:xfrm>
            <a:off x="9052560" y="3346704"/>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See why</a:t>
            </a:r>
            <a:endParaRPr lang="en-US" sz="1500" dirty="0"/>
          </a:p>
        </p:txBody>
      </p:sp>
      <p:sp>
        <p:nvSpPr>
          <p:cNvPr id="15" name="Text 11"/>
          <p:cNvSpPr txBox="1"/>
          <p:nvPr/>
        </p:nvSpPr>
        <p:spPr>
          <a:xfrm>
            <a:off x="9052560" y="3666744"/>
            <a:ext cx="2651760" cy="45720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Plain-English explanation plus the numbers that triggered it.</a:t>
            </a:r>
            <a:endParaRPr lang="en-US" sz="1150" dirty="0"/>
          </a:p>
        </p:txBody>
      </p:sp>
      <p:sp>
        <p:nvSpPr>
          <p:cNvPr id="16" name="rule"/>
          <p:cNvSpPr/>
          <p:nvPr/>
        </p:nvSpPr>
        <p:spPr>
          <a:xfrm>
            <a:off x="8823960" y="4242816"/>
            <a:ext cx="0" cy="731520"/>
          </a:xfrm>
          <a:prstGeom prst="line">
            <a:avLst/>
          </a:prstGeom>
          <a:noFill/>
          <a:ln w="25400">
            <a:solidFill>
              <a:srgbClr val="C4403F"/>
            </a:solidFill>
            <a:prstDash val="solid"/>
          </a:ln>
        </p:spPr>
      </p:sp>
      <p:sp>
        <p:nvSpPr>
          <p:cNvPr id="17" name="Text 13"/>
          <p:cNvSpPr txBox="1"/>
          <p:nvPr/>
        </p:nvSpPr>
        <p:spPr>
          <a:xfrm>
            <a:off x="9052560" y="4242816"/>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Take it with you</a:t>
            </a:r>
            <a:endParaRPr lang="en-US" sz="1500" dirty="0"/>
          </a:p>
        </p:txBody>
      </p:sp>
      <p:sp>
        <p:nvSpPr>
          <p:cNvPr id="18" name="Text 14"/>
          <p:cNvSpPr txBox="1"/>
          <p:nvPr/>
        </p:nvSpPr>
        <p:spPr>
          <a:xfrm>
            <a:off x="9052560" y="4562856"/>
            <a:ext cx="2651760" cy="45720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CSV export, or raven history --json for scripts.</a:t>
            </a:r>
            <a:endParaRPr lang="en-US" sz="1150" dirty="0"/>
          </a:p>
        </p:txBody>
      </p:sp>
      <p:sp>
        <p:nvSpPr>
          <p:cNvPr id="19" name="rule"/>
          <p:cNvSpPr/>
          <p:nvPr/>
        </p:nvSpPr>
        <p:spPr>
          <a:xfrm>
            <a:off x="8823960" y="5138928"/>
            <a:ext cx="0" cy="731520"/>
          </a:xfrm>
          <a:prstGeom prst="line">
            <a:avLst/>
          </a:prstGeom>
          <a:noFill/>
          <a:ln w="25400">
            <a:solidFill>
              <a:srgbClr val="C4403F"/>
            </a:solidFill>
            <a:prstDash val="solid"/>
          </a:ln>
        </p:spPr>
      </p:sp>
      <p:sp>
        <p:nvSpPr>
          <p:cNvPr id="20" name="Text 16"/>
          <p:cNvSpPr txBox="1"/>
          <p:nvPr/>
        </p:nvSpPr>
        <p:spPr>
          <a:xfrm>
            <a:off x="9052560" y="5138928"/>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Stay in control</a:t>
            </a:r>
            <a:endParaRPr lang="en-US" sz="1500" dirty="0"/>
          </a:p>
        </p:txBody>
      </p:sp>
      <p:sp>
        <p:nvSpPr>
          <p:cNvPr id="21" name="Text 17"/>
          <p:cNvSpPr txBox="1"/>
          <p:nvPr/>
        </p:nvSpPr>
        <p:spPr>
          <a:xfrm>
            <a:off x="9052560" y="5458968"/>
            <a:ext cx="2651760" cy="45720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Delete chosen entries; every deletion is audited.</a:t>
            </a:r>
            <a:endParaRPr lang="en-US" sz="115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Know what was sent, and what failed</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06  /  NOTIFICATIONS</a:t>
            </a:r>
            <a:endParaRPr lang="en-US" sz="1100" dirty="0"/>
          </a:p>
        </p:txBody>
      </p:sp>
      <p:sp>
        <p:nvSpPr>
          <p:cNvPr id="5" name="frame"/>
          <p:cNvSpPr/>
          <p:nvPr/>
        </p:nvSpPr>
        <p:spPr>
          <a:xfrm>
            <a:off x="502920" y="1554480"/>
            <a:ext cx="8092440" cy="4592003"/>
          </a:xfrm>
          <a:prstGeom prst="rect">
            <a:avLst/>
          </a:prstGeom>
          <a:solidFill>
            <a:srgbClr val="12161A"/>
          </a:solidFill>
          <a:ln w="12700">
            <a:solidFill>
              <a:srgbClr val="2F3943"/>
            </a:solidFill>
            <a:prstDash val="solid"/>
          </a:ln>
        </p:spPr>
      </p:sp>
      <p:pic>
        <p:nvPicPr>
          <p:cNvPr id="6" name="Image 0" descr="Notifications tab: three channel cards with counts, the armed banner and a delivery log with one failed row">    </p:cNvPr>
          <p:cNvPicPr>
            <a:picLocks noChangeAspect="1"/>
          </p:cNvPicPr>
          <p:nvPr/>
        </p:nvPicPr>
        <p:blipFill>
          <a:blip r:embed="rId1"/>
          <a:stretch>
            <a:fillRect/>
          </a:stretch>
        </p:blipFill>
        <p:spPr>
          <a:xfrm>
            <a:off x="548640" y="1600200"/>
            <a:ext cx="8001000" cy="4500563"/>
          </a:xfrm>
          <a:prstGeom prst="rect">
            <a:avLst/>
          </a:prstGeom>
        </p:spPr>
      </p:pic>
      <p:sp>
        <p:nvSpPr>
          <p:cNvPr id="7" name="rule"/>
          <p:cNvSpPr/>
          <p:nvPr/>
        </p:nvSpPr>
        <p:spPr>
          <a:xfrm>
            <a:off x="8823960" y="1554480"/>
            <a:ext cx="0" cy="731520"/>
          </a:xfrm>
          <a:prstGeom prst="line">
            <a:avLst/>
          </a:prstGeom>
          <a:noFill/>
          <a:ln w="25400">
            <a:solidFill>
              <a:srgbClr val="C4403F"/>
            </a:solidFill>
            <a:prstDash val="solid"/>
          </a:ln>
        </p:spPr>
      </p:sp>
      <p:sp>
        <p:nvSpPr>
          <p:cNvPr id="8" name="Text 4"/>
          <p:cNvSpPr txBox="1"/>
          <p:nvPr/>
        </p:nvSpPr>
        <p:spPr>
          <a:xfrm>
            <a:off x="9052560" y="1554480"/>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Channel status</a:t>
            </a:r>
            <a:endParaRPr lang="en-US" sz="1500" dirty="0"/>
          </a:p>
        </p:txBody>
      </p:sp>
      <p:sp>
        <p:nvSpPr>
          <p:cNvPr id="9" name="Text 5"/>
          <p:cNvSpPr txBox="1"/>
          <p:nvPr/>
        </p:nvSpPr>
        <p:spPr>
          <a:xfrm>
            <a:off x="9052560" y="1874520"/>
            <a:ext cx="2651760" cy="50292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Ready, no credentials or not in config, with 24 h counts.</a:t>
            </a:r>
            <a:endParaRPr lang="en-US" sz="1150" dirty="0"/>
          </a:p>
        </p:txBody>
      </p:sp>
      <p:sp>
        <p:nvSpPr>
          <p:cNvPr id="10" name="rule"/>
          <p:cNvSpPr/>
          <p:nvPr/>
        </p:nvSpPr>
        <p:spPr>
          <a:xfrm>
            <a:off x="8823960" y="2450592"/>
            <a:ext cx="0" cy="731520"/>
          </a:xfrm>
          <a:prstGeom prst="line">
            <a:avLst/>
          </a:prstGeom>
          <a:noFill/>
          <a:ln w="25400">
            <a:solidFill>
              <a:srgbClr val="C4403F"/>
            </a:solidFill>
            <a:prstDash val="solid"/>
          </a:ln>
        </p:spPr>
      </p:sp>
      <p:sp>
        <p:nvSpPr>
          <p:cNvPr id="11" name="Text 7"/>
          <p:cNvSpPr txBox="1"/>
          <p:nvPr/>
        </p:nvSpPr>
        <p:spPr>
          <a:xfrm>
            <a:off x="9052560" y="2450592"/>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Armed or not</a:t>
            </a:r>
            <a:endParaRPr lang="en-US" sz="1500" dirty="0"/>
          </a:p>
        </p:txBody>
      </p:sp>
      <p:sp>
        <p:nvSpPr>
          <p:cNvPr id="12" name="Text 8"/>
          <p:cNvSpPr txBox="1"/>
          <p:nvPr/>
        </p:nvSpPr>
        <p:spPr>
          <a:xfrm>
            <a:off x="9052560" y="2770632"/>
            <a:ext cx="2651760" cy="50292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A banner says whether this run will actually send alerts.</a:t>
            </a:r>
            <a:endParaRPr lang="en-US" sz="1150" dirty="0"/>
          </a:p>
        </p:txBody>
      </p:sp>
      <p:sp>
        <p:nvSpPr>
          <p:cNvPr id="13" name="rule"/>
          <p:cNvSpPr/>
          <p:nvPr/>
        </p:nvSpPr>
        <p:spPr>
          <a:xfrm>
            <a:off x="8823960" y="3346704"/>
            <a:ext cx="0" cy="731520"/>
          </a:xfrm>
          <a:prstGeom prst="line">
            <a:avLst/>
          </a:prstGeom>
          <a:noFill/>
          <a:ln w="25400">
            <a:solidFill>
              <a:srgbClr val="C4403F"/>
            </a:solidFill>
            <a:prstDash val="solid"/>
          </a:ln>
        </p:spPr>
      </p:sp>
      <p:sp>
        <p:nvSpPr>
          <p:cNvPr id="14" name="Text 10"/>
          <p:cNvSpPr txBox="1"/>
          <p:nvPr/>
        </p:nvSpPr>
        <p:spPr>
          <a:xfrm>
            <a:off x="9052560" y="3346704"/>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A log of every send</a:t>
            </a:r>
            <a:endParaRPr lang="en-US" sz="1500" dirty="0"/>
          </a:p>
        </p:txBody>
      </p:sp>
      <p:sp>
        <p:nvSpPr>
          <p:cNvPr id="15" name="Text 11"/>
          <p:cNvSpPr txBox="1"/>
          <p:nvPr/>
        </p:nvSpPr>
        <p:spPr>
          <a:xfrm>
            <a:off x="9052560" y="3666744"/>
            <a:ext cx="2651760" cy="50292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Headline, severity and, for failures, the reason.</a:t>
            </a:r>
            <a:endParaRPr lang="en-US" sz="1150" dirty="0"/>
          </a:p>
        </p:txBody>
      </p:sp>
      <p:sp>
        <p:nvSpPr>
          <p:cNvPr id="16" name="rule"/>
          <p:cNvSpPr/>
          <p:nvPr/>
        </p:nvSpPr>
        <p:spPr>
          <a:xfrm>
            <a:off x="8823960" y="4242816"/>
            <a:ext cx="0" cy="731520"/>
          </a:xfrm>
          <a:prstGeom prst="line">
            <a:avLst/>
          </a:prstGeom>
          <a:noFill/>
          <a:ln w="25400">
            <a:solidFill>
              <a:srgbClr val="C4403F"/>
            </a:solidFill>
            <a:prstDash val="solid"/>
          </a:ln>
        </p:spPr>
      </p:sp>
      <p:sp>
        <p:nvSpPr>
          <p:cNvPr id="17" name="Text 13"/>
          <p:cNvSpPr txBox="1"/>
          <p:nvPr/>
        </p:nvSpPr>
        <p:spPr>
          <a:xfrm>
            <a:off x="9052560" y="4242816"/>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Prove delivery</a:t>
            </a:r>
            <a:endParaRPr lang="en-US" sz="1500" dirty="0"/>
          </a:p>
        </p:txBody>
      </p:sp>
      <p:sp>
        <p:nvSpPr>
          <p:cNvPr id="18" name="Text 14"/>
          <p:cNvSpPr txBox="1"/>
          <p:nvPr/>
        </p:nvSpPr>
        <p:spPr>
          <a:xfrm>
            <a:off x="9052560" y="4562856"/>
            <a:ext cx="2651760" cy="50292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SEND TEST sends one marked message, after a second click.</a:t>
            </a:r>
            <a:endParaRPr lang="en-US" sz="1150" dirty="0"/>
          </a:p>
        </p:txBody>
      </p:sp>
      <p:sp>
        <p:nvSpPr>
          <p:cNvPr id="19" name="rule"/>
          <p:cNvSpPr/>
          <p:nvPr/>
        </p:nvSpPr>
        <p:spPr>
          <a:xfrm>
            <a:off x="8823960" y="5138928"/>
            <a:ext cx="0" cy="731520"/>
          </a:xfrm>
          <a:prstGeom prst="line">
            <a:avLst/>
          </a:prstGeom>
          <a:noFill/>
          <a:ln w="25400">
            <a:solidFill>
              <a:srgbClr val="C4403F"/>
            </a:solidFill>
            <a:prstDash val="solid"/>
          </a:ln>
        </p:spPr>
      </p:sp>
      <p:sp>
        <p:nvSpPr>
          <p:cNvPr id="20" name="Text 16"/>
          <p:cNvSpPr txBox="1"/>
          <p:nvPr/>
        </p:nvSpPr>
        <p:spPr>
          <a:xfrm>
            <a:off x="9052560" y="5138928"/>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Nothing sensitive</a:t>
            </a:r>
            <a:endParaRPr lang="en-US" sz="1500" dirty="0"/>
          </a:p>
        </p:txBody>
      </p:sp>
      <p:sp>
        <p:nvSpPr>
          <p:cNvPr id="21" name="Text 17"/>
          <p:cNvSpPr txBox="1"/>
          <p:nvPr/>
        </p:nvSpPr>
        <p:spPr>
          <a:xfrm>
            <a:off x="9052560" y="5458968"/>
            <a:ext cx="2651760" cy="50292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Reasons never contain URLs or tokens.</a:t>
            </a:r>
            <a:endParaRPr lang="en-US" sz="115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Every device, with its alert record</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07  /  DEVICES</a:t>
            </a:r>
            <a:endParaRPr lang="en-US" sz="1100" dirty="0"/>
          </a:p>
        </p:txBody>
      </p:sp>
      <p:sp>
        <p:nvSpPr>
          <p:cNvPr id="5" name="frame"/>
          <p:cNvSpPr/>
          <p:nvPr/>
        </p:nvSpPr>
        <p:spPr>
          <a:xfrm>
            <a:off x="502920" y="1554480"/>
            <a:ext cx="8092440" cy="4592003"/>
          </a:xfrm>
          <a:prstGeom prst="rect">
            <a:avLst/>
          </a:prstGeom>
          <a:solidFill>
            <a:srgbClr val="12161A"/>
          </a:solidFill>
          <a:ln w="12700">
            <a:solidFill>
              <a:srgbClr val="2F3943"/>
            </a:solidFill>
            <a:prstDash val="solid"/>
          </a:ln>
        </p:spPr>
      </p:sp>
      <p:pic>
        <p:nvPicPr>
          <p:cNvPr id="6" name="Image 0" descr="Devices tab: eight devices, one named Lab laptop with four CRITICAL alerts and its detail pane">    </p:cNvPr>
          <p:cNvPicPr>
            <a:picLocks noChangeAspect="1"/>
          </p:cNvPicPr>
          <p:nvPr/>
        </p:nvPicPr>
        <p:blipFill>
          <a:blip r:embed="rId1"/>
          <a:stretch>
            <a:fillRect/>
          </a:stretch>
        </p:blipFill>
        <p:spPr>
          <a:xfrm>
            <a:off x="548640" y="1600200"/>
            <a:ext cx="8001000" cy="4500563"/>
          </a:xfrm>
          <a:prstGeom prst="rect">
            <a:avLst/>
          </a:prstGeom>
        </p:spPr>
      </p:pic>
      <p:sp>
        <p:nvSpPr>
          <p:cNvPr id="7" name="rule"/>
          <p:cNvSpPr/>
          <p:nvPr/>
        </p:nvSpPr>
        <p:spPr>
          <a:xfrm>
            <a:off x="8823960" y="1554480"/>
            <a:ext cx="0" cy="731520"/>
          </a:xfrm>
          <a:prstGeom prst="line">
            <a:avLst/>
          </a:prstGeom>
          <a:noFill/>
          <a:ln w="25400">
            <a:solidFill>
              <a:srgbClr val="C4403F"/>
            </a:solidFill>
            <a:prstDash val="solid"/>
          </a:ln>
        </p:spPr>
      </p:sp>
      <p:sp>
        <p:nvSpPr>
          <p:cNvPr id="8" name="Text 4"/>
          <p:cNvSpPr txBox="1"/>
          <p:nvPr/>
        </p:nvSpPr>
        <p:spPr>
          <a:xfrm>
            <a:off x="9052560" y="1554480"/>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What the capture has seen</a:t>
            </a:r>
            <a:endParaRPr lang="en-US" sz="1500" dirty="0"/>
          </a:p>
        </p:txBody>
      </p:sp>
      <p:sp>
        <p:nvSpPr>
          <p:cNvPr id="9" name="Text 5"/>
          <p:cNvSpPr txBox="1"/>
          <p:nvPr/>
        </p:nvSpPr>
        <p:spPr>
          <a:xfrm>
            <a:off x="9052560" y="1874520"/>
            <a:ext cx="2651760" cy="50292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By MAC: addresses, last seen, packets, bytes in and out.</a:t>
            </a:r>
            <a:endParaRPr lang="en-US" sz="1150" dirty="0"/>
          </a:p>
        </p:txBody>
      </p:sp>
      <p:sp>
        <p:nvSpPr>
          <p:cNvPr id="10" name="rule"/>
          <p:cNvSpPr/>
          <p:nvPr/>
        </p:nvSpPr>
        <p:spPr>
          <a:xfrm>
            <a:off x="8823960" y="2450592"/>
            <a:ext cx="0" cy="731520"/>
          </a:xfrm>
          <a:prstGeom prst="line">
            <a:avLst/>
          </a:prstGeom>
          <a:noFill/>
          <a:ln w="25400">
            <a:solidFill>
              <a:srgbClr val="C4403F"/>
            </a:solidFill>
            <a:prstDash val="solid"/>
          </a:ln>
        </p:spPr>
      </p:sp>
      <p:sp>
        <p:nvSpPr>
          <p:cNvPr id="11" name="Text 7"/>
          <p:cNvSpPr txBox="1"/>
          <p:nvPr/>
        </p:nvSpPr>
        <p:spPr>
          <a:xfrm>
            <a:off x="9052560" y="2450592"/>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Survives restarts</a:t>
            </a:r>
            <a:endParaRPr lang="en-US" sz="1500" dirty="0"/>
          </a:p>
        </p:txBody>
      </p:sp>
      <p:sp>
        <p:nvSpPr>
          <p:cNvPr id="12" name="Text 8"/>
          <p:cNvSpPr txBox="1"/>
          <p:nvPr/>
        </p:nvSpPr>
        <p:spPr>
          <a:xfrm>
            <a:off x="9052560" y="2770632"/>
            <a:ext cx="2651760" cy="50292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Stored in the database, not just in memory.</a:t>
            </a:r>
            <a:endParaRPr lang="en-US" sz="1150" dirty="0"/>
          </a:p>
        </p:txBody>
      </p:sp>
      <p:sp>
        <p:nvSpPr>
          <p:cNvPr id="13" name="rule"/>
          <p:cNvSpPr/>
          <p:nvPr/>
        </p:nvSpPr>
        <p:spPr>
          <a:xfrm>
            <a:off x="8823960" y="3346704"/>
            <a:ext cx="0" cy="731520"/>
          </a:xfrm>
          <a:prstGeom prst="line">
            <a:avLst/>
          </a:prstGeom>
          <a:noFill/>
          <a:ln w="25400">
            <a:solidFill>
              <a:srgbClr val="C4403F"/>
            </a:solidFill>
            <a:prstDash val="solid"/>
          </a:ln>
        </p:spPr>
      </p:sp>
      <p:sp>
        <p:nvSpPr>
          <p:cNvPr id="14" name="Text 10"/>
          <p:cNvSpPr txBox="1"/>
          <p:nvPr/>
        </p:nvSpPr>
        <p:spPr>
          <a:xfrm>
            <a:off x="9052560" y="3346704"/>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Alerts per device</a:t>
            </a:r>
            <a:endParaRPr lang="en-US" sz="1500" dirty="0"/>
          </a:p>
        </p:txBody>
      </p:sp>
      <p:sp>
        <p:nvSpPr>
          <p:cNvPr id="15" name="Text 11"/>
          <p:cNvSpPr txBox="1"/>
          <p:nvPr/>
        </p:nvSpPr>
        <p:spPr>
          <a:xfrm>
            <a:off x="9052560" y="3666744"/>
            <a:ext cx="2651760" cy="50292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Worst severity and recent alerts; click to open in History.</a:t>
            </a:r>
            <a:endParaRPr lang="en-US" sz="1150" dirty="0"/>
          </a:p>
        </p:txBody>
      </p:sp>
      <p:sp>
        <p:nvSpPr>
          <p:cNvPr id="16" name="rule"/>
          <p:cNvSpPr/>
          <p:nvPr/>
        </p:nvSpPr>
        <p:spPr>
          <a:xfrm>
            <a:off x="8823960" y="4242816"/>
            <a:ext cx="0" cy="731520"/>
          </a:xfrm>
          <a:prstGeom prst="line">
            <a:avLst/>
          </a:prstGeom>
          <a:noFill/>
          <a:ln w="25400">
            <a:solidFill>
              <a:srgbClr val="C4403F"/>
            </a:solidFill>
            <a:prstDash val="solid"/>
          </a:ln>
        </p:spPr>
      </p:sp>
      <p:sp>
        <p:nvSpPr>
          <p:cNvPr id="17" name="Text 13"/>
          <p:cNvSpPr txBox="1"/>
          <p:nvPr/>
        </p:nvSpPr>
        <p:spPr>
          <a:xfrm>
            <a:off x="9052560" y="4242816"/>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Name it</a:t>
            </a:r>
            <a:endParaRPr lang="en-US" sz="1500" dirty="0"/>
          </a:p>
        </p:txBody>
      </p:sp>
      <p:sp>
        <p:nvSpPr>
          <p:cNvPr id="18" name="Text 14"/>
          <p:cNvSpPr txBox="1"/>
          <p:nvPr/>
        </p:nvSpPr>
        <p:spPr>
          <a:xfrm>
            <a:off x="9052560" y="4562856"/>
            <a:ext cx="2651760" cy="50292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Your label, saved and audited, never from network data.</a:t>
            </a:r>
            <a:endParaRPr lang="en-US" sz="1150" dirty="0"/>
          </a:p>
        </p:txBody>
      </p:sp>
      <p:sp>
        <p:nvSpPr>
          <p:cNvPr id="19" name="rule"/>
          <p:cNvSpPr/>
          <p:nvPr/>
        </p:nvSpPr>
        <p:spPr>
          <a:xfrm>
            <a:off x="8823960" y="5138928"/>
            <a:ext cx="0" cy="731520"/>
          </a:xfrm>
          <a:prstGeom prst="line">
            <a:avLst/>
          </a:prstGeom>
          <a:noFill/>
          <a:ln w="25400">
            <a:solidFill>
              <a:srgbClr val="C4403F"/>
            </a:solidFill>
            <a:prstDash val="solid"/>
          </a:ln>
        </p:spPr>
      </p:sp>
      <p:sp>
        <p:nvSpPr>
          <p:cNvPr id="20" name="Text 16"/>
          <p:cNvSpPr txBox="1"/>
          <p:nvPr/>
        </p:nvSpPr>
        <p:spPr>
          <a:xfrm>
            <a:off x="9052560" y="5138928"/>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No noise</a:t>
            </a:r>
            <a:endParaRPr lang="en-US" sz="1500" dirty="0"/>
          </a:p>
        </p:txBody>
      </p:sp>
      <p:sp>
        <p:nvSpPr>
          <p:cNvPr id="21" name="Text 17"/>
          <p:cNvSpPr txBox="1"/>
          <p:nvPr/>
        </p:nvSpPr>
        <p:spPr>
          <a:xfrm>
            <a:off x="9052560" y="5458968"/>
            <a:ext cx="2651760" cy="50292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Broadcast and multicast addresses are left out.</a:t>
            </a:r>
            <a:endParaRPr lang="en-US" sz="115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Is it healthy? One page answers</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08  /  HEALTH</a:t>
            </a:r>
            <a:endParaRPr lang="en-US" sz="1100" dirty="0"/>
          </a:p>
        </p:txBody>
      </p:sp>
      <p:sp>
        <p:nvSpPr>
          <p:cNvPr id="5" name="frame"/>
          <p:cNvSpPr/>
          <p:nvPr/>
        </p:nvSpPr>
        <p:spPr>
          <a:xfrm>
            <a:off x="502920" y="1554480"/>
            <a:ext cx="8092440" cy="4592003"/>
          </a:xfrm>
          <a:prstGeom prst="rect">
            <a:avLst/>
          </a:prstGeom>
          <a:solidFill>
            <a:srgbClr val="12161A"/>
          </a:solidFill>
          <a:ln w="12700">
            <a:solidFill>
              <a:srgbClr val="2F3943"/>
            </a:solidFill>
            <a:prstDash val="solid"/>
          </a:ln>
        </p:spPr>
      </p:sp>
      <p:pic>
        <p:nvPicPr>
          <p:cNvPr id="6" name="Image 0" descr="Health tab: capture, detectors, notifications, LLM, database and version cards with the doctor checks listed below">    </p:cNvPr>
          <p:cNvPicPr>
            <a:picLocks noChangeAspect="1"/>
          </p:cNvPicPr>
          <p:nvPr/>
        </p:nvPicPr>
        <p:blipFill>
          <a:blip r:embed="rId1"/>
          <a:stretch>
            <a:fillRect/>
          </a:stretch>
        </p:blipFill>
        <p:spPr>
          <a:xfrm>
            <a:off x="548640" y="1600200"/>
            <a:ext cx="8001000" cy="4500563"/>
          </a:xfrm>
          <a:prstGeom prst="rect">
            <a:avLst/>
          </a:prstGeom>
        </p:spPr>
      </p:pic>
      <p:sp>
        <p:nvSpPr>
          <p:cNvPr id="7" name="rule"/>
          <p:cNvSpPr/>
          <p:nvPr/>
        </p:nvSpPr>
        <p:spPr>
          <a:xfrm>
            <a:off x="8823960" y="1554480"/>
            <a:ext cx="0" cy="731520"/>
          </a:xfrm>
          <a:prstGeom prst="line">
            <a:avLst/>
          </a:prstGeom>
          <a:noFill/>
          <a:ln w="25400">
            <a:solidFill>
              <a:srgbClr val="C4403F"/>
            </a:solidFill>
            <a:prstDash val="solid"/>
          </a:ln>
        </p:spPr>
      </p:sp>
      <p:sp>
        <p:nvSpPr>
          <p:cNvPr id="8" name="Text 4"/>
          <p:cNvSpPr txBox="1"/>
          <p:nvPr/>
        </p:nvSpPr>
        <p:spPr>
          <a:xfrm>
            <a:off x="9052560" y="1554480"/>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Is capture alive</a:t>
            </a:r>
            <a:endParaRPr lang="en-US" sz="1500" dirty="0"/>
          </a:p>
        </p:txBody>
      </p:sp>
      <p:sp>
        <p:nvSpPr>
          <p:cNvPr id="9" name="Text 5"/>
          <p:cNvSpPr txBox="1"/>
          <p:nvPr/>
        </p:nvSpPr>
        <p:spPr>
          <a:xfrm>
            <a:off x="9052560" y="1874520"/>
            <a:ext cx="2651760" cy="50292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Source, state, uptime and the age of the last packet.</a:t>
            </a:r>
            <a:endParaRPr lang="en-US" sz="1150" dirty="0"/>
          </a:p>
        </p:txBody>
      </p:sp>
      <p:sp>
        <p:nvSpPr>
          <p:cNvPr id="10" name="rule"/>
          <p:cNvSpPr/>
          <p:nvPr/>
        </p:nvSpPr>
        <p:spPr>
          <a:xfrm>
            <a:off x="8823960" y="2450592"/>
            <a:ext cx="0" cy="731520"/>
          </a:xfrm>
          <a:prstGeom prst="line">
            <a:avLst/>
          </a:prstGeom>
          <a:noFill/>
          <a:ln w="25400">
            <a:solidFill>
              <a:srgbClr val="C4403F"/>
            </a:solidFill>
            <a:prstDash val="solid"/>
          </a:ln>
        </p:spPr>
      </p:sp>
      <p:sp>
        <p:nvSpPr>
          <p:cNvPr id="11" name="Text 7"/>
          <p:cNvSpPr txBox="1"/>
          <p:nvPr/>
        </p:nvSpPr>
        <p:spPr>
          <a:xfrm>
            <a:off x="9052560" y="2450592"/>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What is switched on</a:t>
            </a:r>
            <a:endParaRPr lang="en-US" sz="1500" dirty="0"/>
          </a:p>
        </p:txBody>
      </p:sp>
      <p:sp>
        <p:nvSpPr>
          <p:cNvPr id="12" name="Text 8"/>
          <p:cNvSpPr txBox="1"/>
          <p:nvPr/>
        </p:nvSpPr>
        <p:spPr>
          <a:xfrm>
            <a:off x="9052560" y="2770632"/>
            <a:ext cx="2651760" cy="50292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Rules, windows, thresholds and both statistical models.</a:t>
            </a:r>
            <a:endParaRPr lang="en-US" sz="1150" dirty="0"/>
          </a:p>
        </p:txBody>
      </p:sp>
      <p:sp>
        <p:nvSpPr>
          <p:cNvPr id="13" name="rule"/>
          <p:cNvSpPr/>
          <p:nvPr/>
        </p:nvSpPr>
        <p:spPr>
          <a:xfrm>
            <a:off x="8823960" y="3346704"/>
            <a:ext cx="0" cy="731520"/>
          </a:xfrm>
          <a:prstGeom prst="line">
            <a:avLst/>
          </a:prstGeom>
          <a:noFill/>
          <a:ln w="25400">
            <a:solidFill>
              <a:srgbClr val="C4403F"/>
            </a:solidFill>
            <a:prstDash val="solid"/>
          </a:ln>
        </p:spPr>
      </p:sp>
      <p:sp>
        <p:nvSpPr>
          <p:cNvPr id="14" name="Text 10"/>
          <p:cNvSpPr txBox="1"/>
          <p:nvPr/>
        </p:nvSpPr>
        <p:spPr>
          <a:xfrm>
            <a:off x="9052560" y="3346704"/>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Setup at a glance</a:t>
            </a:r>
            <a:endParaRPr lang="en-US" sz="1500" dirty="0"/>
          </a:p>
        </p:txBody>
      </p:sp>
      <p:sp>
        <p:nvSpPr>
          <p:cNvPr id="15" name="Text 11"/>
          <p:cNvSpPr txBox="1"/>
          <p:nvPr/>
        </p:nvSpPr>
        <p:spPr>
          <a:xfrm>
            <a:off x="9052560" y="3666744"/>
            <a:ext cx="2651760" cy="50292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Alerts armed? Which LLM model? Credentials: set or not.</a:t>
            </a:r>
            <a:endParaRPr lang="en-US" sz="1150" dirty="0"/>
          </a:p>
        </p:txBody>
      </p:sp>
      <p:sp>
        <p:nvSpPr>
          <p:cNvPr id="16" name="rule"/>
          <p:cNvSpPr/>
          <p:nvPr/>
        </p:nvSpPr>
        <p:spPr>
          <a:xfrm>
            <a:off x="8823960" y="4242816"/>
            <a:ext cx="0" cy="731520"/>
          </a:xfrm>
          <a:prstGeom prst="line">
            <a:avLst/>
          </a:prstGeom>
          <a:noFill/>
          <a:ln w="25400">
            <a:solidFill>
              <a:srgbClr val="C4403F"/>
            </a:solidFill>
            <a:prstDash val="solid"/>
          </a:ln>
        </p:spPr>
      </p:sp>
      <p:sp>
        <p:nvSpPr>
          <p:cNvPr id="17" name="Text 13"/>
          <p:cNvSpPr txBox="1"/>
          <p:nvPr/>
        </p:nvSpPr>
        <p:spPr>
          <a:xfrm>
            <a:off x="9052560" y="4242816"/>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The database</a:t>
            </a:r>
            <a:endParaRPr lang="en-US" sz="1500" dirty="0"/>
          </a:p>
        </p:txBody>
      </p:sp>
      <p:sp>
        <p:nvSpPr>
          <p:cNvPr id="18" name="Text 14"/>
          <p:cNvSpPr txBox="1"/>
          <p:nvPr/>
        </p:nvSpPr>
        <p:spPr>
          <a:xfrm>
            <a:off x="9052560" y="4562856"/>
            <a:ext cx="2651760" cy="50292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Size and counts of history, devices and deliveries.</a:t>
            </a:r>
            <a:endParaRPr lang="en-US" sz="1150" dirty="0"/>
          </a:p>
        </p:txBody>
      </p:sp>
      <p:sp>
        <p:nvSpPr>
          <p:cNvPr id="19" name="rule"/>
          <p:cNvSpPr/>
          <p:nvPr/>
        </p:nvSpPr>
        <p:spPr>
          <a:xfrm>
            <a:off x="8823960" y="5138928"/>
            <a:ext cx="0" cy="731520"/>
          </a:xfrm>
          <a:prstGeom prst="line">
            <a:avLst/>
          </a:prstGeom>
          <a:noFill/>
          <a:ln w="25400">
            <a:solidFill>
              <a:srgbClr val="C4403F"/>
            </a:solidFill>
            <a:prstDash val="solid"/>
          </a:ln>
        </p:spPr>
      </p:sp>
      <p:sp>
        <p:nvSpPr>
          <p:cNvPr id="20" name="Text 16"/>
          <p:cNvSpPr txBox="1"/>
          <p:nvPr/>
        </p:nvSpPr>
        <p:spPr>
          <a:xfrm>
            <a:off x="9052560" y="5138928"/>
            <a:ext cx="265176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Checks built in</a:t>
            </a:r>
            <a:endParaRPr lang="en-US" sz="1500" dirty="0"/>
          </a:p>
        </p:txBody>
      </p:sp>
      <p:sp>
        <p:nvSpPr>
          <p:cNvPr id="21" name="Text 17"/>
          <p:cNvSpPr txBox="1"/>
          <p:nvPr/>
        </p:nvSpPr>
        <p:spPr>
          <a:xfrm>
            <a:off x="9052560" y="5458968"/>
            <a:ext cx="2651760" cy="50292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The same checks as raven doctor, refreshed live.</a:t>
            </a:r>
            <a:endParaRPr lang="en-US" sz="115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Fast attacks and slow ones: three clocks, not one</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09  /  MULTI-TIMESCALE WINDOWS</a:t>
            </a:r>
            <a:endParaRPr lang="en-US" sz="1100" dirty="0"/>
          </a:p>
        </p:txBody>
      </p:sp>
      <p:sp>
        <p:nvSpPr>
          <p:cNvPr id="5" name="Text 2"/>
          <p:cNvSpPr txBox="1"/>
          <p:nvPr/>
        </p:nvSpPr>
        <p:spPr>
          <a:xfrm>
            <a:off x="548640" y="1645920"/>
            <a:ext cx="10972800" cy="274320"/>
          </a:xfrm>
          <a:prstGeom prst="rect">
            <a:avLst/>
          </a:prstGeom>
          <a:noFill/>
          <a:ln/>
        </p:spPr>
        <p:txBody>
          <a:bodyPr wrap="square" lIns="0" tIns="0" rIns="0" bIns="0" rtlCol="0" anchor="ctr"/>
          <a:lstStyle/>
          <a:p>
            <a:pPr indent="0" marL="0">
              <a:buNone/>
            </a:pPr>
            <a:r>
              <a:rPr lang="en-US" sz="1100" b="1" spc="200" kern="0" dirty="0">
                <a:solidFill>
                  <a:srgbClr val="7B8794"/>
                </a:solidFill>
                <a:latin typeface="Courier New" pitchFamily="34" charset="0"/>
                <a:ea typeface="Courier New" pitchFamily="34" charset="-122"/>
                <a:cs typeface="Courier New" pitchFamily="34" charset="-120"/>
              </a:rPr>
              <a:t>SLOWEST PORT SCAN EACH CLOCK STILL CATCHES  (default thresholds, probes per minute)</a:t>
            </a:r>
            <a:endParaRPr lang="en-US" sz="1100" dirty="0"/>
          </a:p>
        </p:txBody>
      </p:sp>
      <p:sp>
        <p:nvSpPr>
          <p:cNvPr id="6" name="Text 3"/>
          <p:cNvSpPr txBox="1"/>
          <p:nvPr/>
        </p:nvSpPr>
        <p:spPr>
          <a:xfrm>
            <a:off x="548640" y="2148840"/>
            <a:ext cx="2286000" cy="365760"/>
          </a:xfrm>
          <a:prstGeom prst="rect">
            <a:avLst/>
          </a:prstGeom>
          <a:noFill/>
          <a:ln/>
        </p:spPr>
        <p:txBody>
          <a:bodyPr wrap="square" lIns="0" tIns="0" rIns="0" bIns="0" rtlCol="0" anchor="ctr"/>
          <a:lstStyle/>
          <a:p>
            <a:pPr indent="0" marL="0">
              <a:buNone/>
            </a:pPr>
            <a:r>
              <a:rPr lang="en-US" sz="1800" b="1" dirty="0">
                <a:solidFill>
                  <a:srgbClr val="E6EAEE"/>
                </a:solidFill>
                <a:latin typeface="Calibri" pitchFamily="34" charset="0"/>
                <a:ea typeface="Calibri" pitchFamily="34" charset="-122"/>
                <a:cs typeface="Calibri" pitchFamily="34" charset="-120"/>
              </a:rPr>
              <a:t>10 s window</a:t>
            </a:r>
            <a:endParaRPr lang="en-US" sz="1800" dirty="0"/>
          </a:p>
        </p:txBody>
      </p:sp>
      <p:sp>
        <p:nvSpPr>
          <p:cNvPr id="7" name="Text 4"/>
          <p:cNvSpPr txBox="1"/>
          <p:nvPr/>
        </p:nvSpPr>
        <p:spPr>
          <a:xfrm>
            <a:off x="548640" y="2532888"/>
            <a:ext cx="2286000" cy="274320"/>
          </a:xfrm>
          <a:prstGeom prst="rect">
            <a:avLst/>
          </a:prstGeom>
          <a:noFill/>
          <a:ln/>
        </p:spPr>
        <p:txBody>
          <a:bodyPr wrap="square" lIns="0" tIns="0" rIns="0" bIns="0" rtlCol="0" anchor="ctr"/>
          <a:lstStyle/>
          <a:p>
            <a:pPr indent="0" marL="0">
              <a:buNone/>
            </a:pPr>
            <a:r>
              <a:rPr lang="en-US" sz="1100" dirty="0">
                <a:solidFill>
                  <a:srgbClr val="7B8794"/>
                </a:solidFill>
                <a:latin typeface="Courier New" pitchFamily="34" charset="0"/>
                <a:ea typeface="Courier New" pitchFamily="34" charset="-122"/>
                <a:cs typeface="Courier New" pitchFamily="34" charset="-120"/>
              </a:rPr>
              <a:t>20 ports in 10 s</a:t>
            </a:r>
            <a:endParaRPr lang="en-US" sz="1100" dirty="0"/>
          </a:p>
        </p:txBody>
      </p:sp>
      <p:sp>
        <p:nvSpPr>
          <p:cNvPr id="8" name="track"/>
          <p:cNvSpPr/>
          <p:nvPr/>
        </p:nvSpPr>
        <p:spPr>
          <a:xfrm>
            <a:off x="2926080" y="2194560"/>
            <a:ext cx="6766560" cy="566928"/>
          </a:xfrm>
          <a:prstGeom prst="rect">
            <a:avLst/>
          </a:prstGeom>
          <a:solidFill>
            <a:srgbClr val="12161A"/>
          </a:solidFill>
          <a:ln w="12700">
            <a:solidFill>
              <a:srgbClr val="232A31"/>
            </a:solidFill>
            <a:prstDash val="solid"/>
          </a:ln>
        </p:spPr>
      </p:sp>
      <p:sp>
        <p:nvSpPr>
          <p:cNvPr id="9" name="bar"/>
          <p:cNvSpPr/>
          <p:nvPr/>
        </p:nvSpPr>
        <p:spPr>
          <a:xfrm>
            <a:off x="2926080" y="2194560"/>
            <a:ext cx="6766560" cy="566928"/>
          </a:xfrm>
          <a:prstGeom prst="rect">
            <a:avLst/>
          </a:prstGeom>
          <a:solidFill>
            <a:srgbClr val="C4403F"/>
          </a:solidFill>
          <a:ln/>
        </p:spPr>
      </p:sp>
      <p:sp>
        <p:nvSpPr>
          <p:cNvPr id="10" name="Text 7"/>
          <p:cNvSpPr txBox="1"/>
          <p:nvPr/>
        </p:nvSpPr>
        <p:spPr>
          <a:xfrm>
            <a:off x="9829800" y="2194560"/>
            <a:ext cx="1371600" cy="566928"/>
          </a:xfrm>
          <a:prstGeom prst="rect">
            <a:avLst/>
          </a:prstGeom>
          <a:noFill/>
          <a:ln/>
        </p:spPr>
        <p:txBody>
          <a:bodyPr wrap="square" lIns="0" tIns="0" rIns="0" bIns="0" rtlCol="0" anchor="ctr"/>
          <a:lstStyle/>
          <a:p>
            <a:pPr indent="0" marL="0">
              <a:buNone/>
            </a:pPr>
            <a:r>
              <a:rPr lang="en-US" sz="1600" b="1" dirty="0">
                <a:solidFill>
                  <a:srgbClr val="E6EAEE"/>
                </a:solidFill>
                <a:latin typeface="Courier New" pitchFamily="34" charset="0"/>
                <a:ea typeface="Courier New" pitchFamily="34" charset="-122"/>
                <a:cs typeface="Courier New" pitchFamily="34" charset="-120"/>
              </a:rPr>
              <a:t>120 / min</a:t>
            </a:r>
            <a:endParaRPr lang="en-US" sz="1600" dirty="0"/>
          </a:p>
        </p:txBody>
      </p:sp>
      <p:sp>
        <p:nvSpPr>
          <p:cNvPr id="11" name="Text 8"/>
          <p:cNvSpPr txBox="1"/>
          <p:nvPr/>
        </p:nvSpPr>
        <p:spPr>
          <a:xfrm>
            <a:off x="2926080" y="2807208"/>
            <a:ext cx="6766560" cy="274320"/>
          </a:xfrm>
          <a:prstGeom prst="rect">
            <a:avLst/>
          </a:prstGeom>
          <a:noFill/>
          <a:ln/>
        </p:spPr>
        <p:txBody>
          <a:bodyPr wrap="square" lIns="0" tIns="0" rIns="0" bIns="0" rtlCol="0" anchor="ctr"/>
          <a:lstStyle/>
          <a:p>
            <a:pPr indent="0" marL="0">
              <a:buNone/>
            </a:pPr>
            <a:r>
              <a:rPr lang="en-US" sz="1200" dirty="0">
                <a:solidFill>
                  <a:srgbClr val="7B8794"/>
                </a:solidFill>
                <a:latin typeface="Calibri" pitchFamily="34" charset="0"/>
                <a:ea typeface="Calibri" pitchFamily="34" charset="-122"/>
                <a:cs typeface="Calibri" pitchFamily="34" charset="-120"/>
              </a:rPr>
              <a:t>fast scan: CRITICAL in the live test</a:t>
            </a:r>
            <a:endParaRPr lang="en-US" sz="1200" dirty="0"/>
          </a:p>
        </p:txBody>
      </p:sp>
      <p:sp>
        <p:nvSpPr>
          <p:cNvPr id="12" name="Text 9"/>
          <p:cNvSpPr txBox="1"/>
          <p:nvPr/>
        </p:nvSpPr>
        <p:spPr>
          <a:xfrm>
            <a:off x="548640" y="3337560"/>
            <a:ext cx="2286000" cy="365760"/>
          </a:xfrm>
          <a:prstGeom prst="rect">
            <a:avLst/>
          </a:prstGeom>
          <a:noFill/>
          <a:ln/>
        </p:spPr>
        <p:txBody>
          <a:bodyPr wrap="square" lIns="0" tIns="0" rIns="0" bIns="0" rtlCol="0" anchor="ctr"/>
          <a:lstStyle/>
          <a:p>
            <a:pPr indent="0" marL="0">
              <a:buNone/>
            </a:pPr>
            <a:r>
              <a:rPr lang="en-US" sz="1800" b="1" dirty="0">
                <a:solidFill>
                  <a:srgbClr val="E6EAEE"/>
                </a:solidFill>
                <a:latin typeface="Calibri" pitchFamily="34" charset="0"/>
                <a:ea typeface="Calibri" pitchFamily="34" charset="-122"/>
                <a:cs typeface="Calibri" pitchFamily="34" charset="-120"/>
              </a:rPr>
              <a:t>5 min window</a:t>
            </a:r>
            <a:endParaRPr lang="en-US" sz="1800" dirty="0"/>
          </a:p>
        </p:txBody>
      </p:sp>
      <p:sp>
        <p:nvSpPr>
          <p:cNvPr id="13" name="Text 10"/>
          <p:cNvSpPr txBox="1"/>
          <p:nvPr/>
        </p:nvSpPr>
        <p:spPr>
          <a:xfrm>
            <a:off x="548640" y="3721608"/>
            <a:ext cx="2286000" cy="274320"/>
          </a:xfrm>
          <a:prstGeom prst="rect">
            <a:avLst/>
          </a:prstGeom>
          <a:noFill/>
          <a:ln/>
        </p:spPr>
        <p:txBody>
          <a:bodyPr wrap="square" lIns="0" tIns="0" rIns="0" bIns="0" rtlCol="0" anchor="ctr"/>
          <a:lstStyle/>
          <a:p>
            <a:pPr indent="0" marL="0">
              <a:buNone/>
            </a:pPr>
            <a:r>
              <a:rPr lang="en-US" sz="1100" dirty="0">
                <a:solidFill>
                  <a:srgbClr val="7B8794"/>
                </a:solidFill>
                <a:latin typeface="Courier New" pitchFamily="34" charset="0"/>
                <a:ea typeface="Courier New" pitchFamily="34" charset="-122"/>
                <a:cs typeface="Courier New" pitchFamily="34" charset="-120"/>
              </a:rPr>
              <a:t>15 ports in 5 min</a:t>
            </a:r>
            <a:endParaRPr lang="en-US" sz="1100" dirty="0"/>
          </a:p>
        </p:txBody>
      </p:sp>
      <p:sp>
        <p:nvSpPr>
          <p:cNvPr id="14" name="track"/>
          <p:cNvSpPr/>
          <p:nvPr/>
        </p:nvSpPr>
        <p:spPr>
          <a:xfrm>
            <a:off x="2926080" y="3383280"/>
            <a:ext cx="6766560" cy="566928"/>
          </a:xfrm>
          <a:prstGeom prst="rect">
            <a:avLst/>
          </a:prstGeom>
          <a:solidFill>
            <a:srgbClr val="12161A"/>
          </a:solidFill>
          <a:ln w="12700">
            <a:solidFill>
              <a:srgbClr val="232A31"/>
            </a:solidFill>
            <a:prstDash val="solid"/>
          </a:ln>
        </p:spPr>
      </p:sp>
      <p:sp>
        <p:nvSpPr>
          <p:cNvPr id="15" name="bar"/>
          <p:cNvSpPr/>
          <p:nvPr/>
        </p:nvSpPr>
        <p:spPr>
          <a:xfrm>
            <a:off x="2926080" y="3383280"/>
            <a:ext cx="1069887" cy="566928"/>
          </a:xfrm>
          <a:prstGeom prst="rect">
            <a:avLst/>
          </a:prstGeom>
          <a:solidFill>
            <a:srgbClr val="C9702D"/>
          </a:solidFill>
          <a:ln/>
        </p:spPr>
      </p:sp>
      <p:sp>
        <p:nvSpPr>
          <p:cNvPr id="16" name="Text 13"/>
          <p:cNvSpPr txBox="1"/>
          <p:nvPr/>
        </p:nvSpPr>
        <p:spPr>
          <a:xfrm>
            <a:off x="4133127" y="3383280"/>
            <a:ext cx="1371600" cy="566928"/>
          </a:xfrm>
          <a:prstGeom prst="rect">
            <a:avLst/>
          </a:prstGeom>
          <a:noFill/>
          <a:ln/>
        </p:spPr>
        <p:txBody>
          <a:bodyPr wrap="square" lIns="0" tIns="0" rIns="0" bIns="0" rtlCol="0" anchor="ctr"/>
          <a:lstStyle/>
          <a:p>
            <a:pPr indent="0" marL="0">
              <a:buNone/>
            </a:pPr>
            <a:r>
              <a:rPr lang="en-US" sz="1600" b="1" dirty="0">
                <a:solidFill>
                  <a:srgbClr val="E6EAEE"/>
                </a:solidFill>
                <a:latin typeface="Courier New" pitchFamily="34" charset="0"/>
                <a:ea typeface="Courier New" pitchFamily="34" charset="-122"/>
                <a:cs typeface="Courier New" pitchFamily="34" charset="-120"/>
              </a:rPr>
              <a:t>3 / min</a:t>
            </a:r>
            <a:endParaRPr lang="en-US" sz="1600" dirty="0"/>
          </a:p>
        </p:txBody>
      </p:sp>
      <p:sp>
        <p:nvSpPr>
          <p:cNvPr id="17" name="Text 14"/>
          <p:cNvSpPr txBox="1"/>
          <p:nvPr/>
        </p:nvSpPr>
        <p:spPr>
          <a:xfrm>
            <a:off x="2926080" y="3995928"/>
            <a:ext cx="6766560" cy="274320"/>
          </a:xfrm>
          <a:prstGeom prst="rect">
            <a:avLst/>
          </a:prstGeom>
          <a:noFill/>
          <a:ln/>
        </p:spPr>
        <p:txBody>
          <a:bodyPr wrap="square" lIns="0" tIns="0" rIns="0" bIns="0" rtlCol="0" anchor="ctr"/>
          <a:lstStyle/>
          <a:p>
            <a:pPr indent="0" marL="0">
              <a:buNone/>
            </a:pPr>
            <a:r>
              <a:rPr lang="en-US" sz="1200" dirty="0">
                <a:solidFill>
                  <a:srgbClr val="7B8794"/>
                </a:solidFill>
                <a:latin typeface="Calibri" pitchFamily="34" charset="0"/>
                <a:ea typeface="Calibri" pitchFamily="34" charset="-122"/>
                <a:cs typeface="Calibri" pitchFamily="34" charset="-120"/>
              </a:rPr>
              <a:t>slow scan, 1 probe/s: HIGH in the live test</a:t>
            </a:r>
            <a:endParaRPr lang="en-US" sz="1200" dirty="0"/>
          </a:p>
        </p:txBody>
      </p:sp>
      <p:sp>
        <p:nvSpPr>
          <p:cNvPr id="18" name="Text 15"/>
          <p:cNvSpPr txBox="1"/>
          <p:nvPr/>
        </p:nvSpPr>
        <p:spPr>
          <a:xfrm>
            <a:off x="548640" y="4526280"/>
            <a:ext cx="2286000" cy="365760"/>
          </a:xfrm>
          <a:prstGeom prst="rect">
            <a:avLst/>
          </a:prstGeom>
          <a:noFill/>
          <a:ln/>
        </p:spPr>
        <p:txBody>
          <a:bodyPr wrap="square" lIns="0" tIns="0" rIns="0" bIns="0" rtlCol="0" anchor="ctr"/>
          <a:lstStyle/>
          <a:p>
            <a:pPr indent="0" marL="0">
              <a:buNone/>
            </a:pPr>
            <a:r>
              <a:rPr lang="en-US" sz="1800" b="1" dirty="0">
                <a:solidFill>
                  <a:srgbClr val="E6EAEE"/>
                </a:solidFill>
                <a:latin typeface="Calibri" pitchFamily="34" charset="0"/>
                <a:ea typeface="Calibri" pitchFamily="34" charset="-122"/>
                <a:cs typeface="Calibri" pitchFamily="34" charset="-120"/>
              </a:rPr>
              <a:t>1 hour window</a:t>
            </a:r>
            <a:endParaRPr lang="en-US" sz="1800" dirty="0"/>
          </a:p>
        </p:txBody>
      </p:sp>
      <p:sp>
        <p:nvSpPr>
          <p:cNvPr id="19" name="Text 16"/>
          <p:cNvSpPr txBox="1"/>
          <p:nvPr/>
        </p:nvSpPr>
        <p:spPr>
          <a:xfrm>
            <a:off x="548640" y="4910328"/>
            <a:ext cx="2286000" cy="274320"/>
          </a:xfrm>
          <a:prstGeom prst="rect">
            <a:avLst/>
          </a:prstGeom>
          <a:noFill/>
          <a:ln/>
        </p:spPr>
        <p:txBody>
          <a:bodyPr wrap="square" lIns="0" tIns="0" rIns="0" bIns="0" rtlCol="0" anchor="ctr"/>
          <a:lstStyle/>
          <a:p>
            <a:pPr indent="0" marL="0">
              <a:buNone/>
            </a:pPr>
            <a:r>
              <a:rPr lang="en-US" sz="1100" dirty="0">
                <a:solidFill>
                  <a:srgbClr val="7B8794"/>
                </a:solidFill>
                <a:latin typeface="Courier New" pitchFamily="34" charset="0"/>
                <a:ea typeface="Courier New" pitchFamily="34" charset="-122"/>
                <a:cs typeface="Courier New" pitchFamily="34" charset="-120"/>
              </a:rPr>
              <a:t>60 ports in 1 hour</a:t>
            </a:r>
            <a:endParaRPr lang="en-US" sz="1100" dirty="0"/>
          </a:p>
        </p:txBody>
      </p:sp>
      <p:sp>
        <p:nvSpPr>
          <p:cNvPr id="20" name="track"/>
          <p:cNvSpPr/>
          <p:nvPr/>
        </p:nvSpPr>
        <p:spPr>
          <a:xfrm>
            <a:off x="2926080" y="4572000"/>
            <a:ext cx="6766560" cy="566928"/>
          </a:xfrm>
          <a:prstGeom prst="rect">
            <a:avLst/>
          </a:prstGeom>
          <a:solidFill>
            <a:srgbClr val="12161A"/>
          </a:solidFill>
          <a:ln w="12700">
            <a:solidFill>
              <a:srgbClr val="232A31"/>
            </a:solidFill>
            <a:prstDash val="solid"/>
          </a:ln>
        </p:spPr>
      </p:sp>
      <p:sp>
        <p:nvSpPr>
          <p:cNvPr id="21" name="bar"/>
          <p:cNvSpPr/>
          <p:nvPr/>
        </p:nvSpPr>
        <p:spPr>
          <a:xfrm>
            <a:off x="2926080" y="4572000"/>
            <a:ext cx="617700" cy="566928"/>
          </a:xfrm>
          <a:prstGeom prst="rect">
            <a:avLst/>
          </a:prstGeom>
          <a:solidFill>
            <a:srgbClr val="B8993B"/>
          </a:solidFill>
          <a:ln/>
        </p:spPr>
      </p:sp>
      <p:sp>
        <p:nvSpPr>
          <p:cNvPr id="22" name="Text 19"/>
          <p:cNvSpPr txBox="1"/>
          <p:nvPr/>
        </p:nvSpPr>
        <p:spPr>
          <a:xfrm>
            <a:off x="3680940" y="4572000"/>
            <a:ext cx="1371600" cy="566928"/>
          </a:xfrm>
          <a:prstGeom prst="rect">
            <a:avLst/>
          </a:prstGeom>
          <a:noFill/>
          <a:ln/>
        </p:spPr>
        <p:txBody>
          <a:bodyPr wrap="square" lIns="0" tIns="0" rIns="0" bIns="0" rtlCol="0" anchor="ctr"/>
          <a:lstStyle/>
          <a:p>
            <a:pPr indent="0" marL="0">
              <a:buNone/>
            </a:pPr>
            <a:r>
              <a:rPr lang="en-US" sz="1600" b="1" dirty="0">
                <a:solidFill>
                  <a:srgbClr val="E6EAEE"/>
                </a:solidFill>
                <a:latin typeface="Courier New" pitchFamily="34" charset="0"/>
                <a:ea typeface="Courier New" pitchFamily="34" charset="-122"/>
                <a:cs typeface="Courier New" pitchFamily="34" charset="-120"/>
              </a:rPr>
              <a:t>1 / min</a:t>
            </a:r>
            <a:endParaRPr lang="en-US" sz="1600" dirty="0"/>
          </a:p>
        </p:txBody>
      </p:sp>
      <p:sp>
        <p:nvSpPr>
          <p:cNvPr id="23" name="Text 20"/>
          <p:cNvSpPr txBox="1"/>
          <p:nvPr/>
        </p:nvSpPr>
        <p:spPr>
          <a:xfrm>
            <a:off x="2926080" y="5184648"/>
            <a:ext cx="6766560" cy="274320"/>
          </a:xfrm>
          <a:prstGeom prst="rect">
            <a:avLst/>
          </a:prstGeom>
          <a:noFill/>
          <a:ln/>
        </p:spPr>
        <p:txBody>
          <a:bodyPr wrap="square" lIns="0" tIns="0" rIns="0" bIns="0" rtlCol="0" anchor="ctr"/>
          <a:lstStyle/>
          <a:p>
            <a:pPr indent="0" marL="0">
              <a:buNone/>
            </a:pPr>
            <a:r>
              <a:rPr lang="en-US" sz="1200" dirty="0">
                <a:solidFill>
                  <a:srgbClr val="7B8794"/>
                </a:solidFill>
                <a:latin typeface="Calibri" pitchFamily="34" charset="0"/>
                <a:ea typeface="Calibri" pitchFamily="34" charset="-122"/>
                <a:cs typeface="Calibri" pitchFamily="34" charset="-120"/>
              </a:rPr>
              <a:t>low-and-slow: one probe a minute</a:t>
            </a:r>
            <a:endParaRPr lang="en-US" sz="1200" dirty="0"/>
          </a:p>
        </p:txBody>
      </p:sp>
      <p:sp>
        <p:nvSpPr>
          <p:cNvPr id="24" name="Text 21"/>
          <p:cNvSpPr txBox="1"/>
          <p:nvPr/>
        </p:nvSpPr>
        <p:spPr>
          <a:xfrm>
            <a:off x="548640" y="5669280"/>
            <a:ext cx="5486400" cy="228600"/>
          </a:xfrm>
          <a:prstGeom prst="rect">
            <a:avLst/>
          </a:prstGeom>
          <a:noFill/>
          <a:ln/>
        </p:spPr>
        <p:txBody>
          <a:bodyPr wrap="square" lIns="0" tIns="0" rIns="0" bIns="0" rtlCol="0" anchor="ctr"/>
          <a:lstStyle/>
          <a:p>
            <a:pPr indent="0" marL="0">
              <a:buNone/>
            </a:pPr>
            <a:r>
              <a:rPr lang="en-US" sz="900" dirty="0">
                <a:solidFill>
                  <a:srgbClr val="4D5762"/>
                </a:solidFill>
                <a:latin typeface="Courier New" pitchFamily="34" charset="0"/>
                <a:ea typeface="Courier New" pitchFamily="34" charset="-122"/>
                <a:cs typeface="Courier New" pitchFamily="34" charset="-120"/>
              </a:rPr>
              <a:t>bar length uses a square-root scale</a:t>
            </a:r>
            <a:endParaRPr lang="en-US" sz="900" dirty="0"/>
          </a:p>
        </p:txBody>
      </p:sp>
      <p:sp>
        <p:nvSpPr>
          <p:cNvPr id="25" name="callout"/>
          <p:cNvSpPr/>
          <p:nvPr/>
        </p:nvSpPr>
        <p:spPr>
          <a:xfrm>
            <a:off x="548640" y="5897880"/>
            <a:ext cx="11109960" cy="457200"/>
          </a:xfrm>
          <a:prstGeom prst="rect">
            <a:avLst/>
          </a:prstGeom>
          <a:solidFill>
            <a:srgbClr val="181D22"/>
          </a:solidFill>
          <a:ln w="12700">
            <a:solidFill>
              <a:srgbClr val="2F3943"/>
            </a:solidFill>
            <a:prstDash val="solid"/>
          </a:ln>
        </p:spPr>
      </p:sp>
      <p:sp>
        <p:nvSpPr>
          <p:cNvPr id="26" name="Text 23"/>
          <p:cNvSpPr txBox="1"/>
          <p:nvPr/>
        </p:nvSpPr>
        <p:spPr>
          <a:xfrm>
            <a:off x="777240" y="5897880"/>
            <a:ext cx="10698480" cy="457200"/>
          </a:xfrm>
          <a:prstGeom prst="rect">
            <a:avLst/>
          </a:prstGeom>
          <a:noFill/>
          <a:ln/>
        </p:spPr>
        <p:txBody>
          <a:bodyPr wrap="square" lIns="0" tIns="0" rIns="0" bIns="0" rtlCol="0" anchor="ctr"/>
          <a:lstStyle/>
          <a:p>
            <a:pPr indent="0" marL="0">
              <a:buNone/>
            </a:pPr>
            <a:r>
              <a:rPr lang="en-US" sz="1400" dirty="0">
                <a:solidFill>
                  <a:srgbClr val="E6EAEE"/>
                </a:solidFill>
                <a:latin typeface="Calibri" pitchFamily="34" charset="0"/>
                <a:ea typeface="Calibri" pitchFamily="34" charset="-122"/>
                <a:cs typeface="Calibri" pitchFamily="34" charset="-120"/>
              </a:rPr>
              <a:t>One short window sees only the fast attacker. Three clocks also catch the patient one.</a:t>
            </a:r>
            <a:endParaRPr lang="en-US" sz="140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Two statistical models catch what the rules miss</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10  /  STATISTICAL DETECTORS</a:t>
            </a:r>
            <a:endParaRPr lang="en-US" sz="1100" dirty="0"/>
          </a:p>
        </p:txBody>
      </p:sp>
      <p:sp>
        <p:nvSpPr>
          <p:cNvPr id="5" name="panel-head"/>
          <p:cNvSpPr/>
          <p:nvPr/>
        </p:nvSpPr>
        <p:spPr>
          <a:xfrm>
            <a:off x="548640" y="1600200"/>
            <a:ext cx="5440680" cy="365760"/>
          </a:xfrm>
          <a:prstGeom prst="rect">
            <a:avLst/>
          </a:prstGeom>
          <a:solidFill>
            <a:srgbClr val="0A0C0F"/>
          </a:solidFill>
          <a:ln w="12700">
            <a:solidFill>
              <a:srgbClr val="232A31"/>
            </a:solidFill>
            <a:prstDash val="solid"/>
          </a:ln>
        </p:spPr>
      </p:sp>
      <p:sp>
        <p:nvSpPr>
          <p:cNvPr id="6" name="Text 3"/>
          <p:cNvSpPr txBox="1"/>
          <p:nvPr/>
        </p:nvSpPr>
        <p:spPr>
          <a:xfrm>
            <a:off x="685800" y="1673352"/>
            <a:ext cx="5166360" cy="228600"/>
          </a:xfrm>
          <a:prstGeom prst="rect">
            <a:avLst/>
          </a:prstGeom>
          <a:noFill/>
          <a:ln/>
        </p:spPr>
        <p:txBody>
          <a:bodyPr wrap="square" lIns="0" tIns="0" rIns="0" bIns="0" rtlCol="0" anchor="ctr"/>
          <a:lstStyle/>
          <a:p>
            <a:pPr indent="0" marL="0">
              <a:buNone/>
            </a:pPr>
            <a:r>
              <a:rPr lang="en-US" sz="1000" b="1" spc="300" kern="0" dirty="0">
                <a:solidFill>
                  <a:srgbClr val="7B8794"/>
                </a:solidFill>
                <a:latin typeface="Courier New" pitchFamily="34" charset="0"/>
                <a:ea typeface="Courier New" pitchFamily="34" charset="-122"/>
                <a:cs typeface="Courier New" pitchFamily="34" charset="-120"/>
              </a:rPr>
              <a:t>DNS N-GRAM  /  HOW RANDOM DOES A NAME LOOK?</a:t>
            </a:r>
            <a:endParaRPr lang="en-US" sz="1000" dirty="0"/>
          </a:p>
        </p:txBody>
      </p:sp>
      <p:sp>
        <p:nvSpPr>
          <p:cNvPr id="7" name="panel"/>
          <p:cNvSpPr/>
          <p:nvPr/>
        </p:nvSpPr>
        <p:spPr>
          <a:xfrm>
            <a:off x="548640" y="1965960"/>
            <a:ext cx="5440680" cy="3246120"/>
          </a:xfrm>
          <a:prstGeom prst="rect">
            <a:avLst/>
          </a:prstGeom>
          <a:solidFill>
            <a:srgbClr val="12161A"/>
          </a:solidFill>
          <a:ln w="12700">
            <a:solidFill>
              <a:srgbClr val="232A31"/>
            </a:solidFill>
            <a:prstDash val="solid"/>
          </a:ln>
        </p:spPr>
      </p:sp>
      <p:sp>
        <p:nvSpPr>
          <p:cNvPr id="8" name="Text 5"/>
          <p:cNvSpPr txBox="1"/>
          <p:nvPr/>
        </p:nvSpPr>
        <p:spPr>
          <a:xfrm>
            <a:off x="914400" y="2103120"/>
            <a:ext cx="4663440" cy="228600"/>
          </a:xfrm>
          <a:prstGeom prst="rect">
            <a:avLst/>
          </a:prstGeom>
          <a:noFill/>
          <a:ln/>
        </p:spPr>
        <p:txBody>
          <a:bodyPr wrap="square" lIns="0" tIns="0" rIns="0" bIns="0" rtlCol="0" anchor="ctr"/>
          <a:lstStyle/>
          <a:p>
            <a:pPr indent="0" marL="0">
              <a:buNone/>
            </a:pPr>
            <a:r>
              <a:rPr lang="en-US" sz="1000" dirty="0">
                <a:solidFill>
                  <a:srgbClr val="7B8794"/>
                </a:solidFill>
                <a:latin typeface="Courier New" pitchFamily="34" charset="0"/>
                <a:ea typeface="Courier New" pitchFamily="34" charset="-122"/>
                <a:cs typeface="Courier New" pitchFamily="34" charset="-120"/>
              </a:rPr>
              <a:t>average bits per character (higher = more random)</a:t>
            </a:r>
            <a:endParaRPr lang="en-US" sz="1000" dirty="0"/>
          </a:p>
        </p:txBody>
      </p:sp>
      <p:sp>
        <p:nvSpPr>
          <p:cNvPr id="9" name="rule"/>
          <p:cNvSpPr/>
          <p:nvPr/>
        </p:nvSpPr>
        <p:spPr>
          <a:xfrm>
            <a:off x="914400" y="3703320"/>
            <a:ext cx="4663440" cy="0"/>
          </a:xfrm>
          <a:prstGeom prst="line">
            <a:avLst/>
          </a:prstGeom>
          <a:noFill/>
          <a:ln w="12700">
            <a:solidFill>
              <a:srgbClr val="2F3943"/>
            </a:solidFill>
            <a:prstDash val="solid"/>
          </a:ln>
        </p:spPr>
      </p:sp>
      <p:sp>
        <p:nvSpPr>
          <p:cNvPr id="10" name="Text 7"/>
          <p:cNvSpPr txBox="1"/>
          <p:nvPr/>
        </p:nvSpPr>
        <p:spPr>
          <a:xfrm>
            <a:off x="777240" y="3749040"/>
            <a:ext cx="274320" cy="228600"/>
          </a:xfrm>
          <a:prstGeom prst="rect">
            <a:avLst/>
          </a:prstGeom>
          <a:noFill/>
          <a:ln/>
        </p:spPr>
        <p:txBody>
          <a:bodyPr wrap="square" lIns="0" tIns="0" rIns="0" bIns="0" rtlCol="0" anchor="ctr"/>
          <a:lstStyle/>
          <a:p>
            <a:pPr algn="ctr" indent="0" marL="0">
              <a:buNone/>
            </a:pPr>
            <a:r>
              <a:rPr lang="en-US" sz="1000" dirty="0">
                <a:solidFill>
                  <a:srgbClr val="4D5762"/>
                </a:solidFill>
                <a:latin typeface="Courier New" pitchFamily="34" charset="0"/>
                <a:ea typeface="Courier New" pitchFamily="34" charset="-122"/>
                <a:cs typeface="Courier New" pitchFamily="34" charset="-120"/>
              </a:rPr>
              <a:t>2</a:t>
            </a:r>
            <a:endParaRPr lang="en-US" sz="1000" dirty="0"/>
          </a:p>
        </p:txBody>
      </p:sp>
      <p:sp>
        <p:nvSpPr>
          <p:cNvPr id="11" name="rule"/>
          <p:cNvSpPr/>
          <p:nvPr/>
        </p:nvSpPr>
        <p:spPr>
          <a:xfrm>
            <a:off x="914400" y="3639312"/>
            <a:ext cx="0" cy="64008"/>
          </a:xfrm>
          <a:prstGeom prst="line">
            <a:avLst/>
          </a:prstGeom>
          <a:noFill/>
          <a:ln w="12700">
            <a:solidFill>
              <a:srgbClr val="2F3943"/>
            </a:solidFill>
            <a:prstDash val="solid"/>
          </a:ln>
        </p:spPr>
      </p:sp>
      <p:sp>
        <p:nvSpPr>
          <p:cNvPr id="12" name="Text 9"/>
          <p:cNvSpPr txBox="1"/>
          <p:nvPr/>
        </p:nvSpPr>
        <p:spPr>
          <a:xfrm>
            <a:off x="1813560" y="3749040"/>
            <a:ext cx="274320" cy="228600"/>
          </a:xfrm>
          <a:prstGeom prst="rect">
            <a:avLst/>
          </a:prstGeom>
          <a:noFill/>
          <a:ln/>
        </p:spPr>
        <p:txBody>
          <a:bodyPr wrap="square" lIns="0" tIns="0" rIns="0" bIns="0" rtlCol="0" anchor="ctr"/>
          <a:lstStyle/>
          <a:p>
            <a:pPr algn="ctr" indent="0" marL="0">
              <a:buNone/>
            </a:pPr>
            <a:r>
              <a:rPr lang="en-US" sz="1000" dirty="0">
                <a:solidFill>
                  <a:srgbClr val="4D5762"/>
                </a:solidFill>
                <a:latin typeface="Courier New" pitchFamily="34" charset="0"/>
                <a:ea typeface="Courier New" pitchFamily="34" charset="-122"/>
                <a:cs typeface="Courier New" pitchFamily="34" charset="-120"/>
              </a:rPr>
              <a:t>3</a:t>
            </a:r>
            <a:endParaRPr lang="en-US" sz="1000" dirty="0"/>
          </a:p>
        </p:txBody>
      </p:sp>
      <p:sp>
        <p:nvSpPr>
          <p:cNvPr id="13" name="rule"/>
          <p:cNvSpPr/>
          <p:nvPr/>
        </p:nvSpPr>
        <p:spPr>
          <a:xfrm>
            <a:off x="1950720" y="3639312"/>
            <a:ext cx="0" cy="64008"/>
          </a:xfrm>
          <a:prstGeom prst="line">
            <a:avLst/>
          </a:prstGeom>
          <a:noFill/>
          <a:ln w="12700">
            <a:solidFill>
              <a:srgbClr val="2F3943"/>
            </a:solidFill>
            <a:prstDash val="solid"/>
          </a:ln>
        </p:spPr>
      </p:sp>
      <p:sp>
        <p:nvSpPr>
          <p:cNvPr id="14" name="Text 11"/>
          <p:cNvSpPr txBox="1"/>
          <p:nvPr/>
        </p:nvSpPr>
        <p:spPr>
          <a:xfrm>
            <a:off x="2849880" y="3749040"/>
            <a:ext cx="274320" cy="228600"/>
          </a:xfrm>
          <a:prstGeom prst="rect">
            <a:avLst/>
          </a:prstGeom>
          <a:noFill/>
          <a:ln/>
        </p:spPr>
        <p:txBody>
          <a:bodyPr wrap="square" lIns="0" tIns="0" rIns="0" bIns="0" rtlCol="0" anchor="ctr"/>
          <a:lstStyle/>
          <a:p>
            <a:pPr algn="ctr" indent="0" marL="0">
              <a:buNone/>
            </a:pPr>
            <a:r>
              <a:rPr lang="en-US" sz="1000" dirty="0">
                <a:solidFill>
                  <a:srgbClr val="4D5762"/>
                </a:solidFill>
                <a:latin typeface="Courier New" pitchFamily="34" charset="0"/>
                <a:ea typeface="Courier New" pitchFamily="34" charset="-122"/>
                <a:cs typeface="Courier New" pitchFamily="34" charset="-120"/>
              </a:rPr>
              <a:t>4</a:t>
            </a:r>
            <a:endParaRPr lang="en-US" sz="1000" dirty="0"/>
          </a:p>
        </p:txBody>
      </p:sp>
      <p:sp>
        <p:nvSpPr>
          <p:cNvPr id="15" name="rule"/>
          <p:cNvSpPr/>
          <p:nvPr/>
        </p:nvSpPr>
        <p:spPr>
          <a:xfrm>
            <a:off x="2987040" y="3639312"/>
            <a:ext cx="0" cy="64008"/>
          </a:xfrm>
          <a:prstGeom prst="line">
            <a:avLst/>
          </a:prstGeom>
          <a:noFill/>
          <a:ln w="12700">
            <a:solidFill>
              <a:srgbClr val="2F3943"/>
            </a:solidFill>
            <a:prstDash val="solid"/>
          </a:ln>
        </p:spPr>
      </p:sp>
      <p:sp>
        <p:nvSpPr>
          <p:cNvPr id="16" name="Text 13"/>
          <p:cNvSpPr txBox="1"/>
          <p:nvPr/>
        </p:nvSpPr>
        <p:spPr>
          <a:xfrm>
            <a:off x="3886200" y="3749040"/>
            <a:ext cx="274320" cy="228600"/>
          </a:xfrm>
          <a:prstGeom prst="rect">
            <a:avLst/>
          </a:prstGeom>
          <a:noFill/>
          <a:ln/>
        </p:spPr>
        <p:txBody>
          <a:bodyPr wrap="square" lIns="0" tIns="0" rIns="0" bIns="0" rtlCol="0" anchor="ctr"/>
          <a:lstStyle/>
          <a:p>
            <a:pPr algn="ctr" indent="0" marL="0">
              <a:buNone/>
            </a:pPr>
            <a:r>
              <a:rPr lang="en-US" sz="1000" dirty="0">
                <a:solidFill>
                  <a:srgbClr val="4D5762"/>
                </a:solidFill>
                <a:latin typeface="Courier New" pitchFamily="34" charset="0"/>
                <a:ea typeface="Courier New" pitchFamily="34" charset="-122"/>
                <a:cs typeface="Courier New" pitchFamily="34" charset="-120"/>
              </a:rPr>
              <a:t>5</a:t>
            </a:r>
            <a:endParaRPr lang="en-US" sz="1000" dirty="0"/>
          </a:p>
        </p:txBody>
      </p:sp>
      <p:sp>
        <p:nvSpPr>
          <p:cNvPr id="17" name="rule"/>
          <p:cNvSpPr/>
          <p:nvPr/>
        </p:nvSpPr>
        <p:spPr>
          <a:xfrm>
            <a:off x="4023360" y="3639312"/>
            <a:ext cx="0" cy="64008"/>
          </a:xfrm>
          <a:prstGeom prst="line">
            <a:avLst/>
          </a:prstGeom>
          <a:noFill/>
          <a:ln w="12700">
            <a:solidFill>
              <a:srgbClr val="2F3943"/>
            </a:solidFill>
            <a:prstDash val="solid"/>
          </a:ln>
        </p:spPr>
      </p:sp>
      <p:sp>
        <p:nvSpPr>
          <p:cNvPr id="18" name="Text 15"/>
          <p:cNvSpPr txBox="1"/>
          <p:nvPr/>
        </p:nvSpPr>
        <p:spPr>
          <a:xfrm>
            <a:off x="4922520" y="3749040"/>
            <a:ext cx="274320" cy="228600"/>
          </a:xfrm>
          <a:prstGeom prst="rect">
            <a:avLst/>
          </a:prstGeom>
          <a:noFill/>
          <a:ln/>
        </p:spPr>
        <p:txBody>
          <a:bodyPr wrap="square" lIns="0" tIns="0" rIns="0" bIns="0" rtlCol="0" anchor="ctr"/>
          <a:lstStyle/>
          <a:p>
            <a:pPr algn="ctr" indent="0" marL="0">
              <a:buNone/>
            </a:pPr>
            <a:r>
              <a:rPr lang="en-US" sz="1000" dirty="0">
                <a:solidFill>
                  <a:srgbClr val="4D5762"/>
                </a:solidFill>
                <a:latin typeface="Courier New" pitchFamily="34" charset="0"/>
                <a:ea typeface="Courier New" pitchFamily="34" charset="-122"/>
                <a:cs typeface="Courier New" pitchFamily="34" charset="-120"/>
              </a:rPr>
              <a:t>6</a:t>
            </a:r>
            <a:endParaRPr lang="en-US" sz="1000" dirty="0"/>
          </a:p>
        </p:txBody>
      </p:sp>
      <p:sp>
        <p:nvSpPr>
          <p:cNvPr id="19" name="rule"/>
          <p:cNvSpPr/>
          <p:nvPr/>
        </p:nvSpPr>
        <p:spPr>
          <a:xfrm>
            <a:off x="5059680" y="3639312"/>
            <a:ext cx="0" cy="64008"/>
          </a:xfrm>
          <a:prstGeom prst="line">
            <a:avLst/>
          </a:prstGeom>
          <a:noFill/>
          <a:ln w="12700">
            <a:solidFill>
              <a:srgbClr val="2F3943"/>
            </a:solidFill>
            <a:prstDash val="solid"/>
          </a:ln>
        </p:spPr>
      </p:sp>
      <p:sp>
        <p:nvSpPr>
          <p:cNvPr id="20" name="band-ok"/>
          <p:cNvSpPr/>
          <p:nvPr/>
        </p:nvSpPr>
        <p:spPr>
          <a:xfrm>
            <a:off x="1432560" y="2834640"/>
            <a:ext cx="1036320" cy="640080"/>
          </a:xfrm>
          <a:prstGeom prst="rect">
            <a:avLst/>
          </a:prstGeom>
          <a:solidFill>
            <a:srgbClr val="5A9E84"/>
          </a:solidFill>
          <a:ln/>
        </p:spPr>
      </p:sp>
      <p:sp>
        <p:nvSpPr>
          <p:cNvPr id="21" name="band-bad"/>
          <p:cNvSpPr/>
          <p:nvPr/>
        </p:nvSpPr>
        <p:spPr>
          <a:xfrm>
            <a:off x="4437888" y="2834640"/>
            <a:ext cx="621792" cy="640080"/>
          </a:xfrm>
          <a:prstGeom prst="rect">
            <a:avLst/>
          </a:prstGeom>
          <a:solidFill>
            <a:srgbClr val="C4403F"/>
          </a:solidFill>
          <a:ln/>
        </p:spPr>
      </p:sp>
      <p:sp>
        <p:nvSpPr>
          <p:cNvPr id="22" name="Text 19"/>
          <p:cNvSpPr txBox="1"/>
          <p:nvPr/>
        </p:nvSpPr>
        <p:spPr>
          <a:xfrm>
            <a:off x="1158240" y="2468880"/>
            <a:ext cx="1737360" cy="274320"/>
          </a:xfrm>
          <a:prstGeom prst="rect">
            <a:avLst/>
          </a:prstGeom>
          <a:noFill/>
          <a:ln/>
        </p:spPr>
        <p:txBody>
          <a:bodyPr wrap="square" lIns="0" tIns="0" rIns="0" bIns="0" rtlCol="0" anchor="ctr"/>
          <a:lstStyle/>
          <a:p>
            <a:pPr indent="0" marL="0">
              <a:buNone/>
            </a:pPr>
            <a:r>
              <a:rPr lang="en-US" sz="1200" b="1" dirty="0">
                <a:solidFill>
                  <a:srgbClr val="5A9E84"/>
                </a:solidFill>
                <a:latin typeface="Calibri" pitchFamily="34" charset="0"/>
                <a:ea typeface="Calibri" pitchFamily="34" charset="-122"/>
                <a:cs typeface="Calibri" pitchFamily="34" charset="-120"/>
              </a:rPr>
              <a:t>ordinary names</a:t>
            </a:r>
            <a:endParaRPr lang="en-US" sz="1200" dirty="0"/>
          </a:p>
        </p:txBody>
      </p:sp>
      <p:sp>
        <p:nvSpPr>
          <p:cNvPr id="23" name="Text 20"/>
          <p:cNvSpPr txBox="1"/>
          <p:nvPr/>
        </p:nvSpPr>
        <p:spPr>
          <a:xfrm>
            <a:off x="4392168" y="2468880"/>
            <a:ext cx="1371600" cy="274320"/>
          </a:xfrm>
          <a:prstGeom prst="rect">
            <a:avLst/>
          </a:prstGeom>
          <a:noFill/>
          <a:ln/>
        </p:spPr>
        <p:txBody>
          <a:bodyPr wrap="square" lIns="0" tIns="0" rIns="0" bIns="0" rtlCol="0" anchor="ctr"/>
          <a:lstStyle/>
          <a:p>
            <a:pPr indent="0" marL="0">
              <a:buNone/>
            </a:pPr>
            <a:r>
              <a:rPr lang="en-US" sz="1200" b="1" dirty="0">
                <a:solidFill>
                  <a:srgbClr val="C4403F"/>
                </a:solidFill>
                <a:latin typeface="Calibri" pitchFamily="34" charset="0"/>
                <a:ea typeface="Calibri" pitchFamily="34" charset="-122"/>
                <a:cs typeface="Calibri" pitchFamily="34" charset="-120"/>
              </a:rPr>
              <a:t>random names</a:t>
            </a:r>
            <a:endParaRPr lang="en-US" sz="1200" dirty="0"/>
          </a:p>
        </p:txBody>
      </p:sp>
      <p:sp>
        <p:nvSpPr>
          <p:cNvPr id="24" name="rule"/>
          <p:cNvSpPr/>
          <p:nvPr/>
        </p:nvSpPr>
        <p:spPr>
          <a:xfrm>
            <a:off x="3816096" y="2423160"/>
            <a:ext cx="0" cy="1280160"/>
          </a:xfrm>
          <a:prstGeom prst="line">
            <a:avLst/>
          </a:prstGeom>
          <a:noFill/>
          <a:ln w="25400">
            <a:solidFill>
              <a:srgbClr val="E6EAEE"/>
            </a:solidFill>
            <a:prstDash val="solid"/>
          </a:ln>
        </p:spPr>
      </p:sp>
      <p:sp>
        <p:nvSpPr>
          <p:cNvPr id="25" name="Text 22"/>
          <p:cNvSpPr txBox="1"/>
          <p:nvPr/>
        </p:nvSpPr>
        <p:spPr>
          <a:xfrm>
            <a:off x="3176016" y="4023360"/>
            <a:ext cx="1280160" cy="228600"/>
          </a:xfrm>
          <a:prstGeom prst="rect">
            <a:avLst/>
          </a:prstGeom>
          <a:noFill/>
          <a:ln/>
        </p:spPr>
        <p:txBody>
          <a:bodyPr wrap="square" lIns="0" tIns="0" rIns="0" bIns="0" rtlCol="0" anchor="ctr"/>
          <a:lstStyle/>
          <a:p>
            <a:pPr algn="ctr" indent="0" marL="0">
              <a:buNone/>
            </a:pPr>
            <a:r>
              <a:rPr lang="en-US" sz="1000" dirty="0">
                <a:solidFill>
                  <a:srgbClr val="E6EAEE"/>
                </a:solidFill>
                <a:latin typeface="Courier New" pitchFamily="34" charset="0"/>
                <a:ea typeface="Courier New" pitchFamily="34" charset="-122"/>
                <a:cs typeface="Courier New" pitchFamily="34" charset="-120"/>
              </a:rPr>
              <a:t>threshold 4.8</a:t>
            </a:r>
            <a:endParaRPr lang="en-US" sz="1000" dirty="0"/>
          </a:p>
        </p:txBody>
      </p:sp>
      <p:sp>
        <p:nvSpPr>
          <p:cNvPr id="26" name="rule"/>
          <p:cNvSpPr/>
          <p:nvPr/>
        </p:nvSpPr>
        <p:spPr>
          <a:xfrm>
            <a:off x="4738421" y="2743200"/>
            <a:ext cx="0" cy="822960"/>
          </a:xfrm>
          <a:prstGeom prst="line">
            <a:avLst/>
          </a:prstGeom>
          <a:noFill/>
          <a:ln w="25400">
            <a:solidFill>
              <a:srgbClr val="C9702D"/>
            </a:solidFill>
            <a:prstDash val="solid"/>
          </a:ln>
        </p:spPr>
      </p:sp>
      <p:sp>
        <p:nvSpPr>
          <p:cNvPr id="27" name="Text 24"/>
          <p:cNvSpPr txBox="1"/>
          <p:nvPr/>
        </p:nvSpPr>
        <p:spPr>
          <a:xfrm>
            <a:off x="3641141" y="4343400"/>
            <a:ext cx="1645920" cy="228600"/>
          </a:xfrm>
          <a:prstGeom prst="rect">
            <a:avLst/>
          </a:prstGeom>
          <a:noFill/>
          <a:ln/>
        </p:spPr>
        <p:txBody>
          <a:bodyPr wrap="square" lIns="0" tIns="0" rIns="0" bIns="0" rtlCol="0" anchor="ctr"/>
          <a:lstStyle/>
          <a:p>
            <a:pPr algn="ctr" indent="0" marL="0">
              <a:buNone/>
            </a:pPr>
            <a:r>
              <a:rPr lang="en-US" sz="1000" b="1" dirty="0">
                <a:solidFill>
                  <a:srgbClr val="C9702D"/>
                </a:solidFill>
                <a:latin typeface="Courier New" pitchFamily="34" charset="0"/>
                <a:ea typeface="Courier New" pitchFamily="34" charset="-122"/>
                <a:cs typeface="Courier New" pitchFamily="34" charset="-120"/>
              </a:rPr>
              <a:t>this tunnel: 5.69</a:t>
            </a:r>
            <a:endParaRPr lang="en-US" sz="1000" dirty="0"/>
          </a:p>
        </p:txBody>
      </p:sp>
      <p:sp>
        <p:nvSpPr>
          <p:cNvPr id="28" name="chip"/>
          <p:cNvSpPr/>
          <p:nvPr/>
        </p:nvSpPr>
        <p:spPr>
          <a:xfrm>
            <a:off x="777240" y="4709160"/>
            <a:ext cx="2103120" cy="310896"/>
          </a:xfrm>
          <a:prstGeom prst="rect">
            <a:avLst/>
          </a:prstGeom>
          <a:ln w="12700">
            <a:solidFill>
              <a:srgbClr val="C4403F"/>
            </a:solidFill>
            <a:prstDash val="solid"/>
          </a:ln>
        </p:spPr>
      </p:sp>
      <p:sp>
        <p:nvSpPr>
          <p:cNvPr id="29" name="Text 26"/>
          <p:cNvSpPr txBox="1"/>
          <p:nvPr/>
        </p:nvSpPr>
        <p:spPr>
          <a:xfrm>
            <a:off x="777240" y="4709160"/>
            <a:ext cx="2103120" cy="310896"/>
          </a:xfrm>
          <a:prstGeom prst="rect">
            <a:avLst/>
          </a:prstGeom>
          <a:noFill/>
          <a:ln/>
        </p:spPr>
        <p:txBody>
          <a:bodyPr wrap="square" lIns="0" tIns="0" rIns="0" bIns="0" rtlCol="0" anchor="ctr"/>
          <a:lstStyle/>
          <a:p>
            <a:pPr algn="ctr" indent="0" marL="0">
              <a:buNone/>
            </a:pPr>
            <a:r>
              <a:rPr lang="en-US" sz="1000" b="1" spc="100" kern="0" dirty="0">
                <a:solidFill>
                  <a:srgbClr val="C4403F"/>
                </a:solidFill>
                <a:latin typeface="Courier New" pitchFamily="34" charset="0"/>
                <a:ea typeface="Courier New" pitchFamily="34" charset="-122"/>
                <a:cs typeface="Courier New" pitchFamily="34" charset="-120"/>
              </a:rPr>
              <a:t>RULES ALONE: MISSED</a:t>
            </a:r>
            <a:endParaRPr lang="en-US" sz="1000" dirty="0"/>
          </a:p>
        </p:txBody>
      </p:sp>
      <p:sp>
        <p:nvSpPr>
          <p:cNvPr id="30" name="chip"/>
          <p:cNvSpPr/>
          <p:nvPr/>
        </p:nvSpPr>
        <p:spPr>
          <a:xfrm>
            <a:off x="3017520" y="4709160"/>
            <a:ext cx="2651760" cy="310896"/>
          </a:xfrm>
          <a:prstGeom prst="rect">
            <a:avLst/>
          </a:prstGeom>
          <a:ln w="12700">
            <a:solidFill>
              <a:srgbClr val="5A9E84"/>
            </a:solidFill>
            <a:prstDash val="solid"/>
          </a:ln>
        </p:spPr>
      </p:sp>
      <p:sp>
        <p:nvSpPr>
          <p:cNvPr id="31" name="Text 28"/>
          <p:cNvSpPr txBox="1"/>
          <p:nvPr/>
        </p:nvSpPr>
        <p:spPr>
          <a:xfrm>
            <a:off x="3017520" y="4709160"/>
            <a:ext cx="2651760" cy="310896"/>
          </a:xfrm>
          <a:prstGeom prst="rect">
            <a:avLst/>
          </a:prstGeom>
          <a:noFill/>
          <a:ln/>
        </p:spPr>
        <p:txBody>
          <a:bodyPr wrap="square" lIns="0" tIns="0" rIns="0" bIns="0" rtlCol="0" anchor="ctr"/>
          <a:lstStyle/>
          <a:p>
            <a:pPr algn="ctr" indent="0" marL="0">
              <a:buNone/>
            </a:pPr>
            <a:r>
              <a:rPr lang="en-US" sz="1000" b="1" spc="100" kern="0" dirty="0">
                <a:solidFill>
                  <a:srgbClr val="5A9E84"/>
                </a:solidFill>
                <a:latin typeface="Courier New" pitchFamily="34" charset="0"/>
                <a:ea typeface="Courier New" pitchFamily="34" charset="-122"/>
                <a:cs typeface="Courier New" pitchFamily="34" charset="-120"/>
              </a:rPr>
              <a:t>WITH N-GRAM: CAUGHT</a:t>
            </a:r>
            <a:endParaRPr lang="en-US" sz="1000" dirty="0"/>
          </a:p>
        </p:txBody>
      </p:sp>
      <p:sp>
        <p:nvSpPr>
          <p:cNvPr id="32" name="panel-head"/>
          <p:cNvSpPr/>
          <p:nvPr/>
        </p:nvSpPr>
        <p:spPr>
          <a:xfrm>
            <a:off x="6217920" y="1600200"/>
            <a:ext cx="5440680" cy="365760"/>
          </a:xfrm>
          <a:prstGeom prst="rect">
            <a:avLst/>
          </a:prstGeom>
          <a:solidFill>
            <a:srgbClr val="0A0C0F"/>
          </a:solidFill>
          <a:ln w="12700">
            <a:solidFill>
              <a:srgbClr val="232A31"/>
            </a:solidFill>
            <a:prstDash val="solid"/>
          </a:ln>
        </p:spPr>
      </p:sp>
      <p:sp>
        <p:nvSpPr>
          <p:cNvPr id="33" name="Text 30"/>
          <p:cNvSpPr txBox="1"/>
          <p:nvPr/>
        </p:nvSpPr>
        <p:spPr>
          <a:xfrm>
            <a:off x="6355080" y="1673352"/>
            <a:ext cx="5166360" cy="228600"/>
          </a:xfrm>
          <a:prstGeom prst="rect">
            <a:avLst/>
          </a:prstGeom>
          <a:noFill/>
          <a:ln/>
        </p:spPr>
        <p:txBody>
          <a:bodyPr wrap="square" lIns="0" tIns="0" rIns="0" bIns="0" rtlCol="0" anchor="ctr"/>
          <a:lstStyle/>
          <a:p>
            <a:pPr indent="0" marL="0">
              <a:buNone/>
            </a:pPr>
            <a:r>
              <a:rPr lang="en-US" sz="1000" b="1" spc="300" kern="0" dirty="0">
                <a:solidFill>
                  <a:srgbClr val="7B8794"/>
                </a:solidFill>
                <a:latin typeface="Courier New" pitchFamily="34" charset="0"/>
                <a:ea typeface="Courier New" pitchFamily="34" charset="-122"/>
                <a:cs typeface="Courier New" pitchFamily="34" charset="-120"/>
              </a:rPr>
              <a:t>ISOLATION FOREST  /  IS THIS NORMAL?</a:t>
            </a:r>
            <a:endParaRPr lang="en-US" sz="1000" dirty="0"/>
          </a:p>
        </p:txBody>
      </p:sp>
      <p:sp>
        <p:nvSpPr>
          <p:cNvPr id="34" name="panel"/>
          <p:cNvSpPr/>
          <p:nvPr/>
        </p:nvSpPr>
        <p:spPr>
          <a:xfrm>
            <a:off x="6217920" y="1965960"/>
            <a:ext cx="5440680" cy="3246120"/>
          </a:xfrm>
          <a:prstGeom prst="rect">
            <a:avLst/>
          </a:prstGeom>
          <a:solidFill>
            <a:srgbClr val="12161A"/>
          </a:solidFill>
          <a:ln w="12700">
            <a:solidFill>
              <a:srgbClr val="232A31"/>
            </a:solidFill>
            <a:prstDash val="solid"/>
          </a:ln>
        </p:spPr>
      </p:sp>
      <p:sp>
        <p:nvSpPr>
          <p:cNvPr id="35" name="Text 32"/>
          <p:cNvSpPr txBox="1"/>
          <p:nvPr/>
        </p:nvSpPr>
        <p:spPr>
          <a:xfrm>
            <a:off x="6446520" y="2194560"/>
            <a:ext cx="1645920" cy="320040"/>
          </a:xfrm>
          <a:prstGeom prst="rect">
            <a:avLst/>
          </a:prstGeom>
          <a:noFill/>
          <a:ln/>
        </p:spPr>
        <p:txBody>
          <a:bodyPr wrap="square" lIns="0" tIns="0" rIns="0" bIns="0" rtlCol="0" anchor="ctr"/>
          <a:lstStyle/>
          <a:p>
            <a:pPr indent="0" marL="0">
              <a:buNone/>
            </a:pPr>
            <a:r>
              <a:rPr lang="en-US" sz="1500" b="1" dirty="0">
                <a:solidFill>
                  <a:srgbClr val="5B8DB8"/>
                </a:solidFill>
                <a:latin typeface="Courier New" pitchFamily="34" charset="0"/>
                <a:ea typeface="Courier New" pitchFamily="34" charset="-122"/>
                <a:cs typeface="Courier New" pitchFamily="34" charset="-120"/>
              </a:rPr>
              <a:t>40 min</a:t>
            </a:r>
            <a:endParaRPr lang="en-US" sz="1500" dirty="0"/>
          </a:p>
        </p:txBody>
      </p:sp>
      <p:sp>
        <p:nvSpPr>
          <p:cNvPr id="36" name="Text 33"/>
          <p:cNvSpPr txBox="1"/>
          <p:nvPr/>
        </p:nvSpPr>
        <p:spPr>
          <a:xfrm>
            <a:off x="6446520" y="2560320"/>
            <a:ext cx="1600200" cy="64008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of normal browsing</a:t>
            </a:r>
            <a:endParaRPr lang="en-US" sz="1150" dirty="0"/>
          </a:p>
          <a:p>
            <a:pPr indent="0" marL="0">
              <a:buNone/>
            </a:pPr>
            <a:r>
              <a:rPr lang="en-US" sz="1150" dirty="0">
                <a:solidFill>
                  <a:srgbClr val="7B8794"/>
                </a:solidFill>
                <a:latin typeface="Calibri" pitchFamily="34" charset="0"/>
                <a:ea typeface="Calibri" pitchFamily="34" charset="-122"/>
                <a:cs typeface="Calibri" pitchFamily="34" charset="-120"/>
              </a:rPr>
              <a:t>by 3 devices</a:t>
            </a:r>
            <a:endParaRPr lang="en-US" sz="1150" dirty="0"/>
          </a:p>
        </p:txBody>
      </p:sp>
      <p:sp>
        <p:nvSpPr>
          <p:cNvPr id="37" name="arrow"/>
          <p:cNvSpPr/>
          <p:nvPr/>
        </p:nvSpPr>
        <p:spPr>
          <a:xfrm>
            <a:off x="7863840" y="2359152"/>
            <a:ext cx="320040" cy="0"/>
          </a:xfrm>
          <a:prstGeom prst="line">
            <a:avLst/>
          </a:prstGeom>
          <a:noFill/>
          <a:ln w="25400">
            <a:solidFill>
              <a:srgbClr val="4D5762"/>
            </a:solidFill>
            <a:prstDash val="solid"/>
            <a:tailEnd type="triangle"/>
          </a:ln>
        </p:spPr>
      </p:sp>
      <p:sp>
        <p:nvSpPr>
          <p:cNvPr id="38" name="Text 35"/>
          <p:cNvSpPr txBox="1"/>
          <p:nvPr/>
        </p:nvSpPr>
        <p:spPr>
          <a:xfrm>
            <a:off x="8229600" y="2194560"/>
            <a:ext cx="1645920" cy="320040"/>
          </a:xfrm>
          <a:prstGeom prst="rect">
            <a:avLst/>
          </a:prstGeom>
          <a:noFill/>
          <a:ln/>
        </p:spPr>
        <p:txBody>
          <a:bodyPr wrap="square" lIns="0" tIns="0" rIns="0" bIns="0" rtlCol="0" anchor="ctr"/>
          <a:lstStyle/>
          <a:p>
            <a:pPr indent="0" marL="0">
              <a:buNone/>
            </a:pPr>
            <a:r>
              <a:rPr lang="en-US" sz="1500" b="1" dirty="0">
                <a:solidFill>
                  <a:srgbClr val="5B8DB8"/>
                </a:solidFill>
                <a:latin typeface="Courier New" pitchFamily="34" charset="0"/>
                <a:ea typeface="Courier New" pitchFamily="34" charset="-122"/>
                <a:cs typeface="Courier New" pitchFamily="34" charset="-120"/>
              </a:rPr>
              <a:t>learns</a:t>
            </a:r>
            <a:endParaRPr lang="en-US" sz="1500" dirty="0"/>
          </a:p>
        </p:txBody>
      </p:sp>
      <p:sp>
        <p:nvSpPr>
          <p:cNvPr id="39" name="Text 36"/>
          <p:cNvSpPr txBox="1"/>
          <p:nvPr/>
        </p:nvSpPr>
        <p:spPr>
          <a:xfrm>
            <a:off x="8229600" y="2560320"/>
            <a:ext cx="1600200" cy="64008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what normal looks like</a:t>
            </a:r>
            <a:endParaRPr lang="en-US" sz="1150" dirty="0"/>
          </a:p>
          <a:p>
            <a:pPr indent="0" marL="0">
              <a:buNone/>
            </a:pPr>
            <a:r>
              <a:rPr lang="en-US" sz="1150" dirty="0">
                <a:solidFill>
                  <a:srgbClr val="7B8794"/>
                </a:solidFill>
                <a:latin typeface="Calibri" pitchFamily="34" charset="0"/>
                <a:ea typeface="Calibri" pitchFamily="34" charset="-122"/>
                <a:cs typeface="Calibri" pitchFamily="34" charset="-120"/>
              </a:rPr>
              <a:t>on this network</a:t>
            </a:r>
            <a:endParaRPr lang="en-US" sz="1150" dirty="0"/>
          </a:p>
        </p:txBody>
      </p:sp>
      <p:sp>
        <p:nvSpPr>
          <p:cNvPr id="40" name="arrow"/>
          <p:cNvSpPr/>
          <p:nvPr/>
        </p:nvSpPr>
        <p:spPr>
          <a:xfrm>
            <a:off x="9646920" y="2359152"/>
            <a:ext cx="320040" cy="0"/>
          </a:xfrm>
          <a:prstGeom prst="line">
            <a:avLst/>
          </a:prstGeom>
          <a:noFill/>
          <a:ln w="25400">
            <a:solidFill>
              <a:srgbClr val="4D5762"/>
            </a:solidFill>
            <a:prstDash val="solid"/>
            <a:tailEnd type="triangle"/>
          </a:ln>
        </p:spPr>
      </p:sp>
      <p:sp>
        <p:nvSpPr>
          <p:cNvPr id="41" name="Text 38"/>
          <p:cNvSpPr txBox="1"/>
          <p:nvPr/>
        </p:nvSpPr>
        <p:spPr>
          <a:xfrm>
            <a:off x="10012680" y="2194560"/>
            <a:ext cx="1645920" cy="320040"/>
          </a:xfrm>
          <a:prstGeom prst="rect">
            <a:avLst/>
          </a:prstGeom>
          <a:noFill/>
          <a:ln/>
        </p:spPr>
        <p:txBody>
          <a:bodyPr wrap="square" lIns="0" tIns="0" rIns="0" bIns="0" rtlCol="0" anchor="ctr"/>
          <a:lstStyle/>
          <a:p>
            <a:pPr indent="0" marL="0">
              <a:buNone/>
            </a:pPr>
            <a:r>
              <a:rPr lang="en-US" sz="1500" b="1" dirty="0">
                <a:solidFill>
                  <a:srgbClr val="C9702D"/>
                </a:solidFill>
                <a:latin typeface="Courier New" pitchFamily="34" charset="0"/>
                <a:ea typeface="Courier New" pitchFamily="34" charset="-122"/>
                <a:cs typeface="Courier New" pitchFamily="34" charset="-120"/>
              </a:rPr>
              <a:t>20 s upload</a:t>
            </a:r>
            <a:endParaRPr lang="en-US" sz="1500" dirty="0"/>
          </a:p>
        </p:txBody>
      </p:sp>
      <p:sp>
        <p:nvSpPr>
          <p:cNvPr id="42" name="Text 39"/>
          <p:cNvSpPr txBox="1"/>
          <p:nvPr/>
        </p:nvSpPr>
        <p:spPr>
          <a:xfrm>
            <a:off x="10012680" y="2560320"/>
            <a:ext cx="1600200" cy="640080"/>
          </a:xfrm>
          <a:prstGeom prst="rect">
            <a:avLst/>
          </a:prstGeom>
          <a:noFill/>
          <a:ln/>
        </p:spPr>
        <p:txBody>
          <a:bodyPr wrap="square" lIns="0" tIns="0" rIns="0" bIns="0" rtlCol="0" anchor="t"/>
          <a:lstStyle/>
          <a:p>
            <a:pPr indent="0" marL="0">
              <a:buNone/>
            </a:pPr>
            <a:r>
              <a:rPr lang="en-US" sz="1150" dirty="0">
                <a:solidFill>
                  <a:srgbClr val="7B8794"/>
                </a:solidFill>
                <a:latin typeface="Calibri" pitchFamily="34" charset="0"/>
                <a:ea typeface="Calibri" pitchFamily="34" charset="-122"/>
                <a:cs typeface="Calibri" pitchFamily="34" charset="-120"/>
              </a:rPr>
              <a:t>864 KB per 10 s,</a:t>
            </a:r>
            <a:endParaRPr lang="en-US" sz="1150" dirty="0"/>
          </a:p>
          <a:p>
            <a:pPr indent="0" marL="0">
              <a:buNone/>
            </a:pPr>
            <a:r>
              <a:rPr lang="en-US" sz="1150" dirty="0">
                <a:solidFill>
                  <a:srgbClr val="7B8794"/>
                </a:solidFill>
                <a:latin typeface="Calibri" pitchFamily="34" charset="0"/>
                <a:ea typeface="Calibri" pitchFamily="34" charset="-122"/>
                <a:cs typeface="Calibri" pitchFamily="34" charset="-120"/>
              </a:rPr>
              <a:t>one long connection</a:t>
            </a:r>
            <a:endParaRPr lang="en-US" sz="1150" dirty="0"/>
          </a:p>
        </p:txBody>
      </p:sp>
      <p:sp>
        <p:nvSpPr>
          <p:cNvPr id="43" name="rule"/>
          <p:cNvSpPr/>
          <p:nvPr/>
        </p:nvSpPr>
        <p:spPr>
          <a:xfrm>
            <a:off x="6446520" y="3429000"/>
            <a:ext cx="4983480" cy="0"/>
          </a:xfrm>
          <a:prstGeom prst="line">
            <a:avLst/>
          </a:prstGeom>
          <a:noFill/>
          <a:ln w="12700">
            <a:solidFill>
              <a:srgbClr val="232A31"/>
            </a:solidFill>
            <a:prstDash val="solid"/>
          </a:ln>
        </p:spPr>
      </p:sp>
      <p:sp>
        <p:nvSpPr>
          <p:cNvPr id="44" name="Text 41"/>
          <p:cNvSpPr txBox="1"/>
          <p:nvPr/>
        </p:nvSpPr>
        <p:spPr>
          <a:xfrm>
            <a:off x="6446520" y="3520440"/>
            <a:ext cx="4572000" cy="228600"/>
          </a:xfrm>
          <a:prstGeom prst="rect">
            <a:avLst/>
          </a:prstGeom>
          <a:noFill/>
          <a:ln/>
        </p:spPr>
        <p:txBody>
          <a:bodyPr wrap="square" lIns="0" tIns="0" rIns="0" bIns="0" rtlCol="0" anchor="ctr"/>
          <a:lstStyle/>
          <a:p>
            <a:pPr indent="0" marL="0">
              <a:buNone/>
            </a:pPr>
            <a:r>
              <a:rPr lang="en-US" sz="1000" dirty="0">
                <a:solidFill>
                  <a:srgbClr val="7B8794"/>
                </a:solidFill>
                <a:latin typeface="Courier New" pitchFamily="34" charset="0"/>
                <a:ea typeface="Courier New" pitchFamily="34" charset="-122"/>
                <a:cs typeface="Courier New" pitchFamily="34" charset="-120"/>
              </a:rPr>
              <a:t>bytes out in one 10 s window</a:t>
            </a:r>
            <a:endParaRPr lang="en-US" sz="1000" dirty="0"/>
          </a:p>
        </p:txBody>
      </p:sp>
      <p:sp>
        <p:nvSpPr>
          <p:cNvPr id="45" name="bar-normal"/>
          <p:cNvSpPr/>
          <p:nvPr/>
        </p:nvSpPr>
        <p:spPr>
          <a:xfrm>
            <a:off x="6446520" y="3840480"/>
            <a:ext cx="146304" cy="310896"/>
          </a:xfrm>
          <a:prstGeom prst="rect">
            <a:avLst/>
          </a:prstGeom>
          <a:solidFill>
            <a:srgbClr val="5B8DB8"/>
          </a:solidFill>
          <a:ln/>
        </p:spPr>
      </p:sp>
      <p:sp>
        <p:nvSpPr>
          <p:cNvPr id="46" name="Text 43"/>
          <p:cNvSpPr txBox="1"/>
          <p:nvPr/>
        </p:nvSpPr>
        <p:spPr>
          <a:xfrm>
            <a:off x="6720840" y="3840480"/>
            <a:ext cx="4572000" cy="310896"/>
          </a:xfrm>
          <a:prstGeom prst="rect">
            <a:avLst/>
          </a:prstGeom>
          <a:noFill/>
          <a:ln/>
        </p:spPr>
        <p:txBody>
          <a:bodyPr wrap="square" lIns="0" tIns="0" rIns="0" bIns="0" rtlCol="0" anchor="ctr"/>
          <a:lstStyle/>
          <a:p>
            <a:pPr indent="0" marL="0">
              <a:buNone/>
            </a:pPr>
            <a:r>
              <a:rPr lang="en-US" sz="1100" dirty="0">
                <a:solidFill>
                  <a:srgbClr val="7B8794"/>
                </a:solidFill>
                <a:latin typeface="Courier New" pitchFamily="34" charset="0"/>
                <a:ea typeface="Courier New" pitchFamily="34" charset="-122"/>
                <a:cs typeface="Courier New" pitchFamily="34" charset="-120"/>
              </a:rPr>
              <a:t>largest ever seen: about 3,300 B</a:t>
            </a:r>
            <a:endParaRPr lang="en-US" sz="1100" dirty="0"/>
          </a:p>
        </p:txBody>
      </p:sp>
      <p:sp>
        <p:nvSpPr>
          <p:cNvPr id="47" name="bar-upload"/>
          <p:cNvSpPr/>
          <p:nvPr/>
        </p:nvSpPr>
        <p:spPr>
          <a:xfrm>
            <a:off x="6446520" y="4251960"/>
            <a:ext cx="4983480" cy="310896"/>
          </a:xfrm>
          <a:prstGeom prst="rect">
            <a:avLst/>
          </a:prstGeom>
          <a:solidFill>
            <a:srgbClr val="C9702D"/>
          </a:solidFill>
          <a:ln/>
        </p:spPr>
      </p:sp>
      <p:sp>
        <p:nvSpPr>
          <p:cNvPr id="48" name="Text 45"/>
          <p:cNvSpPr txBox="1"/>
          <p:nvPr/>
        </p:nvSpPr>
        <p:spPr>
          <a:xfrm>
            <a:off x="6537960" y="4251960"/>
            <a:ext cx="4754880" cy="310896"/>
          </a:xfrm>
          <a:prstGeom prst="rect">
            <a:avLst/>
          </a:prstGeom>
          <a:noFill/>
          <a:ln/>
        </p:spPr>
        <p:txBody>
          <a:bodyPr wrap="square" lIns="0" tIns="0" rIns="0" bIns="0" rtlCol="0" anchor="ctr"/>
          <a:lstStyle/>
          <a:p>
            <a:pPr indent="0" marL="0">
              <a:buNone/>
            </a:pPr>
            <a:r>
              <a:rPr lang="en-US" sz="1100" b="1" dirty="0">
                <a:solidFill>
                  <a:srgbClr val="0D1013"/>
                </a:solidFill>
                <a:latin typeface="Courier New" pitchFamily="34" charset="0"/>
                <a:ea typeface="Courier New" pitchFamily="34" charset="-122"/>
                <a:cs typeface="Courier New" pitchFamily="34" charset="-120"/>
              </a:rPr>
              <a:t>the upload: 863,784 B  =  263x</a:t>
            </a:r>
            <a:endParaRPr lang="en-US" sz="1100" dirty="0"/>
          </a:p>
        </p:txBody>
      </p:sp>
      <p:sp>
        <p:nvSpPr>
          <p:cNvPr id="49" name="chip"/>
          <p:cNvSpPr/>
          <p:nvPr/>
        </p:nvSpPr>
        <p:spPr>
          <a:xfrm>
            <a:off x="6446520" y="4709160"/>
            <a:ext cx="2103120" cy="310896"/>
          </a:xfrm>
          <a:prstGeom prst="rect">
            <a:avLst/>
          </a:prstGeom>
          <a:ln w="12700">
            <a:solidFill>
              <a:srgbClr val="C4403F"/>
            </a:solidFill>
            <a:prstDash val="solid"/>
          </a:ln>
        </p:spPr>
      </p:sp>
      <p:sp>
        <p:nvSpPr>
          <p:cNvPr id="50" name="Text 47"/>
          <p:cNvSpPr txBox="1"/>
          <p:nvPr/>
        </p:nvSpPr>
        <p:spPr>
          <a:xfrm>
            <a:off x="6446520" y="4709160"/>
            <a:ext cx="2103120" cy="310896"/>
          </a:xfrm>
          <a:prstGeom prst="rect">
            <a:avLst/>
          </a:prstGeom>
          <a:noFill/>
          <a:ln/>
        </p:spPr>
        <p:txBody>
          <a:bodyPr wrap="square" lIns="0" tIns="0" rIns="0" bIns="0" rtlCol="0" anchor="ctr"/>
          <a:lstStyle/>
          <a:p>
            <a:pPr algn="ctr" indent="0" marL="0">
              <a:buNone/>
            </a:pPr>
            <a:r>
              <a:rPr lang="en-US" sz="1000" b="1" spc="100" kern="0" dirty="0">
                <a:solidFill>
                  <a:srgbClr val="C4403F"/>
                </a:solidFill>
                <a:latin typeface="Courier New" pitchFamily="34" charset="0"/>
                <a:ea typeface="Courier New" pitchFamily="34" charset="-122"/>
                <a:cs typeface="Courier New" pitchFamily="34" charset="-120"/>
              </a:rPr>
              <a:t>RULES ALONE: MISSED</a:t>
            </a:r>
            <a:endParaRPr lang="en-US" sz="1000" dirty="0"/>
          </a:p>
        </p:txBody>
      </p:sp>
      <p:sp>
        <p:nvSpPr>
          <p:cNvPr id="51" name="chip"/>
          <p:cNvSpPr/>
          <p:nvPr/>
        </p:nvSpPr>
        <p:spPr>
          <a:xfrm>
            <a:off x="8686800" y="4709160"/>
            <a:ext cx="2651760" cy="310896"/>
          </a:xfrm>
          <a:prstGeom prst="rect">
            <a:avLst/>
          </a:prstGeom>
          <a:ln w="12700">
            <a:solidFill>
              <a:srgbClr val="5A9E84"/>
            </a:solidFill>
            <a:prstDash val="solid"/>
          </a:ln>
        </p:spPr>
      </p:sp>
      <p:sp>
        <p:nvSpPr>
          <p:cNvPr id="52" name="Text 49"/>
          <p:cNvSpPr txBox="1"/>
          <p:nvPr/>
        </p:nvSpPr>
        <p:spPr>
          <a:xfrm>
            <a:off x="8686800" y="4709160"/>
            <a:ext cx="2651760" cy="310896"/>
          </a:xfrm>
          <a:prstGeom prst="rect">
            <a:avLst/>
          </a:prstGeom>
          <a:noFill/>
          <a:ln/>
        </p:spPr>
        <p:txBody>
          <a:bodyPr wrap="square" lIns="0" tIns="0" rIns="0" bIns="0" rtlCol="0" anchor="ctr"/>
          <a:lstStyle/>
          <a:p>
            <a:pPr algn="ctr" indent="0" marL="0">
              <a:buNone/>
            </a:pPr>
            <a:r>
              <a:rPr lang="en-US" sz="1000" b="1" spc="100" kern="0" dirty="0">
                <a:solidFill>
                  <a:srgbClr val="5A9E84"/>
                </a:solidFill>
                <a:latin typeface="Courier New" pitchFamily="34" charset="0"/>
                <a:ea typeface="Courier New" pitchFamily="34" charset="-122"/>
                <a:cs typeface="Courier New" pitchFamily="34" charset="-120"/>
              </a:rPr>
              <a:t>WITH FOREST: CAUGHT</a:t>
            </a:r>
            <a:endParaRPr lang="en-US" sz="1000" dirty="0"/>
          </a:p>
        </p:txBody>
      </p:sp>
      <p:sp>
        <p:nvSpPr>
          <p:cNvPr id="53" name="honest"/>
          <p:cNvSpPr/>
          <p:nvPr/>
        </p:nvSpPr>
        <p:spPr>
          <a:xfrm>
            <a:off x="548640" y="5440680"/>
            <a:ext cx="11109960" cy="731520"/>
          </a:xfrm>
          <a:prstGeom prst="rect">
            <a:avLst/>
          </a:prstGeom>
          <a:solidFill>
            <a:srgbClr val="181D22"/>
          </a:solidFill>
          <a:ln w="12700">
            <a:solidFill>
              <a:srgbClr val="2F3943"/>
            </a:solidFill>
            <a:prstDash val="solid"/>
          </a:ln>
        </p:spPr>
      </p:sp>
      <p:sp>
        <p:nvSpPr>
          <p:cNvPr id="54" name="honest-edge"/>
          <p:cNvSpPr/>
          <p:nvPr/>
        </p:nvSpPr>
        <p:spPr>
          <a:xfrm>
            <a:off x="548640" y="5440680"/>
            <a:ext cx="73152" cy="731520"/>
          </a:xfrm>
          <a:prstGeom prst="rect">
            <a:avLst/>
          </a:prstGeom>
          <a:solidFill>
            <a:srgbClr val="B8993B"/>
          </a:solidFill>
          <a:ln/>
        </p:spPr>
      </p:sp>
      <p:sp>
        <p:nvSpPr>
          <p:cNvPr id="55" name="Text 52"/>
          <p:cNvSpPr txBox="1"/>
          <p:nvPr/>
        </p:nvSpPr>
        <p:spPr>
          <a:xfrm>
            <a:off x="868680" y="5440680"/>
            <a:ext cx="10607040" cy="731520"/>
          </a:xfrm>
          <a:prstGeom prst="rect">
            <a:avLst/>
          </a:prstGeom>
          <a:noFill/>
          <a:ln/>
        </p:spPr>
        <p:txBody>
          <a:bodyPr wrap="square" lIns="0" tIns="0" rIns="0" bIns="0" rtlCol="0" anchor="ctr"/>
          <a:lstStyle/>
          <a:p>
            <a:pPr indent="0" marL="0">
              <a:buNone/>
            </a:pPr>
            <a:r>
              <a:rPr lang="en-US" sz="1350" b="1" dirty="0">
                <a:solidFill>
                  <a:srgbClr val="B8993B"/>
                </a:solidFill>
                <a:latin typeface="Calibri" pitchFamily="34" charset="0"/>
                <a:ea typeface="Calibri" pitchFamily="34" charset="-122"/>
                <a:cs typeface="Calibri" pitchFamily="34" charset="-120"/>
              </a:rPr>
              <a:t>Measured on synthetic traffic only. </a:t>
            </a:r>
            <a:pPr indent="0" marL="0">
              <a:buNone/>
            </a:pPr>
            <a:r>
              <a:rPr lang="en-US" sz="1350" dirty="0">
                <a:solidFill>
                  <a:srgbClr val="CBD2D9"/>
                </a:solidFill>
                <a:latin typeface="Calibri" pitchFamily="34" charset="0"/>
                <a:ea typeface="Calibri" pitchFamily="34" charset="-122"/>
                <a:cs typeface="Calibri" pitchFamily="34" charset="-120"/>
              </a:rPr>
              <a:t>Both are on by default and switchable. Normal traffic raised nothing in the 12-network benign test; the false-alarm rate on a real network is not yet known.</a:t>
            </a:r>
            <a:endParaRPr lang="en-US" sz="135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Tested live: all four attacks caught, the control stayed quiet</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11  /  MEASURED, NOT CLAIMED</a:t>
            </a:r>
            <a:endParaRPr lang="en-US" sz="1100" dirty="0"/>
          </a:p>
        </p:txBody>
      </p:sp>
      <p:sp>
        <p:nvSpPr>
          <p:cNvPr id="5" name="Text 2"/>
          <p:cNvSpPr txBox="1"/>
          <p:nvPr/>
        </p:nvSpPr>
        <p:spPr>
          <a:xfrm>
            <a:off x="548640" y="1645920"/>
            <a:ext cx="8229600" cy="274320"/>
          </a:xfrm>
          <a:prstGeom prst="rect">
            <a:avLst/>
          </a:prstGeom>
          <a:noFill/>
          <a:ln/>
        </p:spPr>
        <p:txBody>
          <a:bodyPr wrap="square" lIns="0" tIns="0" rIns="0" bIns="0" rtlCol="0" anchor="ctr"/>
          <a:lstStyle/>
          <a:p>
            <a:pPr indent="0" marL="0">
              <a:buNone/>
            </a:pPr>
            <a:r>
              <a:rPr lang="en-US" sz="1100" b="1" spc="200" kern="0" dirty="0">
                <a:solidFill>
                  <a:srgbClr val="7B8794"/>
                </a:solidFill>
                <a:latin typeface="Courier New" pitchFamily="34" charset="0"/>
                <a:ea typeface="Courier New" pitchFamily="34" charset="-122"/>
                <a:cs typeface="Courier New" pitchFamily="34" charset="-120"/>
              </a:rPr>
              <a:t>SECONDS FROM ATTACK START TO ALERT  (live, loopback, 10 s window)</a:t>
            </a:r>
            <a:endParaRPr lang="en-US" sz="1100" dirty="0"/>
          </a:p>
        </p:txBody>
      </p:sp>
      <p:sp>
        <p:nvSpPr>
          <p:cNvPr id="6" name="Text 3"/>
          <p:cNvSpPr txBox="1"/>
          <p:nvPr/>
        </p:nvSpPr>
        <p:spPr>
          <a:xfrm>
            <a:off x="548640" y="2103120"/>
            <a:ext cx="1828800" cy="548640"/>
          </a:xfrm>
          <a:prstGeom prst="rect">
            <a:avLst/>
          </a:prstGeom>
          <a:noFill/>
          <a:ln/>
        </p:spPr>
        <p:txBody>
          <a:bodyPr wrap="square" lIns="0" tIns="0" rIns="0" bIns="0" rtlCol="0" anchor="ctr"/>
          <a:lstStyle/>
          <a:p>
            <a:pPr indent="0" marL="0">
              <a:buNone/>
            </a:pPr>
            <a:r>
              <a:rPr lang="en-US" sz="1700" b="1" dirty="0">
                <a:solidFill>
                  <a:srgbClr val="E6EAEE"/>
                </a:solidFill>
                <a:latin typeface="Calibri" pitchFamily="34" charset="0"/>
                <a:ea typeface="Calibri" pitchFamily="34" charset="-122"/>
                <a:cs typeface="Calibri" pitchFamily="34" charset="-120"/>
              </a:rPr>
              <a:t>DNS tunnel</a:t>
            </a:r>
            <a:endParaRPr lang="en-US" sz="1700" dirty="0"/>
          </a:p>
        </p:txBody>
      </p:sp>
      <p:sp>
        <p:nvSpPr>
          <p:cNvPr id="7" name="track"/>
          <p:cNvSpPr/>
          <p:nvPr/>
        </p:nvSpPr>
        <p:spPr>
          <a:xfrm>
            <a:off x="2468880" y="2148840"/>
            <a:ext cx="5120640" cy="457200"/>
          </a:xfrm>
          <a:prstGeom prst="rect">
            <a:avLst/>
          </a:prstGeom>
          <a:solidFill>
            <a:srgbClr val="12161A"/>
          </a:solidFill>
          <a:ln w="12700">
            <a:solidFill>
              <a:srgbClr val="232A31"/>
            </a:solidFill>
            <a:prstDash val="solid"/>
          </a:ln>
        </p:spPr>
      </p:sp>
      <p:sp>
        <p:nvSpPr>
          <p:cNvPr id="8" name="bar"/>
          <p:cNvSpPr/>
          <p:nvPr/>
        </p:nvSpPr>
        <p:spPr>
          <a:xfrm>
            <a:off x="2468880" y="2148840"/>
            <a:ext cx="544068" cy="457200"/>
          </a:xfrm>
          <a:prstGeom prst="rect">
            <a:avLst/>
          </a:prstGeom>
          <a:solidFill>
            <a:srgbClr val="C4403F"/>
          </a:solidFill>
          <a:ln/>
        </p:spPr>
      </p:sp>
      <p:sp>
        <p:nvSpPr>
          <p:cNvPr id="9" name="Text 6"/>
          <p:cNvSpPr txBox="1"/>
          <p:nvPr/>
        </p:nvSpPr>
        <p:spPr>
          <a:xfrm>
            <a:off x="3122676" y="2148840"/>
            <a:ext cx="914400" cy="457200"/>
          </a:xfrm>
          <a:prstGeom prst="rect">
            <a:avLst/>
          </a:prstGeom>
          <a:noFill/>
          <a:ln/>
        </p:spPr>
        <p:txBody>
          <a:bodyPr wrap="square" lIns="0" tIns="0" rIns="0" bIns="0" rtlCol="0" anchor="ctr"/>
          <a:lstStyle/>
          <a:p>
            <a:pPr indent="0" marL="0">
              <a:buNone/>
            </a:pPr>
            <a:r>
              <a:rPr lang="en-US" sz="1500" b="1" dirty="0">
                <a:solidFill>
                  <a:srgbClr val="E6EAEE"/>
                </a:solidFill>
                <a:latin typeface="Courier New" pitchFamily="34" charset="0"/>
                <a:ea typeface="Courier New" pitchFamily="34" charset="-122"/>
                <a:cs typeface="Courier New" pitchFamily="34" charset="-120"/>
              </a:rPr>
              <a:t>1.7 s</a:t>
            </a:r>
            <a:endParaRPr lang="en-US" sz="1500" dirty="0"/>
          </a:p>
        </p:txBody>
      </p:sp>
      <p:sp>
        <p:nvSpPr>
          <p:cNvPr id="10" name="Text 7"/>
          <p:cNvSpPr txBox="1"/>
          <p:nvPr/>
        </p:nvSpPr>
        <p:spPr>
          <a:xfrm>
            <a:off x="548640" y="2971800"/>
            <a:ext cx="1828800" cy="548640"/>
          </a:xfrm>
          <a:prstGeom prst="rect">
            <a:avLst/>
          </a:prstGeom>
          <a:noFill/>
          <a:ln/>
        </p:spPr>
        <p:txBody>
          <a:bodyPr wrap="square" lIns="0" tIns="0" rIns="0" bIns="0" rtlCol="0" anchor="ctr"/>
          <a:lstStyle/>
          <a:p>
            <a:pPr indent="0" marL="0">
              <a:buNone/>
            </a:pPr>
            <a:r>
              <a:rPr lang="en-US" sz="1700" b="1" dirty="0">
                <a:solidFill>
                  <a:srgbClr val="E6EAEE"/>
                </a:solidFill>
                <a:latin typeface="Calibri" pitchFamily="34" charset="0"/>
                <a:ea typeface="Calibri" pitchFamily="34" charset="-122"/>
                <a:cs typeface="Calibri" pitchFamily="34" charset="-120"/>
              </a:rPr>
              <a:t>Brute force</a:t>
            </a:r>
            <a:endParaRPr lang="en-US" sz="1700" dirty="0"/>
          </a:p>
        </p:txBody>
      </p:sp>
      <p:sp>
        <p:nvSpPr>
          <p:cNvPr id="11" name="track"/>
          <p:cNvSpPr/>
          <p:nvPr/>
        </p:nvSpPr>
        <p:spPr>
          <a:xfrm>
            <a:off x="2468880" y="3017520"/>
            <a:ext cx="5120640" cy="457200"/>
          </a:xfrm>
          <a:prstGeom prst="rect">
            <a:avLst/>
          </a:prstGeom>
          <a:solidFill>
            <a:srgbClr val="12161A"/>
          </a:solidFill>
          <a:ln w="12700">
            <a:solidFill>
              <a:srgbClr val="232A31"/>
            </a:solidFill>
            <a:prstDash val="solid"/>
          </a:ln>
        </p:spPr>
      </p:sp>
      <p:sp>
        <p:nvSpPr>
          <p:cNvPr id="12" name="bar"/>
          <p:cNvSpPr/>
          <p:nvPr/>
        </p:nvSpPr>
        <p:spPr>
          <a:xfrm>
            <a:off x="2468880" y="3017520"/>
            <a:ext cx="2720340" cy="457200"/>
          </a:xfrm>
          <a:prstGeom prst="rect">
            <a:avLst/>
          </a:prstGeom>
          <a:solidFill>
            <a:srgbClr val="C4403F"/>
          </a:solidFill>
          <a:ln/>
        </p:spPr>
      </p:sp>
      <p:sp>
        <p:nvSpPr>
          <p:cNvPr id="13" name="Text 10"/>
          <p:cNvSpPr txBox="1"/>
          <p:nvPr/>
        </p:nvSpPr>
        <p:spPr>
          <a:xfrm>
            <a:off x="5298948" y="3017520"/>
            <a:ext cx="914400" cy="457200"/>
          </a:xfrm>
          <a:prstGeom prst="rect">
            <a:avLst/>
          </a:prstGeom>
          <a:noFill/>
          <a:ln/>
        </p:spPr>
        <p:txBody>
          <a:bodyPr wrap="square" lIns="0" tIns="0" rIns="0" bIns="0" rtlCol="0" anchor="ctr"/>
          <a:lstStyle/>
          <a:p>
            <a:pPr indent="0" marL="0">
              <a:buNone/>
            </a:pPr>
            <a:r>
              <a:rPr lang="en-US" sz="1500" b="1" dirty="0">
                <a:solidFill>
                  <a:srgbClr val="E6EAEE"/>
                </a:solidFill>
                <a:latin typeface="Courier New" pitchFamily="34" charset="0"/>
                <a:ea typeface="Courier New" pitchFamily="34" charset="-122"/>
                <a:cs typeface="Courier New" pitchFamily="34" charset="-120"/>
              </a:rPr>
              <a:t>8.5 s</a:t>
            </a:r>
            <a:endParaRPr lang="en-US" sz="1500" dirty="0"/>
          </a:p>
        </p:txBody>
      </p:sp>
      <p:sp>
        <p:nvSpPr>
          <p:cNvPr id="14" name="Text 11"/>
          <p:cNvSpPr txBox="1"/>
          <p:nvPr/>
        </p:nvSpPr>
        <p:spPr>
          <a:xfrm>
            <a:off x="548640" y="3840480"/>
            <a:ext cx="1828800" cy="548640"/>
          </a:xfrm>
          <a:prstGeom prst="rect">
            <a:avLst/>
          </a:prstGeom>
          <a:noFill/>
          <a:ln/>
        </p:spPr>
        <p:txBody>
          <a:bodyPr wrap="square" lIns="0" tIns="0" rIns="0" bIns="0" rtlCol="0" anchor="ctr"/>
          <a:lstStyle/>
          <a:p>
            <a:pPr indent="0" marL="0">
              <a:buNone/>
            </a:pPr>
            <a:r>
              <a:rPr lang="en-US" sz="1700" b="1" dirty="0">
                <a:solidFill>
                  <a:srgbClr val="E6EAEE"/>
                </a:solidFill>
                <a:latin typeface="Calibri" pitchFamily="34" charset="0"/>
                <a:ea typeface="Calibri" pitchFamily="34" charset="-122"/>
                <a:cs typeface="Calibri" pitchFamily="34" charset="-120"/>
              </a:rPr>
              <a:t>Port scan</a:t>
            </a:r>
            <a:endParaRPr lang="en-US" sz="1700" dirty="0"/>
          </a:p>
        </p:txBody>
      </p:sp>
      <p:sp>
        <p:nvSpPr>
          <p:cNvPr id="15" name="track"/>
          <p:cNvSpPr/>
          <p:nvPr/>
        </p:nvSpPr>
        <p:spPr>
          <a:xfrm>
            <a:off x="2468880" y="3886200"/>
            <a:ext cx="5120640" cy="457200"/>
          </a:xfrm>
          <a:prstGeom prst="rect">
            <a:avLst/>
          </a:prstGeom>
          <a:solidFill>
            <a:srgbClr val="12161A"/>
          </a:solidFill>
          <a:ln w="12700">
            <a:solidFill>
              <a:srgbClr val="232A31"/>
            </a:solidFill>
            <a:prstDash val="solid"/>
          </a:ln>
        </p:spPr>
      </p:sp>
      <p:sp>
        <p:nvSpPr>
          <p:cNvPr id="16" name="bar"/>
          <p:cNvSpPr/>
          <p:nvPr/>
        </p:nvSpPr>
        <p:spPr>
          <a:xfrm>
            <a:off x="2468880" y="3886200"/>
            <a:ext cx="2848356" cy="457200"/>
          </a:xfrm>
          <a:prstGeom prst="rect">
            <a:avLst/>
          </a:prstGeom>
          <a:solidFill>
            <a:srgbClr val="C4403F"/>
          </a:solidFill>
          <a:ln/>
        </p:spPr>
      </p:sp>
      <p:sp>
        <p:nvSpPr>
          <p:cNvPr id="17" name="Text 14"/>
          <p:cNvSpPr txBox="1"/>
          <p:nvPr/>
        </p:nvSpPr>
        <p:spPr>
          <a:xfrm>
            <a:off x="5426964" y="3886200"/>
            <a:ext cx="914400" cy="457200"/>
          </a:xfrm>
          <a:prstGeom prst="rect">
            <a:avLst/>
          </a:prstGeom>
          <a:noFill/>
          <a:ln/>
        </p:spPr>
        <p:txBody>
          <a:bodyPr wrap="square" lIns="0" tIns="0" rIns="0" bIns="0" rtlCol="0" anchor="ctr"/>
          <a:lstStyle/>
          <a:p>
            <a:pPr indent="0" marL="0">
              <a:buNone/>
            </a:pPr>
            <a:r>
              <a:rPr lang="en-US" sz="1500" b="1" dirty="0">
                <a:solidFill>
                  <a:srgbClr val="E6EAEE"/>
                </a:solidFill>
                <a:latin typeface="Courier New" pitchFamily="34" charset="0"/>
                <a:ea typeface="Courier New" pitchFamily="34" charset="-122"/>
                <a:cs typeface="Courier New" pitchFamily="34" charset="-120"/>
              </a:rPr>
              <a:t>8.9 s</a:t>
            </a:r>
            <a:endParaRPr lang="en-US" sz="1500" dirty="0"/>
          </a:p>
        </p:txBody>
      </p:sp>
      <p:sp>
        <p:nvSpPr>
          <p:cNvPr id="18" name="Text 15"/>
          <p:cNvSpPr txBox="1"/>
          <p:nvPr/>
        </p:nvSpPr>
        <p:spPr>
          <a:xfrm>
            <a:off x="548640" y="4709160"/>
            <a:ext cx="1828800" cy="548640"/>
          </a:xfrm>
          <a:prstGeom prst="rect">
            <a:avLst/>
          </a:prstGeom>
          <a:noFill/>
          <a:ln/>
        </p:spPr>
        <p:txBody>
          <a:bodyPr wrap="square" lIns="0" tIns="0" rIns="0" bIns="0" rtlCol="0" anchor="ctr"/>
          <a:lstStyle/>
          <a:p>
            <a:pPr indent="0" marL="0">
              <a:buNone/>
            </a:pPr>
            <a:r>
              <a:rPr lang="en-US" sz="1700" b="1" dirty="0">
                <a:solidFill>
                  <a:srgbClr val="E6EAEE"/>
                </a:solidFill>
                <a:latin typeface="Calibri" pitchFamily="34" charset="0"/>
                <a:ea typeface="Calibri" pitchFamily="34" charset="-122"/>
                <a:cs typeface="Calibri" pitchFamily="34" charset="-120"/>
              </a:rPr>
              <a:t>Beaconing</a:t>
            </a:r>
            <a:endParaRPr lang="en-US" sz="1700" dirty="0"/>
          </a:p>
        </p:txBody>
      </p:sp>
      <p:sp>
        <p:nvSpPr>
          <p:cNvPr id="19" name="track"/>
          <p:cNvSpPr/>
          <p:nvPr/>
        </p:nvSpPr>
        <p:spPr>
          <a:xfrm>
            <a:off x="2468880" y="4754880"/>
            <a:ext cx="5120640" cy="457200"/>
          </a:xfrm>
          <a:prstGeom prst="rect">
            <a:avLst/>
          </a:prstGeom>
          <a:solidFill>
            <a:srgbClr val="12161A"/>
          </a:solidFill>
          <a:ln w="12700">
            <a:solidFill>
              <a:srgbClr val="232A31"/>
            </a:solidFill>
            <a:prstDash val="solid"/>
          </a:ln>
        </p:spPr>
      </p:sp>
      <p:sp>
        <p:nvSpPr>
          <p:cNvPr id="20" name="bar"/>
          <p:cNvSpPr/>
          <p:nvPr/>
        </p:nvSpPr>
        <p:spPr>
          <a:xfrm>
            <a:off x="2468880" y="4754880"/>
            <a:ext cx="3872484" cy="457200"/>
          </a:xfrm>
          <a:prstGeom prst="rect">
            <a:avLst/>
          </a:prstGeom>
          <a:solidFill>
            <a:srgbClr val="C4403F"/>
          </a:solidFill>
          <a:ln/>
        </p:spPr>
      </p:sp>
      <p:sp>
        <p:nvSpPr>
          <p:cNvPr id="21" name="Text 18"/>
          <p:cNvSpPr txBox="1"/>
          <p:nvPr/>
        </p:nvSpPr>
        <p:spPr>
          <a:xfrm>
            <a:off x="6451092" y="4754880"/>
            <a:ext cx="914400" cy="457200"/>
          </a:xfrm>
          <a:prstGeom prst="rect">
            <a:avLst/>
          </a:prstGeom>
          <a:noFill/>
          <a:ln/>
        </p:spPr>
        <p:txBody>
          <a:bodyPr wrap="square" lIns="0" tIns="0" rIns="0" bIns="0" rtlCol="0" anchor="ctr"/>
          <a:lstStyle/>
          <a:p>
            <a:pPr indent="0" marL="0">
              <a:buNone/>
            </a:pPr>
            <a:r>
              <a:rPr lang="en-US" sz="1500" b="1" dirty="0">
                <a:solidFill>
                  <a:srgbClr val="E6EAEE"/>
                </a:solidFill>
                <a:latin typeface="Courier New" pitchFamily="34" charset="0"/>
                <a:ea typeface="Courier New" pitchFamily="34" charset="-122"/>
                <a:cs typeface="Courier New" pitchFamily="34" charset="-120"/>
              </a:rPr>
              <a:t>12.1 s</a:t>
            </a:r>
            <a:endParaRPr lang="en-US" sz="1500" dirty="0"/>
          </a:p>
        </p:txBody>
      </p:sp>
      <p:sp>
        <p:nvSpPr>
          <p:cNvPr id="22" name="rule"/>
          <p:cNvSpPr/>
          <p:nvPr/>
        </p:nvSpPr>
        <p:spPr>
          <a:xfrm>
            <a:off x="2468880" y="5623560"/>
            <a:ext cx="5120640" cy="0"/>
          </a:xfrm>
          <a:prstGeom prst="line">
            <a:avLst/>
          </a:prstGeom>
          <a:noFill/>
          <a:ln w="12700">
            <a:solidFill>
              <a:srgbClr val="2F3943"/>
            </a:solidFill>
            <a:prstDash val="solid"/>
          </a:ln>
        </p:spPr>
      </p:sp>
      <p:sp>
        <p:nvSpPr>
          <p:cNvPr id="23" name="Text 20"/>
          <p:cNvSpPr txBox="1"/>
          <p:nvPr/>
        </p:nvSpPr>
        <p:spPr>
          <a:xfrm>
            <a:off x="2286000" y="5669280"/>
            <a:ext cx="365760" cy="228600"/>
          </a:xfrm>
          <a:prstGeom prst="rect">
            <a:avLst/>
          </a:prstGeom>
          <a:noFill/>
          <a:ln/>
        </p:spPr>
        <p:txBody>
          <a:bodyPr wrap="square" lIns="0" tIns="0" rIns="0" bIns="0" rtlCol="0" anchor="ctr"/>
          <a:lstStyle/>
          <a:p>
            <a:pPr algn="ctr" indent="0" marL="0">
              <a:buNone/>
            </a:pPr>
            <a:r>
              <a:rPr lang="en-US" sz="1000" dirty="0">
                <a:solidFill>
                  <a:srgbClr val="4D5762"/>
                </a:solidFill>
                <a:latin typeface="Courier New" pitchFamily="34" charset="0"/>
                <a:ea typeface="Courier New" pitchFamily="34" charset="-122"/>
                <a:cs typeface="Courier New" pitchFamily="34" charset="-120"/>
              </a:rPr>
              <a:t>0</a:t>
            </a:r>
            <a:endParaRPr lang="en-US" sz="1000" dirty="0"/>
          </a:p>
        </p:txBody>
      </p:sp>
      <p:sp>
        <p:nvSpPr>
          <p:cNvPr id="24" name="Text 21"/>
          <p:cNvSpPr txBox="1"/>
          <p:nvPr/>
        </p:nvSpPr>
        <p:spPr>
          <a:xfrm>
            <a:off x="3886200" y="5669280"/>
            <a:ext cx="365760" cy="228600"/>
          </a:xfrm>
          <a:prstGeom prst="rect">
            <a:avLst/>
          </a:prstGeom>
          <a:noFill/>
          <a:ln/>
        </p:spPr>
        <p:txBody>
          <a:bodyPr wrap="square" lIns="0" tIns="0" rIns="0" bIns="0" rtlCol="0" anchor="ctr"/>
          <a:lstStyle/>
          <a:p>
            <a:pPr algn="ctr" indent="0" marL="0">
              <a:buNone/>
            </a:pPr>
            <a:r>
              <a:rPr lang="en-US" sz="1000" dirty="0">
                <a:solidFill>
                  <a:srgbClr val="4D5762"/>
                </a:solidFill>
                <a:latin typeface="Courier New" pitchFamily="34" charset="0"/>
                <a:ea typeface="Courier New" pitchFamily="34" charset="-122"/>
                <a:cs typeface="Courier New" pitchFamily="34" charset="-120"/>
              </a:rPr>
              <a:t>5</a:t>
            </a:r>
            <a:endParaRPr lang="en-US" sz="1000" dirty="0"/>
          </a:p>
        </p:txBody>
      </p:sp>
      <p:sp>
        <p:nvSpPr>
          <p:cNvPr id="25" name="Text 22"/>
          <p:cNvSpPr txBox="1"/>
          <p:nvPr/>
        </p:nvSpPr>
        <p:spPr>
          <a:xfrm>
            <a:off x="5486400" y="5669280"/>
            <a:ext cx="365760" cy="228600"/>
          </a:xfrm>
          <a:prstGeom prst="rect">
            <a:avLst/>
          </a:prstGeom>
          <a:noFill/>
          <a:ln/>
        </p:spPr>
        <p:txBody>
          <a:bodyPr wrap="square" lIns="0" tIns="0" rIns="0" bIns="0" rtlCol="0" anchor="ctr"/>
          <a:lstStyle/>
          <a:p>
            <a:pPr algn="ctr" indent="0" marL="0">
              <a:buNone/>
            </a:pPr>
            <a:r>
              <a:rPr lang="en-US" sz="1000" dirty="0">
                <a:solidFill>
                  <a:srgbClr val="4D5762"/>
                </a:solidFill>
                <a:latin typeface="Courier New" pitchFamily="34" charset="0"/>
                <a:ea typeface="Courier New" pitchFamily="34" charset="-122"/>
                <a:cs typeface="Courier New" pitchFamily="34" charset="-120"/>
              </a:rPr>
              <a:t>10</a:t>
            </a:r>
            <a:endParaRPr lang="en-US" sz="1000" dirty="0"/>
          </a:p>
        </p:txBody>
      </p:sp>
      <p:sp>
        <p:nvSpPr>
          <p:cNvPr id="26" name="stat"/>
          <p:cNvSpPr/>
          <p:nvPr/>
        </p:nvSpPr>
        <p:spPr>
          <a:xfrm>
            <a:off x="8321040" y="2103120"/>
            <a:ext cx="3337560" cy="1508760"/>
          </a:xfrm>
          <a:prstGeom prst="rect">
            <a:avLst/>
          </a:prstGeom>
          <a:solidFill>
            <a:srgbClr val="12161A"/>
          </a:solidFill>
          <a:ln w="12700">
            <a:solidFill>
              <a:srgbClr val="232A31"/>
            </a:solidFill>
            <a:prstDash val="solid"/>
          </a:ln>
        </p:spPr>
      </p:sp>
      <p:sp>
        <p:nvSpPr>
          <p:cNvPr id="27" name="Text 24"/>
          <p:cNvSpPr txBox="1"/>
          <p:nvPr/>
        </p:nvSpPr>
        <p:spPr>
          <a:xfrm>
            <a:off x="8549640" y="2194560"/>
            <a:ext cx="1371600" cy="822960"/>
          </a:xfrm>
          <a:prstGeom prst="rect">
            <a:avLst/>
          </a:prstGeom>
          <a:noFill/>
          <a:ln/>
        </p:spPr>
        <p:txBody>
          <a:bodyPr wrap="square" lIns="0" tIns="0" rIns="0" bIns="0" rtlCol="0" anchor="ctr"/>
          <a:lstStyle/>
          <a:p>
            <a:pPr indent="0" marL="0">
              <a:buNone/>
            </a:pPr>
            <a:r>
              <a:rPr lang="en-US" sz="4800" b="1" dirty="0">
                <a:solidFill>
                  <a:srgbClr val="5A9E84"/>
                </a:solidFill>
                <a:latin typeface="Courier New" pitchFamily="34" charset="0"/>
                <a:ea typeface="Courier New" pitchFamily="34" charset="-122"/>
                <a:cs typeface="Courier New" pitchFamily="34" charset="-120"/>
              </a:rPr>
              <a:t>0</a:t>
            </a:r>
            <a:endParaRPr lang="en-US" sz="4800" dirty="0"/>
          </a:p>
        </p:txBody>
      </p:sp>
      <p:sp>
        <p:nvSpPr>
          <p:cNvPr id="28" name="Text 25"/>
          <p:cNvSpPr txBox="1"/>
          <p:nvPr/>
        </p:nvSpPr>
        <p:spPr>
          <a:xfrm>
            <a:off x="8549640" y="2971800"/>
            <a:ext cx="2926080" cy="548640"/>
          </a:xfrm>
          <a:prstGeom prst="rect">
            <a:avLst/>
          </a:prstGeom>
          <a:noFill/>
          <a:ln/>
        </p:spPr>
        <p:txBody>
          <a:bodyPr wrap="square" lIns="0" tIns="0" rIns="0" bIns="0" rtlCol="0" anchor="t"/>
          <a:lstStyle/>
          <a:p>
            <a:pPr indent="0" marL="0">
              <a:buNone/>
            </a:pPr>
            <a:r>
              <a:rPr lang="en-US" sz="1250" dirty="0">
                <a:solidFill>
                  <a:srgbClr val="7B8794"/>
                </a:solidFill>
                <a:latin typeface="Calibri" pitchFamily="34" charset="0"/>
                <a:ea typeface="Calibri" pitchFamily="34" charset="-122"/>
                <a:cs typeface="Calibri" pitchFamily="34" charset="-120"/>
              </a:rPr>
              <a:t>alerts from the control:</a:t>
            </a:r>
            <a:endParaRPr lang="en-US" sz="1250" dirty="0"/>
          </a:p>
          <a:p>
            <a:pPr indent="0" marL="0">
              <a:buNone/>
            </a:pPr>
            <a:r>
              <a:rPr lang="en-US" sz="1250" dirty="0">
                <a:solidFill>
                  <a:srgbClr val="7B8794"/>
                </a:solidFill>
                <a:latin typeface="Calibri" pitchFamily="34" charset="0"/>
                <a:ea typeface="Calibri" pitchFamily="34" charset="-122"/>
                <a:cs typeface="Calibri" pitchFamily="34" charset="-120"/>
              </a:rPr>
              <a:t>ordinary web browsing</a:t>
            </a:r>
            <a:endParaRPr lang="en-US" sz="1250" dirty="0"/>
          </a:p>
        </p:txBody>
      </p:sp>
      <p:sp>
        <p:nvSpPr>
          <p:cNvPr id="29" name="stat"/>
          <p:cNvSpPr/>
          <p:nvPr/>
        </p:nvSpPr>
        <p:spPr>
          <a:xfrm>
            <a:off x="8321040" y="3794760"/>
            <a:ext cx="3337560" cy="1508760"/>
          </a:xfrm>
          <a:prstGeom prst="rect">
            <a:avLst/>
          </a:prstGeom>
          <a:solidFill>
            <a:srgbClr val="12161A"/>
          </a:solidFill>
          <a:ln w="12700">
            <a:solidFill>
              <a:srgbClr val="232A31"/>
            </a:solidFill>
            <a:prstDash val="solid"/>
          </a:ln>
        </p:spPr>
      </p:sp>
      <p:sp>
        <p:nvSpPr>
          <p:cNvPr id="30" name="Text 27"/>
          <p:cNvSpPr txBox="1"/>
          <p:nvPr/>
        </p:nvSpPr>
        <p:spPr>
          <a:xfrm>
            <a:off x="8549640" y="3886200"/>
            <a:ext cx="2743200" cy="822960"/>
          </a:xfrm>
          <a:prstGeom prst="rect">
            <a:avLst/>
          </a:prstGeom>
          <a:noFill/>
          <a:ln/>
        </p:spPr>
        <p:txBody>
          <a:bodyPr wrap="square" lIns="0" tIns="0" rIns="0" bIns="0" rtlCol="0" anchor="ctr"/>
          <a:lstStyle/>
          <a:p>
            <a:pPr indent="0" marL="0">
              <a:buNone/>
            </a:pPr>
            <a:r>
              <a:rPr lang="en-US" sz="4000" b="1" dirty="0">
                <a:solidFill>
                  <a:srgbClr val="E6EAEE"/>
                </a:solidFill>
                <a:latin typeface="Courier New" pitchFamily="34" charset="0"/>
                <a:ea typeface="Courier New" pitchFamily="34" charset="-122"/>
                <a:cs typeface="Courier New" pitchFamily="34" charset="-120"/>
              </a:rPr>
              <a:t>4 / 4</a:t>
            </a:r>
            <a:endParaRPr lang="en-US" sz="4000" dirty="0"/>
          </a:p>
        </p:txBody>
      </p:sp>
      <p:sp>
        <p:nvSpPr>
          <p:cNvPr id="31" name="Text 28"/>
          <p:cNvSpPr txBox="1"/>
          <p:nvPr/>
        </p:nvSpPr>
        <p:spPr>
          <a:xfrm>
            <a:off x="8549640" y="4663440"/>
            <a:ext cx="2926080" cy="548640"/>
          </a:xfrm>
          <a:prstGeom prst="rect">
            <a:avLst/>
          </a:prstGeom>
          <a:noFill/>
          <a:ln/>
        </p:spPr>
        <p:txBody>
          <a:bodyPr wrap="square" lIns="0" tIns="0" rIns="0" bIns="0" rtlCol="0" anchor="t"/>
          <a:lstStyle/>
          <a:p>
            <a:pPr indent="0" marL="0">
              <a:buNone/>
            </a:pPr>
            <a:r>
              <a:rPr lang="en-US" sz="1250" dirty="0">
                <a:solidFill>
                  <a:srgbClr val="7B8794"/>
                </a:solidFill>
                <a:latin typeface="Calibri" pitchFamily="34" charset="0"/>
                <a:ea typeface="Calibri" pitchFamily="34" charset="-122"/>
                <a:cs typeface="Calibri" pitchFamily="34" charset="-120"/>
              </a:rPr>
              <a:t>beacon runs caught once the</a:t>
            </a:r>
            <a:endParaRPr lang="en-US" sz="1250" dirty="0"/>
          </a:p>
          <a:p>
            <a:pPr indent="0" marL="0">
              <a:buNone/>
            </a:pPr>
            <a:r>
              <a:rPr lang="en-US" sz="1250" dirty="0">
                <a:solidFill>
                  <a:srgbClr val="7B8794"/>
                </a:solidFill>
                <a:latin typeface="Calibri" pitchFamily="34" charset="0"/>
                <a:ea typeface="Calibri" pitchFamily="34" charset="-122"/>
                <a:cs typeface="Calibri" pitchFamily="34" charset="-120"/>
              </a:rPr>
              <a:t>capture was confirmed running</a:t>
            </a:r>
            <a:endParaRPr lang="en-US" sz="1250" dirty="0"/>
          </a:p>
        </p:txBody>
      </p:sp>
      <p:sp>
        <p:nvSpPr>
          <p:cNvPr id="32" name="Text 29"/>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000" dirty="0">
                <a:solidFill>
                  <a:srgbClr val="4D5762"/>
                </a:solidFill>
                <a:latin typeface="Courier New" pitchFamily="34" charset="0"/>
                <a:ea typeface="Courier New" pitchFamily="34" charset="-122"/>
                <a:cs typeface="Courier New" pitchFamily="34" charset="-120"/>
              </a:rPr>
              <a:t>Detectors run on a 10 s grid, so an alert lands within one grid step of the threshold being crossed.</a:t>
            </a:r>
            <a:endParaRPr lang="en-US" sz="100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Quiet by design: false alarms are what make people stop reading alerts</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12  /  FALSE-ALARM CONTROL</a:t>
            </a:r>
            <a:endParaRPr lang="en-US" sz="1100" dirty="0"/>
          </a:p>
        </p:txBody>
      </p:sp>
      <p:sp>
        <p:nvSpPr>
          <p:cNvPr id="5" name="icon-box"/>
          <p:cNvSpPr/>
          <p:nvPr/>
        </p:nvSpPr>
        <p:spPr>
          <a:xfrm>
            <a:off x="548640" y="1645920"/>
            <a:ext cx="603504" cy="603504"/>
          </a:xfrm>
          <a:prstGeom prst="rect">
            <a:avLst/>
          </a:prstGeom>
          <a:solidFill>
            <a:srgbClr val="181D22"/>
          </a:solidFill>
          <a:ln w="12700">
            <a:solidFill>
              <a:srgbClr val="2F3943"/>
            </a:solidFill>
            <a:prstDash val="solid"/>
          </a:ln>
        </p:spPr>
      </p:sp>
      <p:pic>
        <p:nvPicPr>
          <p:cNvPr id="6" name="Image 0" descr="icon">    </p:cNvPr>
          <p:cNvPicPr>
            <a:picLocks noChangeAspect="1"/>
          </p:cNvPicPr>
          <p:nvPr/>
        </p:nvPicPr>
        <p:blipFill>
          <a:blip r:embed="rId1"/>
          <a:stretch>
            <a:fillRect/>
          </a:stretch>
        </p:blipFill>
        <p:spPr>
          <a:xfrm>
            <a:off x="711586" y="1808866"/>
            <a:ext cx="277612" cy="277612"/>
          </a:xfrm>
          <a:prstGeom prst="rect">
            <a:avLst/>
          </a:prstGeom>
        </p:spPr>
      </p:pic>
      <p:sp>
        <p:nvSpPr>
          <p:cNvPr id="7" name="Text 3"/>
          <p:cNvSpPr txBox="1"/>
          <p:nvPr/>
        </p:nvSpPr>
        <p:spPr>
          <a:xfrm>
            <a:off x="1371600" y="1627632"/>
            <a:ext cx="4206240" cy="320040"/>
          </a:xfrm>
          <a:prstGeom prst="rect">
            <a:avLst/>
          </a:prstGeom>
          <a:noFill/>
          <a:ln/>
        </p:spPr>
        <p:txBody>
          <a:bodyPr wrap="square" lIns="0" tIns="0" rIns="0" bIns="0" rtlCol="0" anchor="ctr"/>
          <a:lstStyle/>
          <a:p>
            <a:pPr indent="0" marL="0">
              <a:buNone/>
            </a:pPr>
            <a:r>
              <a:rPr lang="en-US" sz="1600" b="1" dirty="0">
                <a:solidFill>
                  <a:srgbClr val="E6EAEE"/>
                </a:solidFill>
                <a:latin typeface="Calibri" pitchFamily="34" charset="0"/>
                <a:ea typeface="Calibri" pitchFamily="34" charset="-122"/>
                <a:cs typeface="Calibri" pitchFamily="34" charset="-120"/>
              </a:rPr>
              <a:t>Two signals, not one</a:t>
            </a:r>
            <a:endParaRPr lang="en-US" sz="1600" dirty="0"/>
          </a:p>
        </p:txBody>
      </p:sp>
      <p:sp>
        <p:nvSpPr>
          <p:cNvPr id="8" name="Text 4"/>
          <p:cNvSpPr txBox="1"/>
          <p:nvPr/>
        </p:nvSpPr>
        <p:spPr>
          <a:xfrm>
            <a:off x="1371600" y="1947672"/>
            <a:ext cx="4297680" cy="457200"/>
          </a:xfrm>
          <a:prstGeom prst="rect">
            <a:avLst/>
          </a:prstGeom>
          <a:noFill/>
          <a:ln/>
        </p:spPr>
        <p:txBody>
          <a:bodyPr wrap="square" lIns="0" tIns="0" rIns="0" bIns="0" rtlCol="0" anchor="t"/>
          <a:lstStyle/>
          <a:p>
            <a:pPr indent="0" marL="0">
              <a:buNone/>
            </a:pPr>
            <a:r>
              <a:rPr lang="en-US" sz="1200" dirty="0">
                <a:solidFill>
                  <a:srgbClr val="7B8794"/>
                </a:solidFill>
                <a:latin typeface="Calibri" pitchFamily="34" charset="0"/>
                <a:ea typeface="Calibri" pitchFamily="34" charset="-122"/>
                <a:cs typeface="Calibri" pitchFamily="34" charset="-120"/>
              </a:rPr>
              <a:t>DNS tunnelling needs two independent signals to agree.</a:t>
            </a:r>
            <a:endParaRPr lang="en-US" sz="1200" dirty="0"/>
          </a:p>
        </p:txBody>
      </p:sp>
      <p:sp>
        <p:nvSpPr>
          <p:cNvPr id="9" name="icon-box"/>
          <p:cNvSpPr/>
          <p:nvPr/>
        </p:nvSpPr>
        <p:spPr>
          <a:xfrm>
            <a:off x="548640" y="2542032"/>
            <a:ext cx="603504" cy="603504"/>
          </a:xfrm>
          <a:prstGeom prst="rect">
            <a:avLst/>
          </a:prstGeom>
          <a:solidFill>
            <a:srgbClr val="181D22"/>
          </a:solidFill>
          <a:ln w="12700">
            <a:solidFill>
              <a:srgbClr val="2F3943"/>
            </a:solidFill>
            <a:prstDash val="solid"/>
          </a:ln>
        </p:spPr>
      </p:sp>
      <p:pic>
        <p:nvPicPr>
          <p:cNvPr id="10" name="Image 1" descr="icon">    </p:cNvPr>
          <p:cNvPicPr>
            <a:picLocks noChangeAspect="1"/>
          </p:cNvPicPr>
          <p:nvPr/>
        </p:nvPicPr>
        <p:blipFill>
          <a:blip r:embed="rId2"/>
          <a:stretch>
            <a:fillRect/>
          </a:stretch>
        </p:blipFill>
        <p:spPr>
          <a:xfrm>
            <a:off x="711586" y="2704978"/>
            <a:ext cx="277612" cy="277612"/>
          </a:xfrm>
          <a:prstGeom prst="rect">
            <a:avLst/>
          </a:prstGeom>
        </p:spPr>
      </p:pic>
      <p:sp>
        <p:nvSpPr>
          <p:cNvPr id="11" name="Text 6"/>
          <p:cNvSpPr txBox="1"/>
          <p:nvPr/>
        </p:nvSpPr>
        <p:spPr>
          <a:xfrm>
            <a:off x="1371600" y="2523744"/>
            <a:ext cx="4206240" cy="320040"/>
          </a:xfrm>
          <a:prstGeom prst="rect">
            <a:avLst/>
          </a:prstGeom>
          <a:noFill/>
          <a:ln/>
        </p:spPr>
        <p:txBody>
          <a:bodyPr wrap="square" lIns="0" tIns="0" rIns="0" bIns="0" rtlCol="0" anchor="ctr"/>
          <a:lstStyle/>
          <a:p>
            <a:pPr indent="0" marL="0">
              <a:buNone/>
            </a:pPr>
            <a:r>
              <a:rPr lang="en-US" sz="1600" b="1" dirty="0">
                <a:solidFill>
                  <a:srgbClr val="E6EAEE"/>
                </a:solidFill>
                <a:latin typeface="Calibri" pitchFamily="34" charset="0"/>
                <a:ea typeface="Calibri" pitchFamily="34" charset="-122"/>
                <a:cs typeface="Calibri" pitchFamily="34" charset="-120"/>
              </a:rPr>
              <a:t>Shared services are not C2</a:t>
            </a:r>
            <a:endParaRPr lang="en-US" sz="1600" dirty="0"/>
          </a:p>
        </p:txBody>
      </p:sp>
      <p:sp>
        <p:nvSpPr>
          <p:cNvPr id="12" name="Text 7"/>
          <p:cNvSpPr txBox="1"/>
          <p:nvPr/>
        </p:nvSpPr>
        <p:spPr>
          <a:xfrm>
            <a:off x="1371600" y="2843784"/>
            <a:ext cx="4297680" cy="457200"/>
          </a:xfrm>
          <a:prstGeom prst="rect">
            <a:avLst/>
          </a:prstGeom>
          <a:noFill/>
          <a:ln/>
        </p:spPr>
        <p:txBody>
          <a:bodyPr wrap="square" lIns="0" tIns="0" rIns="0" bIns="0" rtlCol="0" anchor="t"/>
          <a:lstStyle/>
          <a:p>
            <a:pPr indent="0" marL="0">
              <a:buNone/>
            </a:pPr>
            <a:r>
              <a:rPr lang="en-US" sz="1200" dirty="0">
                <a:solidFill>
                  <a:srgbClr val="7B8794"/>
                </a:solidFill>
                <a:latin typeface="Calibri" pitchFamily="34" charset="0"/>
                <a:ea typeface="Calibri" pitchFamily="34" charset="-122"/>
                <a:cs typeface="Calibri" pitchFamily="34" charset="-120"/>
              </a:rPr>
              <a:t>A destination or domain that 3+ devices use is treated as a shared service.</a:t>
            </a:r>
            <a:endParaRPr lang="en-US" sz="1200" dirty="0"/>
          </a:p>
        </p:txBody>
      </p:sp>
      <p:sp>
        <p:nvSpPr>
          <p:cNvPr id="13" name="icon-box"/>
          <p:cNvSpPr/>
          <p:nvPr/>
        </p:nvSpPr>
        <p:spPr>
          <a:xfrm>
            <a:off x="548640" y="3438144"/>
            <a:ext cx="603504" cy="603504"/>
          </a:xfrm>
          <a:prstGeom prst="rect">
            <a:avLst/>
          </a:prstGeom>
          <a:solidFill>
            <a:srgbClr val="181D22"/>
          </a:solidFill>
          <a:ln w="12700">
            <a:solidFill>
              <a:srgbClr val="2F3943"/>
            </a:solidFill>
            <a:prstDash val="solid"/>
          </a:ln>
        </p:spPr>
      </p:sp>
      <p:pic>
        <p:nvPicPr>
          <p:cNvPr id="14" name="Image 2" descr="icon">    </p:cNvPr>
          <p:cNvPicPr>
            <a:picLocks noChangeAspect="1"/>
          </p:cNvPicPr>
          <p:nvPr/>
        </p:nvPicPr>
        <p:blipFill>
          <a:blip r:embed="rId3"/>
          <a:stretch>
            <a:fillRect/>
          </a:stretch>
        </p:blipFill>
        <p:spPr>
          <a:xfrm>
            <a:off x="711586" y="3601090"/>
            <a:ext cx="277612" cy="277612"/>
          </a:xfrm>
          <a:prstGeom prst="rect">
            <a:avLst/>
          </a:prstGeom>
        </p:spPr>
      </p:pic>
      <p:sp>
        <p:nvSpPr>
          <p:cNvPr id="15" name="Text 9"/>
          <p:cNvSpPr txBox="1"/>
          <p:nvPr/>
        </p:nvSpPr>
        <p:spPr>
          <a:xfrm>
            <a:off x="1371600" y="3419856"/>
            <a:ext cx="4206240" cy="320040"/>
          </a:xfrm>
          <a:prstGeom prst="rect">
            <a:avLst/>
          </a:prstGeom>
          <a:noFill/>
          <a:ln/>
        </p:spPr>
        <p:txBody>
          <a:bodyPr wrap="square" lIns="0" tIns="0" rIns="0" bIns="0" rtlCol="0" anchor="ctr"/>
          <a:lstStyle/>
          <a:p>
            <a:pPr indent="0" marL="0">
              <a:buNone/>
            </a:pPr>
            <a:r>
              <a:rPr lang="en-US" sz="1600" b="1" dirty="0">
                <a:solidFill>
                  <a:srgbClr val="E6EAEE"/>
                </a:solidFill>
                <a:latin typeface="Calibri" pitchFamily="34" charset="0"/>
                <a:ea typeface="Calibri" pitchFamily="34" charset="-122"/>
                <a:cs typeface="Calibri" pitchFamily="34" charset="-120"/>
              </a:rPr>
              <a:t>Cooldown</a:t>
            </a:r>
            <a:endParaRPr lang="en-US" sz="1600" dirty="0"/>
          </a:p>
        </p:txBody>
      </p:sp>
      <p:sp>
        <p:nvSpPr>
          <p:cNvPr id="16" name="Text 10"/>
          <p:cNvSpPr txBox="1"/>
          <p:nvPr/>
        </p:nvSpPr>
        <p:spPr>
          <a:xfrm>
            <a:off x="1371600" y="3739896"/>
            <a:ext cx="4297680" cy="457200"/>
          </a:xfrm>
          <a:prstGeom prst="rect">
            <a:avLst/>
          </a:prstGeom>
          <a:noFill/>
          <a:ln/>
        </p:spPr>
        <p:txBody>
          <a:bodyPr wrap="square" lIns="0" tIns="0" rIns="0" bIns="0" rtlCol="0" anchor="t"/>
          <a:lstStyle/>
          <a:p>
            <a:pPr indent="0" marL="0">
              <a:buNone/>
            </a:pPr>
            <a:r>
              <a:rPr lang="en-US" sz="1200" dirty="0">
                <a:solidFill>
                  <a:srgbClr val="7B8794"/>
                </a:solidFill>
                <a:latin typeface="Calibri" pitchFamily="34" charset="0"/>
                <a:ea typeface="Calibri" pitchFamily="34" charset="-122"/>
                <a:cs typeface="Calibri" pitchFamily="34" charset="-120"/>
              </a:rPr>
              <a:t>Once a detector fires for a device it stays quiet for 5 minutes. No alert storms.</a:t>
            </a:r>
            <a:endParaRPr lang="en-US" sz="1200" dirty="0"/>
          </a:p>
        </p:txBody>
      </p:sp>
      <p:sp>
        <p:nvSpPr>
          <p:cNvPr id="17" name="icon-box"/>
          <p:cNvSpPr/>
          <p:nvPr/>
        </p:nvSpPr>
        <p:spPr>
          <a:xfrm>
            <a:off x="548640" y="4334256"/>
            <a:ext cx="603504" cy="603504"/>
          </a:xfrm>
          <a:prstGeom prst="rect">
            <a:avLst/>
          </a:prstGeom>
          <a:solidFill>
            <a:srgbClr val="181D22"/>
          </a:solidFill>
          <a:ln w="12700">
            <a:solidFill>
              <a:srgbClr val="2F3943"/>
            </a:solidFill>
            <a:prstDash val="solid"/>
          </a:ln>
        </p:spPr>
      </p:sp>
      <p:pic>
        <p:nvPicPr>
          <p:cNvPr id="18" name="Image 3" descr="icon">    </p:cNvPr>
          <p:cNvPicPr>
            <a:picLocks noChangeAspect="1"/>
          </p:cNvPicPr>
          <p:nvPr/>
        </p:nvPicPr>
        <p:blipFill>
          <a:blip r:embed="rId4"/>
          <a:stretch>
            <a:fillRect/>
          </a:stretch>
        </p:blipFill>
        <p:spPr>
          <a:xfrm>
            <a:off x="711586" y="4497202"/>
            <a:ext cx="277612" cy="277612"/>
          </a:xfrm>
          <a:prstGeom prst="rect">
            <a:avLst/>
          </a:prstGeom>
        </p:spPr>
      </p:pic>
      <p:sp>
        <p:nvSpPr>
          <p:cNvPr id="19" name="Text 12"/>
          <p:cNvSpPr txBox="1"/>
          <p:nvPr/>
        </p:nvSpPr>
        <p:spPr>
          <a:xfrm>
            <a:off x="1371600" y="4315968"/>
            <a:ext cx="4206240" cy="320040"/>
          </a:xfrm>
          <a:prstGeom prst="rect">
            <a:avLst/>
          </a:prstGeom>
          <a:noFill/>
          <a:ln/>
        </p:spPr>
        <p:txBody>
          <a:bodyPr wrap="square" lIns="0" tIns="0" rIns="0" bIns="0" rtlCol="0" anchor="ctr"/>
          <a:lstStyle/>
          <a:p>
            <a:pPr indent="0" marL="0">
              <a:buNone/>
            </a:pPr>
            <a:r>
              <a:rPr lang="en-US" sz="1600" b="1" dirty="0">
                <a:solidFill>
                  <a:srgbClr val="E6EAEE"/>
                </a:solidFill>
                <a:latin typeface="Calibri" pitchFamily="34" charset="0"/>
                <a:ea typeface="Calibri" pitchFamily="34" charset="-122"/>
                <a:cs typeface="Calibri" pitchFamily="34" charset="-120"/>
              </a:rPr>
              <a:t>Statistical guard</a:t>
            </a:r>
            <a:endParaRPr lang="en-US" sz="1600" dirty="0"/>
          </a:p>
        </p:txBody>
      </p:sp>
      <p:sp>
        <p:nvSpPr>
          <p:cNvPr id="20" name="Text 13"/>
          <p:cNvSpPr txBox="1"/>
          <p:nvPr/>
        </p:nvSpPr>
        <p:spPr>
          <a:xfrm>
            <a:off x="1371600" y="4636008"/>
            <a:ext cx="4297680" cy="457200"/>
          </a:xfrm>
          <a:prstGeom prst="rect">
            <a:avLst/>
          </a:prstGeom>
          <a:noFill/>
          <a:ln/>
        </p:spPr>
        <p:txBody>
          <a:bodyPr wrap="square" lIns="0" tIns="0" rIns="0" bIns="0" rtlCol="0" anchor="t"/>
          <a:lstStyle/>
          <a:p>
            <a:pPr indent="0" marL="0">
              <a:buNone/>
            </a:pPr>
            <a:r>
              <a:rPr lang="en-US" sz="1200" dirty="0">
                <a:solidFill>
                  <a:srgbClr val="7B8794"/>
                </a:solidFill>
                <a:latin typeface="Calibri" pitchFamily="34" charset="0"/>
                <a:ea typeface="Calibri" pitchFamily="34" charset="-122"/>
                <a:cs typeface="Calibri" pitchFamily="34" charset="-120"/>
              </a:rPr>
              <a:t>The forest only fires when a value is over 2x anything in its baseline.</a:t>
            </a:r>
            <a:endParaRPr lang="en-US" sz="1200" dirty="0"/>
          </a:p>
        </p:txBody>
      </p:sp>
      <p:sp>
        <p:nvSpPr>
          <p:cNvPr id="21" name="icon-box"/>
          <p:cNvSpPr/>
          <p:nvPr/>
        </p:nvSpPr>
        <p:spPr>
          <a:xfrm>
            <a:off x="548640" y="5230368"/>
            <a:ext cx="603504" cy="603504"/>
          </a:xfrm>
          <a:prstGeom prst="rect">
            <a:avLst/>
          </a:prstGeom>
          <a:solidFill>
            <a:srgbClr val="181D22"/>
          </a:solidFill>
          <a:ln w="12700">
            <a:solidFill>
              <a:srgbClr val="2F3943"/>
            </a:solidFill>
            <a:prstDash val="solid"/>
          </a:ln>
        </p:spPr>
      </p:sp>
      <p:pic>
        <p:nvPicPr>
          <p:cNvPr id="22" name="Image 4" descr="icon">    </p:cNvPr>
          <p:cNvPicPr>
            <a:picLocks noChangeAspect="1"/>
          </p:cNvPicPr>
          <p:nvPr/>
        </p:nvPicPr>
        <p:blipFill>
          <a:blip r:embed="rId5"/>
          <a:stretch>
            <a:fillRect/>
          </a:stretch>
        </p:blipFill>
        <p:spPr>
          <a:xfrm>
            <a:off x="711586" y="5393314"/>
            <a:ext cx="277612" cy="277612"/>
          </a:xfrm>
          <a:prstGeom prst="rect">
            <a:avLst/>
          </a:prstGeom>
        </p:spPr>
      </p:pic>
      <p:sp>
        <p:nvSpPr>
          <p:cNvPr id="23" name="Text 15"/>
          <p:cNvSpPr txBox="1"/>
          <p:nvPr/>
        </p:nvSpPr>
        <p:spPr>
          <a:xfrm>
            <a:off x="1371600" y="5212080"/>
            <a:ext cx="4206240" cy="320040"/>
          </a:xfrm>
          <a:prstGeom prst="rect">
            <a:avLst/>
          </a:prstGeom>
          <a:noFill/>
          <a:ln/>
        </p:spPr>
        <p:txBody>
          <a:bodyPr wrap="square" lIns="0" tIns="0" rIns="0" bIns="0" rtlCol="0" anchor="ctr"/>
          <a:lstStyle/>
          <a:p>
            <a:pPr indent="0" marL="0">
              <a:buNone/>
            </a:pPr>
            <a:r>
              <a:rPr lang="en-US" sz="1600" b="1" dirty="0">
                <a:solidFill>
                  <a:srgbClr val="E6EAEE"/>
                </a:solidFill>
                <a:latin typeface="Calibri" pitchFamily="34" charset="0"/>
                <a:ea typeface="Calibri" pitchFamily="34" charset="-122"/>
                <a:cs typeface="Calibri" pitchFamily="34" charset="-120"/>
              </a:rPr>
              <a:t>Your allow-lists</a:t>
            </a:r>
            <a:endParaRPr lang="en-US" sz="1600" dirty="0"/>
          </a:p>
        </p:txBody>
      </p:sp>
      <p:sp>
        <p:nvSpPr>
          <p:cNvPr id="24" name="Text 16"/>
          <p:cNvSpPr txBox="1"/>
          <p:nvPr/>
        </p:nvSpPr>
        <p:spPr>
          <a:xfrm>
            <a:off x="1371600" y="5532120"/>
            <a:ext cx="4297680" cy="457200"/>
          </a:xfrm>
          <a:prstGeom prst="rect">
            <a:avLst/>
          </a:prstGeom>
          <a:noFill/>
          <a:ln/>
        </p:spPr>
        <p:txBody>
          <a:bodyPr wrap="square" lIns="0" tIns="0" rIns="0" bIns="0" rtlCol="0" anchor="t"/>
          <a:lstStyle/>
          <a:p>
            <a:pPr indent="0" marL="0">
              <a:buNone/>
            </a:pPr>
            <a:r>
              <a:rPr lang="en-US" sz="1200" dirty="0">
                <a:solidFill>
                  <a:srgbClr val="7B8794"/>
                </a:solidFill>
                <a:latin typeface="Calibri" pitchFamily="34" charset="0"/>
                <a:ea typeface="Calibri" pitchFamily="34" charset="-122"/>
                <a:cs typeface="Calibri" pitchFamily="34" charset="-120"/>
              </a:rPr>
              <a:t>trusted_ips, allowed destinations and ignored domains, in one config file.</a:t>
            </a:r>
            <a:endParaRPr lang="en-US" sz="1200" dirty="0"/>
          </a:p>
        </p:txBody>
      </p:sp>
      <p:sp>
        <p:nvSpPr>
          <p:cNvPr id="25" name="stat-panel"/>
          <p:cNvSpPr/>
          <p:nvPr/>
        </p:nvSpPr>
        <p:spPr>
          <a:xfrm>
            <a:off x="6309360" y="1645920"/>
            <a:ext cx="5349240" cy="4389120"/>
          </a:xfrm>
          <a:prstGeom prst="rect">
            <a:avLst/>
          </a:prstGeom>
          <a:solidFill>
            <a:srgbClr val="12161A"/>
          </a:solidFill>
          <a:ln w="12700">
            <a:solidFill>
              <a:srgbClr val="232A31"/>
            </a:solidFill>
            <a:prstDash val="solid"/>
          </a:ln>
        </p:spPr>
      </p:sp>
      <p:sp>
        <p:nvSpPr>
          <p:cNvPr id="26" name="Text 18"/>
          <p:cNvSpPr txBox="1"/>
          <p:nvPr/>
        </p:nvSpPr>
        <p:spPr>
          <a:xfrm>
            <a:off x="6583680" y="1828800"/>
            <a:ext cx="4846320" cy="228600"/>
          </a:xfrm>
          <a:prstGeom prst="rect">
            <a:avLst/>
          </a:prstGeom>
          <a:noFill/>
          <a:ln/>
        </p:spPr>
        <p:txBody>
          <a:bodyPr wrap="square" lIns="0" tIns="0" rIns="0" bIns="0" rtlCol="0" anchor="ctr"/>
          <a:lstStyle/>
          <a:p>
            <a:pPr indent="0" marL="0">
              <a:buNone/>
            </a:pPr>
            <a:r>
              <a:rPr lang="en-US" sz="1000" b="1" spc="300" kern="0" dirty="0">
                <a:solidFill>
                  <a:srgbClr val="7B8794"/>
                </a:solidFill>
                <a:latin typeface="Courier New" pitchFamily="34" charset="0"/>
                <a:ea typeface="Courier New" pitchFamily="34" charset="-122"/>
                <a:cs typeface="Courier New" pitchFamily="34" charset="-120"/>
              </a:rPr>
              <a:t>BENIGN TEST SUITE (SYNTHETIC)</a:t>
            </a:r>
            <a:endParaRPr lang="en-US" sz="1000" dirty="0"/>
          </a:p>
        </p:txBody>
      </p:sp>
      <p:sp>
        <p:nvSpPr>
          <p:cNvPr id="27" name="Text 19"/>
          <p:cNvSpPr txBox="1"/>
          <p:nvPr/>
        </p:nvSpPr>
        <p:spPr>
          <a:xfrm>
            <a:off x="6583680" y="2148840"/>
            <a:ext cx="2011680" cy="1280160"/>
          </a:xfrm>
          <a:prstGeom prst="rect">
            <a:avLst/>
          </a:prstGeom>
          <a:noFill/>
          <a:ln/>
        </p:spPr>
        <p:txBody>
          <a:bodyPr wrap="square" lIns="0" tIns="0" rIns="0" bIns="0" rtlCol="0" anchor="ctr"/>
          <a:lstStyle/>
          <a:p>
            <a:pPr indent="0" marL="0">
              <a:buNone/>
            </a:pPr>
            <a:r>
              <a:rPr lang="en-US" sz="9000" b="1" dirty="0">
                <a:solidFill>
                  <a:srgbClr val="5A9E84"/>
                </a:solidFill>
                <a:latin typeface="Courier New" pitchFamily="34" charset="0"/>
                <a:ea typeface="Courier New" pitchFamily="34" charset="-122"/>
                <a:cs typeface="Courier New" pitchFamily="34" charset="-120"/>
              </a:rPr>
              <a:t>0</a:t>
            </a:r>
            <a:endParaRPr lang="en-US" sz="9000" dirty="0"/>
          </a:p>
        </p:txBody>
      </p:sp>
      <p:sp>
        <p:nvSpPr>
          <p:cNvPr id="28" name="Text 20"/>
          <p:cNvSpPr txBox="1"/>
          <p:nvPr/>
        </p:nvSpPr>
        <p:spPr>
          <a:xfrm>
            <a:off x="8549640" y="2834640"/>
            <a:ext cx="1828800" cy="457200"/>
          </a:xfrm>
          <a:prstGeom prst="rect">
            <a:avLst/>
          </a:prstGeom>
          <a:noFill/>
          <a:ln/>
        </p:spPr>
        <p:txBody>
          <a:bodyPr wrap="square" lIns="0" tIns="0" rIns="0" bIns="0" rtlCol="0" anchor="ctr"/>
          <a:lstStyle/>
          <a:p>
            <a:pPr indent="0" marL="0">
              <a:buNone/>
            </a:pPr>
            <a:r>
              <a:rPr lang="en-US" sz="2200" dirty="0">
                <a:solidFill>
                  <a:srgbClr val="E6EAEE"/>
                </a:solidFill>
                <a:latin typeface="Calibri" pitchFamily="34" charset="0"/>
                <a:ea typeface="Calibri" pitchFamily="34" charset="-122"/>
                <a:cs typeface="Calibri" pitchFamily="34" charset="-120"/>
              </a:rPr>
              <a:t>alerts</a:t>
            </a:r>
            <a:endParaRPr lang="en-US" sz="2200" dirty="0"/>
          </a:p>
        </p:txBody>
      </p:sp>
      <p:sp>
        <p:nvSpPr>
          <p:cNvPr id="29" name="rule"/>
          <p:cNvSpPr/>
          <p:nvPr/>
        </p:nvSpPr>
        <p:spPr>
          <a:xfrm>
            <a:off x="6583680" y="3657600"/>
            <a:ext cx="4800600" cy="0"/>
          </a:xfrm>
          <a:prstGeom prst="line">
            <a:avLst/>
          </a:prstGeom>
          <a:noFill/>
          <a:ln w="12700">
            <a:solidFill>
              <a:srgbClr val="232A31"/>
            </a:solidFill>
            <a:prstDash val="solid"/>
          </a:ln>
        </p:spPr>
      </p:sp>
      <p:sp>
        <p:nvSpPr>
          <p:cNvPr id="30" name="Text 22"/>
          <p:cNvSpPr txBox="1"/>
          <p:nvPr/>
        </p:nvSpPr>
        <p:spPr>
          <a:xfrm>
            <a:off x="6583680" y="3794760"/>
            <a:ext cx="4800600" cy="1097280"/>
          </a:xfrm>
          <a:prstGeom prst="rect">
            <a:avLst/>
          </a:prstGeom>
          <a:noFill/>
          <a:ln/>
        </p:spPr>
        <p:txBody>
          <a:bodyPr wrap="square" lIns="0" tIns="0" rIns="0" bIns="0" rtlCol="0" anchor="t"/>
          <a:lstStyle/>
          <a:p>
            <a:pPr indent="0" marL="0">
              <a:buNone/>
            </a:pPr>
            <a:r>
              <a:rPr lang="en-US" sz="1350" dirty="0">
                <a:solidFill>
                  <a:srgbClr val="CBD2D9"/>
                </a:solidFill>
                <a:latin typeface="Calibri" pitchFamily="34" charset="0"/>
                <a:ea typeface="Calibri" pitchFamily="34" charset="-122"/>
                <a:cs typeface="Calibri" pitchFamily="34" charset="-120"/>
              </a:rPr>
              <a:t>12 seeded networks, 8 devices each, 40 minutes of browsing, shared-service polling, refused connections and hashed CDN names. All with both statistical models on.</a:t>
            </a:r>
            <a:endParaRPr lang="en-US" sz="1350" dirty="0"/>
          </a:p>
        </p:txBody>
      </p:sp>
      <p:sp>
        <p:nvSpPr>
          <p:cNvPr id="31" name="honest"/>
          <p:cNvSpPr/>
          <p:nvPr/>
        </p:nvSpPr>
        <p:spPr>
          <a:xfrm>
            <a:off x="6583680" y="5074920"/>
            <a:ext cx="4800600" cy="731520"/>
          </a:xfrm>
          <a:prstGeom prst="rect">
            <a:avLst/>
          </a:prstGeom>
          <a:solidFill>
            <a:srgbClr val="181D22"/>
          </a:solidFill>
          <a:ln w="12700">
            <a:solidFill>
              <a:srgbClr val="2F3943"/>
            </a:solidFill>
            <a:prstDash val="solid"/>
          </a:ln>
        </p:spPr>
      </p:sp>
      <p:sp>
        <p:nvSpPr>
          <p:cNvPr id="32" name="Text 24"/>
          <p:cNvSpPr txBox="1"/>
          <p:nvPr/>
        </p:nvSpPr>
        <p:spPr>
          <a:xfrm>
            <a:off x="6766560" y="5074920"/>
            <a:ext cx="4480560" cy="731520"/>
          </a:xfrm>
          <a:prstGeom prst="rect">
            <a:avLst/>
          </a:prstGeom>
          <a:noFill/>
          <a:ln/>
        </p:spPr>
        <p:txBody>
          <a:bodyPr wrap="square" lIns="0" tIns="0" rIns="0" bIns="0" rtlCol="0" anchor="ctr"/>
          <a:lstStyle/>
          <a:p>
            <a:pPr indent="0" marL="0">
              <a:buNone/>
            </a:pPr>
            <a:r>
              <a:rPr lang="en-US" sz="1200" dirty="0">
                <a:solidFill>
                  <a:srgbClr val="B8993B"/>
                </a:solidFill>
                <a:latin typeface="Calibri" pitchFamily="34" charset="0"/>
                <a:ea typeface="Calibri" pitchFamily="34" charset="-122"/>
                <a:cs typeface="Calibri" pitchFamily="34" charset="-120"/>
              </a:rPr>
              <a:t>Real-network false-alarm rate: not yet measured. A one-day check is on the verification list.</a:t>
            </a:r>
            <a:endParaRPr lang="en-US" sz="120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Alerts an admin can act on, not raw numbers</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13  /  EXPLANATIONS</a:t>
            </a:r>
            <a:endParaRPr lang="en-US" sz="1100" dirty="0"/>
          </a:p>
        </p:txBody>
      </p:sp>
      <p:sp>
        <p:nvSpPr>
          <p:cNvPr id="5" name="panel-head"/>
          <p:cNvSpPr/>
          <p:nvPr/>
        </p:nvSpPr>
        <p:spPr>
          <a:xfrm>
            <a:off x="548640" y="1645920"/>
            <a:ext cx="4754880" cy="365760"/>
          </a:xfrm>
          <a:prstGeom prst="rect">
            <a:avLst/>
          </a:prstGeom>
          <a:solidFill>
            <a:srgbClr val="0A0C0F"/>
          </a:solidFill>
          <a:ln w="12700">
            <a:solidFill>
              <a:srgbClr val="232A31"/>
            </a:solidFill>
            <a:prstDash val="solid"/>
          </a:ln>
        </p:spPr>
      </p:sp>
      <p:sp>
        <p:nvSpPr>
          <p:cNvPr id="6" name="Text 3"/>
          <p:cNvSpPr txBox="1"/>
          <p:nvPr/>
        </p:nvSpPr>
        <p:spPr>
          <a:xfrm>
            <a:off x="685800" y="1719072"/>
            <a:ext cx="4480560" cy="228600"/>
          </a:xfrm>
          <a:prstGeom prst="rect">
            <a:avLst/>
          </a:prstGeom>
          <a:noFill/>
          <a:ln/>
        </p:spPr>
        <p:txBody>
          <a:bodyPr wrap="square" lIns="0" tIns="0" rIns="0" bIns="0" rtlCol="0" anchor="ctr"/>
          <a:lstStyle/>
          <a:p>
            <a:pPr indent="0" marL="0">
              <a:buNone/>
            </a:pPr>
            <a:r>
              <a:rPr lang="en-US" sz="1000" b="1" spc="300" kern="0" dirty="0">
                <a:solidFill>
                  <a:srgbClr val="7B8794"/>
                </a:solidFill>
                <a:latin typeface="Courier New" pitchFamily="34" charset="0"/>
                <a:ea typeface="Courier New" pitchFamily="34" charset="-122"/>
                <a:cs typeface="Courier New" pitchFamily="34" charset="-120"/>
              </a:rPr>
              <a:t>WHAT THE DETECTOR RECORDED</a:t>
            </a:r>
            <a:endParaRPr lang="en-US" sz="1000" dirty="0"/>
          </a:p>
        </p:txBody>
      </p:sp>
      <p:sp>
        <p:nvSpPr>
          <p:cNvPr id="7" name="panel"/>
          <p:cNvSpPr/>
          <p:nvPr/>
        </p:nvSpPr>
        <p:spPr>
          <a:xfrm>
            <a:off x="548640" y="2011680"/>
            <a:ext cx="4754880" cy="2743200"/>
          </a:xfrm>
          <a:prstGeom prst="rect">
            <a:avLst/>
          </a:prstGeom>
          <a:solidFill>
            <a:srgbClr val="12161A"/>
          </a:solidFill>
          <a:ln w="12700">
            <a:solidFill>
              <a:srgbClr val="232A31"/>
            </a:solidFill>
            <a:prstDash val="solid"/>
          </a:ln>
        </p:spPr>
      </p:sp>
      <p:sp>
        <p:nvSpPr>
          <p:cNvPr id="8" name="Text 5"/>
          <p:cNvSpPr txBox="1"/>
          <p:nvPr/>
        </p:nvSpPr>
        <p:spPr>
          <a:xfrm>
            <a:off x="777240" y="2194560"/>
            <a:ext cx="4389120" cy="2377440"/>
          </a:xfrm>
          <a:prstGeom prst="rect">
            <a:avLst/>
          </a:prstGeom>
          <a:noFill/>
          <a:ln/>
        </p:spPr>
        <p:txBody>
          <a:bodyPr wrap="square" lIns="0" tIns="0" rIns="0" bIns="0" rtlCol="0" anchor="t"/>
          <a:lstStyle/>
          <a:p>
            <a:pPr indent="0" marL="0">
              <a:spcAft>
                <a:spcPts val="400"/>
              </a:spcAft>
              <a:buNone/>
            </a:pPr>
            <a:r>
              <a:rPr lang="en-US" sz="1300" dirty="0">
                <a:solidFill>
                  <a:srgbClr val="5B8DB8"/>
                </a:solidFill>
                <a:latin typeface="Courier New" pitchFamily="34" charset="0"/>
                <a:ea typeface="Courier New" pitchFamily="34" charset="-122"/>
                <a:cs typeface="Courier New" pitchFamily="34" charset="-120"/>
              </a:rPr>
              <a:t>detector      beaconing</a:t>
            </a:r>
            <a:endParaRPr lang="en-US" sz="1300" dirty="0"/>
          </a:p>
          <a:p>
            <a:pPr indent="0" marL="0">
              <a:spcAft>
                <a:spcPts val="400"/>
              </a:spcAft>
              <a:buNone/>
            </a:pPr>
            <a:r>
              <a:rPr lang="en-US" sz="1300" dirty="0">
                <a:solidFill>
                  <a:srgbClr val="5B8DB8"/>
                </a:solidFill>
                <a:latin typeface="Courier New" pitchFamily="34" charset="0"/>
                <a:ea typeface="Courier New" pitchFamily="34" charset="-122"/>
                <a:cs typeface="Courier New" pitchFamily="34" charset="-120"/>
              </a:rPr>
              <a:t>technique     T1071.001</a:t>
            </a:r>
            <a:endParaRPr lang="en-US" sz="1300" dirty="0"/>
          </a:p>
          <a:p>
            <a:pPr indent="0" marL="0">
              <a:spcAft>
                <a:spcPts val="400"/>
              </a:spcAft>
              <a:buNone/>
            </a:pPr>
            <a:r>
              <a:rPr lang="en-US" sz="1300" dirty="0">
                <a:solidFill>
                  <a:srgbClr val="5B8DB8"/>
                </a:solidFill>
                <a:latin typeface="Courier New" pitchFamily="34" charset="0"/>
                <a:ea typeface="Courier New" pitchFamily="34" charset="-122"/>
                <a:cs typeface="Courier New" pitchFamily="34" charset="-120"/>
              </a:rPr>
              <a:t>dst_port      8080</a:t>
            </a:r>
            <a:endParaRPr lang="en-US" sz="1300" dirty="0"/>
          </a:p>
          <a:p>
            <a:pPr indent="0" marL="0">
              <a:spcAft>
                <a:spcPts val="400"/>
              </a:spcAft>
              <a:buNone/>
            </a:pPr>
            <a:r>
              <a:rPr lang="en-US" sz="1300" dirty="0">
                <a:solidFill>
                  <a:srgbClr val="5B8DB8"/>
                </a:solidFill>
                <a:latin typeface="Courier New" pitchFamily="34" charset="0"/>
                <a:ea typeface="Courier New" pitchFamily="34" charset="-122"/>
                <a:cs typeface="Courier New" pitchFamily="34" charset="-120"/>
              </a:rPr>
              <a:t>count         16</a:t>
            </a:r>
            <a:endParaRPr lang="en-US" sz="1300" dirty="0"/>
          </a:p>
          <a:p>
            <a:pPr indent="0" marL="0">
              <a:spcAft>
                <a:spcPts val="400"/>
              </a:spcAft>
              <a:buNone/>
            </a:pPr>
            <a:r>
              <a:rPr lang="en-US" sz="1300" dirty="0">
                <a:solidFill>
                  <a:srgbClr val="5B8DB8"/>
                </a:solidFill>
                <a:latin typeface="Courier New" pitchFamily="34" charset="0"/>
                <a:ea typeface="Courier New" pitchFamily="34" charset="-122"/>
                <a:cs typeface="Courier New" pitchFamily="34" charset="-120"/>
              </a:rPr>
              <a:t>mean_interval  1.0003 s</a:t>
            </a:r>
            <a:endParaRPr lang="en-US" sz="1300" dirty="0"/>
          </a:p>
          <a:p>
            <a:pPr indent="0" marL="0">
              <a:spcAft>
                <a:spcPts val="400"/>
              </a:spcAft>
              <a:buNone/>
            </a:pPr>
            <a:r>
              <a:rPr lang="en-US" sz="1300" dirty="0">
                <a:solidFill>
                  <a:srgbClr val="5B8DB8"/>
                </a:solidFill>
                <a:latin typeface="Courier New" pitchFamily="34" charset="0"/>
                <a:ea typeface="Courier New" pitchFamily="34" charset="-122"/>
                <a:cs typeface="Courier New" pitchFamily="34" charset="-120"/>
              </a:rPr>
              <a:t>interval_cv   0.0023</a:t>
            </a:r>
            <a:endParaRPr lang="en-US" sz="1300" dirty="0"/>
          </a:p>
          <a:p>
            <a:pPr indent="0" marL="0">
              <a:spcAft>
                <a:spcPts val="400"/>
              </a:spcAft>
              <a:buNone/>
            </a:pPr>
            <a:r>
              <a:rPr lang="en-US" sz="1300" dirty="0">
                <a:solidFill>
                  <a:srgbClr val="5B8DB8"/>
                </a:solidFill>
                <a:latin typeface="Courier New" pitchFamily="34" charset="0"/>
                <a:ea typeface="Courier New" pitchFamily="34" charset="-122"/>
                <a:cs typeface="Courier New" pitchFamily="34" charset="-120"/>
              </a:rPr>
              <a:t>mean_bytes    ~1 KB</a:t>
            </a:r>
            <a:endParaRPr lang="en-US" sz="1300" dirty="0"/>
          </a:p>
        </p:txBody>
      </p:sp>
      <p:sp>
        <p:nvSpPr>
          <p:cNvPr id="9" name="arrow"/>
          <p:cNvSpPr/>
          <p:nvPr/>
        </p:nvSpPr>
        <p:spPr>
          <a:xfrm>
            <a:off x="5440680" y="3383280"/>
            <a:ext cx="548640" cy="0"/>
          </a:xfrm>
          <a:prstGeom prst="line">
            <a:avLst/>
          </a:prstGeom>
          <a:noFill/>
          <a:ln w="25400">
            <a:solidFill>
              <a:srgbClr val="C4403F"/>
            </a:solidFill>
            <a:prstDash val="solid"/>
            <a:tailEnd type="triangle"/>
          </a:ln>
        </p:spPr>
      </p:sp>
      <p:sp>
        <p:nvSpPr>
          <p:cNvPr id="10" name="panel-head"/>
          <p:cNvSpPr/>
          <p:nvPr/>
        </p:nvSpPr>
        <p:spPr>
          <a:xfrm>
            <a:off x="6126480" y="1645920"/>
            <a:ext cx="5532120" cy="365760"/>
          </a:xfrm>
          <a:prstGeom prst="rect">
            <a:avLst/>
          </a:prstGeom>
          <a:solidFill>
            <a:srgbClr val="0A0C0F"/>
          </a:solidFill>
          <a:ln w="12700">
            <a:solidFill>
              <a:srgbClr val="232A31"/>
            </a:solidFill>
            <a:prstDash val="solid"/>
          </a:ln>
        </p:spPr>
      </p:sp>
      <p:sp>
        <p:nvSpPr>
          <p:cNvPr id="11" name="Text 8"/>
          <p:cNvSpPr txBox="1"/>
          <p:nvPr/>
        </p:nvSpPr>
        <p:spPr>
          <a:xfrm>
            <a:off x="6263640" y="1719072"/>
            <a:ext cx="5257800" cy="228600"/>
          </a:xfrm>
          <a:prstGeom prst="rect">
            <a:avLst/>
          </a:prstGeom>
          <a:noFill/>
          <a:ln/>
        </p:spPr>
        <p:txBody>
          <a:bodyPr wrap="square" lIns="0" tIns="0" rIns="0" bIns="0" rtlCol="0" anchor="ctr"/>
          <a:lstStyle/>
          <a:p>
            <a:pPr indent="0" marL="0">
              <a:buNone/>
            </a:pPr>
            <a:r>
              <a:rPr lang="en-US" sz="1000" b="1" spc="300" kern="0" dirty="0">
                <a:solidFill>
                  <a:srgbClr val="7B8794"/>
                </a:solidFill>
                <a:latin typeface="Courier New" pitchFamily="34" charset="0"/>
                <a:ea typeface="Courier New" pitchFamily="34" charset="-122"/>
                <a:cs typeface="Courier New" pitchFamily="34" charset="-120"/>
              </a:rPr>
              <a:t>WHAT THE ADMIN READS</a:t>
            </a:r>
            <a:endParaRPr lang="en-US" sz="1000" dirty="0"/>
          </a:p>
        </p:txBody>
      </p:sp>
      <p:sp>
        <p:nvSpPr>
          <p:cNvPr id="12" name="panel"/>
          <p:cNvSpPr/>
          <p:nvPr/>
        </p:nvSpPr>
        <p:spPr>
          <a:xfrm>
            <a:off x="6126480" y="2011680"/>
            <a:ext cx="5532120" cy="2743200"/>
          </a:xfrm>
          <a:prstGeom prst="rect">
            <a:avLst/>
          </a:prstGeom>
          <a:solidFill>
            <a:srgbClr val="12161A"/>
          </a:solidFill>
          <a:ln w="12700">
            <a:solidFill>
              <a:srgbClr val="232A31"/>
            </a:solidFill>
            <a:prstDash val="solid"/>
          </a:ln>
        </p:spPr>
      </p:sp>
      <p:sp>
        <p:nvSpPr>
          <p:cNvPr id="13" name="sev"/>
          <p:cNvSpPr/>
          <p:nvPr/>
        </p:nvSpPr>
        <p:spPr>
          <a:xfrm>
            <a:off x="6355080" y="2194560"/>
            <a:ext cx="1051560" cy="274320"/>
          </a:xfrm>
          <a:prstGeom prst="rect">
            <a:avLst/>
          </a:prstGeom>
          <a:solidFill>
            <a:srgbClr val="C4403F"/>
          </a:solidFill>
          <a:ln/>
        </p:spPr>
      </p:sp>
      <p:sp>
        <p:nvSpPr>
          <p:cNvPr id="14" name="Text 11"/>
          <p:cNvSpPr txBox="1"/>
          <p:nvPr/>
        </p:nvSpPr>
        <p:spPr>
          <a:xfrm>
            <a:off x="6355080" y="2194560"/>
            <a:ext cx="1051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CRITICAL</a:t>
            </a:r>
            <a:endParaRPr lang="en-US" sz="1100" dirty="0"/>
          </a:p>
        </p:txBody>
      </p:sp>
      <p:sp>
        <p:nvSpPr>
          <p:cNvPr id="15" name="Text 12"/>
          <p:cNvSpPr txBox="1"/>
          <p:nvPr/>
        </p:nvSpPr>
        <p:spPr>
          <a:xfrm>
            <a:off x="6355080" y="2560320"/>
            <a:ext cx="5120640" cy="365760"/>
          </a:xfrm>
          <a:prstGeom prst="rect">
            <a:avLst/>
          </a:prstGeom>
          <a:noFill/>
          <a:ln/>
        </p:spPr>
        <p:txBody>
          <a:bodyPr wrap="square" lIns="0" tIns="0" rIns="0" bIns="0" rtlCol="0" anchor="ctr"/>
          <a:lstStyle/>
          <a:p>
            <a:pPr indent="0" marL="0">
              <a:buNone/>
            </a:pPr>
            <a:r>
              <a:rPr lang="en-US" sz="1700" b="1" dirty="0">
                <a:solidFill>
                  <a:srgbClr val="E6EAEE"/>
                </a:solidFill>
                <a:latin typeface="Calibri" pitchFamily="34" charset="0"/>
                <a:ea typeface="Calibri" pitchFamily="34" charset="-122"/>
                <a:cs typeface="Calibri" pitchFamily="34" charset="-120"/>
              </a:rPr>
              <a:t>Device contacts one server at fixed intervals</a:t>
            </a:r>
            <a:endParaRPr lang="en-US" sz="1700" dirty="0"/>
          </a:p>
        </p:txBody>
      </p:sp>
      <p:sp>
        <p:nvSpPr>
          <p:cNvPr id="16" name="Text 13"/>
          <p:cNvSpPr txBox="1"/>
          <p:nvPr/>
        </p:nvSpPr>
        <p:spPr>
          <a:xfrm>
            <a:off x="6355080" y="3017520"/>
            <a:ext cx="5120640" cy="1645920"/>
          </a:xfrm>
          <a:prstGeom prst="rect">
            <a:avLst/>
          </a:prstGeom>
          <a:noFill/>
          <a:ln/>
        </p:spPr>
        <p:txBody>
          <a:bodyPr wrap="square" lIns="0" tIns="0" rIns="0" bIns="0" rtlCol="0" anchor="t"/>
          <a:lstStyle/>
          <a:p>
            <a:pPr indent="0" marL="0">
              <a:spcAft>
                <a:spcPts val="600"/>
              </a:spcAft>
              <a:buNone/>
            </a:pPr>
            <a:r>
              <a:rPr lang="en-US" sz="1250" b="1" dirty="0">
                <a:solidFill>
                  <a:srgbClr val="7B8794"/>
                </a:solidFill>
                <a:latin typeface="Calibri" pitchFamily="34" charset="0"/>
                <a:ea typeface="Calibri" pitchFamily="34" charset="-122"/>
                <a:cs typeface="Calibri" pitchFamily="34" charset="-120"/>
              </a:rPr>
              <a:t>What happened  </a:t>
            </a:r>
            <a:pPr indent="0" marL="0">
              <a:spcAft>
                <a:spcPts val="600"/>
              </a:spcAft>
              <a:buNone/>
            </a:pPr>
            <a:r>
              <a:rPr lang="en-US" sz="1250" dirty="0">
                <a:solidFill>
                  <a:srgbClr val="CBD2D9"/>
                </a:solidFill>
                <a:latin typeface="Calibri" pitchFamily="34" charset="0"/>
                <a:ea typeface="Calibri" pitchFamily="34" charset="-122"/>
                <a:cs typeface="Calibri" pitchFamily="34" charset="-120"/>
              </a:rPr>
              <a:t>The device connected to the same server 16 times, about every 1.0 seconds, with very little variation.</a:t>
            </a:r>
            <a:endParaRPr lang="en-US" sz="1250" dirty="0"/>
          </a:p>
          <a:p>
            <a:pPr indent="0" marL="0">
              <a:spcAft>
                <a:spcPts val="600"/>
              </a:spcAft>
              <a:buNone/>
            </a:pPr>
            <a:r>
              <a:rPr lang="en-US" sz="1250" b="1" dirty="0">
                <a:solidFill>
                  <a:srgbClr val="7B8794"/>
                </a:solidFill>
                <a:latin typeface="Calibri" pitchFamily="34" charset="0"/>
                <a:ea typeface="Calibri" pitchFamily="34" charset="-122"/>
                <a:cs typeface="Calibri" pitchFamily="34" charset="-120"/>
              </a:rPr>
              <a:t>Likely cause  </a:t>
            </a:r>
            <a:pPr indent="0" marL="0">
              <a:spcAft>
                <a:spcPts val="600"/>
              </a:spcAft>
              <a:buNone/>
            </a:pPr>
            <a:r>
              <a:rPr lang="en-US" sz="1250" dirty="0">
                <a:solidFill>
                  <a:srgbClr val="CBD2D9"/>
                </a:solidFill>
                <a:latin typeface="Calibri" pitchFamily="34" charset="0"/>
                <a:ea typeface="Calibri" pitchFamily="34" charset="-122"/>
                <a:cs typeface="Calibri" pitchFamily="34" charset="-120"/>
              </a:rPr>
              <a:t>Regular small connections can be malware checking in, or a legitimate sync tool.</a:t>
            </a:r>
            <a:endParaRPr lang="en-US" sz="1250" dirty="0"/>
          </a:p>
          <a:p>
            <a:pPr indent="0" marL="0">
              <a:spcAft>
                <a:spcPts val="600"/>
              </a:spcAft>
              <a:buNone/>
            </a:pPr>
            <a:r>
              <a:rPr lang="en-US" sz="1250" b="1" dirty="0">
                <a:solidFill>
                  <a:srgbClr val="7B8794"/>
                </a:solidFill>
                <a:latin typeface="Calibri" pitchFamily="34" charset="0"/>
                <a:ea typeface="Calibri" pitchFamily="34" charset="-122"/>
                <a:cs typeface="Calibri" pitchFamily="34" charset="-120"/>
              </a:rPr>
              <a:t>Suggested action  </a:t>
            </a:r>
            <a:pPr indent="0" marL="0">
              <a:spcAft>
                <a:spcPts val="600"/>
              </a:spcAft>
              <a:buNone/>
            </a:pPr>
            <a:r>
              <a:rPr lang="en-US" sz="1250" dirty="0">
                <a:solidFill>
                  <a:srgbClr val="CBD2D9"/>
                </a:solidFill>
                <a:latin typeface="Calibri" pitchFamily="34" charset="0"/>
                <a:ea typeface="Calibri" pitchFamily="34" charset="-122"/>
                <a:cs typeface="Calibri" pitchFamily="34" charset="-120"/>
              </a:rPr>
              <a:t>Check what this device is running and whether it should be doing this.</a:t>
            </a:r>
            <a:endParaRPr lang="en-US" sz="1250" dirty="0"/>
          </a:p>
        </p:txBody>
      </p:sp>
      <p:sp>
        <p:nvSpPr>
          <p:cNvPr id="17" name="icon-box"/>
          <p:cNvSpPr/>
          <p:nvPr/>
        </p:nvSpPr>
        <p:spPr>
          <a:xfrm>
            <a:off x="548640" y="5074920"/>
            <a:ext cx="548640" cy="548640"/>
          </a:xfrm>
          <a:prstGeom prst="rect">
            <a:avLst/>
          </a:prstGeom>
          <a:solidFill>
            <a:srgbClr val="181D22"/>
          </a:solidFill>
          <a:ln w="12700">
            <a:solidFill>
              <a:srgbClr val="2F3943"/>
            </a:solidFill>
            <a:prstDash val="solid"/>
          </a:ln>
        </p:spPr>
      </p:sp>
      <p:pic>
        <p:nvPicPr>
          <p:cNvPr id="18" name="Image 0" descr="icon">    </p:cNvPr>
          <p:cNvPicPr>
            <a:picLocks noChangeAspect="1"/>
          </p:cNvPicPr>
          <p:nvPr/>
        </p:nvPicPr>
        <p:blipFill>
          <a:blip r:embed="rId1"/>
          <a:stretch>
            <a:fillRect/>
          </a:stretch>
        </p:blipFill>
        <p:spPr>
          <a:xfrm>
            <a:off x="696773" y="5223053"/>
            <a:ext cx="252374" cy="252374"/>
          </a:xfrm>
          <a:prstGeom prst="rect">
            <a:avLst/>
          </a:prstGeom>
        </p:spPr>
      </p:pic>
      <p:sp>
        <p:nvSpPr>
          <p:cNvPr id="19" name="Text 15"/>
          <p:cNvSpPr txBox="1"/>
          <p:nvPr/>
        </p:nvSpPr>
        <p:spPr>
          <a:xfrm>
            <a:off x="1280160" y="5047488"/>
            <a:ext cx="283464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Templates first</a:t>
            </a:r>
            <a:endParaRPr lang="en-US" sz="1500" dirty="0"/>
          </a:p>
        </p:txBody>
      </p:sp>
      <p:sp>
        <p:nvSpPr>
          <p:cNvPr id="20" name="Text 16"/>
          <p:cNvSpPr txBox="1"/>
          <p:nvPr/>
        </p:nvSpPr>
        <p:spPr>
          <a:xfrm>
            <a:off x="1280160" y="5394960"/>
            <a:ext cx="2834640" cy="640080"/>
          </a:xfrm>
          <a:prstGeom prst="rect">
            <a:avLst/>
          </a:prstGeom>
          <a:noFill/>
          <a:ln/>
        </p:spPr>
        <p:txBody>
          <a:bodyPr wrap="square" lIns="0" tIns="0" rIns="0" bIns="0" rtlCol="0" anchor="t"/>
          <a:lstStyle/>
          <a:p>
            <a:pPr indent="0" marL="0">
              <a:buNone/>
            </a:pPr>
            <a:r>
              <a:rPr lang="en-US" sz="1200" dirty="0">
                <a:solidFill>
                  <a:srgbClr val="7B8794"/>
                </a:solidFill>
                <a:latin typeface="Calibri" pitchFamily="34" charset="0"/>
                <a:ea typeface="Calibri" pitchFamily="34" charset="-122"/>
                <a:cs typeface="Calibri" pitchFamily="34" charset="-120"/>
              </a:rPr>
              <a:t>Always available, always matches the evidence.</a:t>
            </a:r>
            <a:endParaRPr lang="en-US" sz="1200" dirty="0"/>
          </a:p>
        </p:txBody>
      </p:sp>
      <p:sp>
        <p:nvSpPr>
          <p:cNvPr id="21" name="icon-box"/>
          <p:cNvSpPr/>
          <p:nvPr/>
        </p:nvSpPr>
        <p:spPr>
          <a:xfrm>
            <a:off x="4297680" y="5074920"/>
            <a:ext cx="548640" cy="548640"/>
          </a:xfrm>
          <a:prstGeom prst="rect">
            <a:avLst/>
          </a:prstGeom>
          <a:solidFill>
            <a:srgbClr val="181D22"/>
          </a:solidFill>
          <a:ln w="12700">
            <a:solidFill>
              <a:srgbClr val="2F3943"/>
            </a:solidFill>
            <a:prstDash val="solid"/>
          </a:ln>
        </p:spPr>
      </p:sp>
      <p:pic>
        <p:nvPicPr>
          <p:cNvPr id="22" name="Image 1" descr="icon">    </p:cNvPr>
          <p:cNvPicPr>
            <a:picLocks noChangeAspect="1"/>
          </p:cNvPicPr>
          <p:nvPr/>
        </p:nvPicPr>
        <p:blipFill>
          <a:blip r:embed="rId2"/>
          <a:stretch>
            <a:fillRect/>
          </a:stretch>
        </p:blipFill>
        <p:spPr>
          <a:xfrm>
            <a:off x="4445813" y="5223053"/>
            <a:ext cx="252374" cy="252374"/>
          </a:xfrm>
          <a:prstGeom prst="rect">
            <a:avLst/>
          </a:prstGeom>
        </p:spPr>
      </p:pic>
      <p:sp>
        <p:nvSpPr>
          <p:cNvPr id="23" name="Text 18"/>
          <p:cNvSpPr txBox="1"/>
          <p:nvPr/>
        </p:nvSpPr>
        <p:spPr>
          <a:xfrm>
            <a:off x="5029200" y="5047488"/>
            <a:ext cx="283464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Optional local LLM</a:t>
            </a:r>
            <a:endParaRPr lang="en-US" sz="1500" dirty="0"/>
          </a:p>
        </p:txBody>
      </p:sp>
      <p:sp>
        <p:nvSpPr>
          <p:cNvPr id="24" name="Text 19"/>
          <p:cNvSpPr txBox="1"/>
          <p:nvPr/>
        </p:nvSpPr>
        <p:spPr>
          <a:xfrm>
            <a:off x="5029200" y="5394960"/>
            <a:ext cx="2834640" cy="640080"/>
          </a:xfrm>
          <a:prstGeom prst="rect">
            <a:avLst/>
          </a:prstGeom>
          <a:noFill/>
          <a:ln/>
        </p:spPr>
        <p:txBody>
          <a:bodyPr wrap="square" lIns="0" tIns="0" rIns="0" bIns="0" rtlCol="0" anchor="t"/>
          <a:lstStyle/>
          <a:p>
            <a:pPr indent="0" marL="0">
              <a:buNone/>
            </a:pPr>
            <a:r>
              <a:rPr lang="en-US" sz="1200" dirty="0">
                <a:solidFill>
                  <a:srgbClr val="7B8794"/>
                </a:solidFill>
                <a:latin typeface="Calibri" pitchFamily="34" charset="0"/>
                <a:ea typeface="Calibri" pitchFamily="34" charset="-122"/>
                <a:cs typeface="Calibri" pitchFamily="34" charset="-120"/>
              </a:rPr>
              <a:t>Ollama or llama.cpp, on your machine. Tried with Gemma (e2b) through Ollama.</a:t>
            </a:r>
            <a:endParaRPr lang="en-US" sz="1200" dirty="0"/>
          </a:p>
        </p:txBody>
      </p:sp>
      <p:sp>
        <p:nvSpPr>
          <p:cNvPr id="25" name="icon-box"/>
          <p:cNvSpPr/>
          <p:nvPr/>
        </p:nvSpPr>
        <p:spPr>
          <a:xfrm>
            <a:off x="8046720" y="5074920"/>
            <a:ext cx="548640" cy="548640"/>
          </a:xfrm>
          <a:prstGeom prst="rect">
            <a:avLst/>
          </a:prstGeom>
          <a:solidFill>
            <a:srgbClr val="181D22"/>
          </a:solidFill>
          <a:ln w="12700">
            <a:solidFill>
              <a:srgbClr val="2F3943"/>
            </a:solidFill>
            <a:prstDash val="solid"/>
          </a:ln>
        </p:spPr>
      </p:sp>
      <p:pic>
        <p:nvPicPr>
          <p:cNvPr id="26" name="Image 2" descr="icon">    </p:cNvPr>
          <p:cNvPicPr>
            <a:picLocks noChangeAspect="1"/>
          </p:cNvPicPr>
          <p:nvPr/>
        </p:nvPicPr>
        <p:blipFill>
          <a:blip r:embed="rId3"/>
          <a:stretch>
            <a:fillRect/>
          </a:stretch>
        </p:blipFill>
        <p:spPr>
          <a:xfrm>
            <a:off x="8194853" y="5223053"/>
            <a:ext cx="252374" cy="252374"/>
          </a:xfrm>
          <a:prstGeom prst="rect">
            <a:avLst/>
          </a:prstGeom>
        </p:spPr>
      </p:pic>
      <p:sp>
        <p:nvSpPr>
          <p:cNvPr id="27" name="Text 21"/>
          <p:cNvSpPr txBox="1"/>
          <p:nvPr/>
        </p:nvSpPr>
        <p:spPr>
          <a:xfrm>
            <a:off x="8778240" y="5047488"/>
            <a:ext cx="2834640" cy="320040"/>
          </a:xfrm>
          <a:prstGeom prst="rect">
            <a:avLst/>
          </a:prstGeom>
          <a:noFill/>
          <a:ln/>
        </p:spPr>
        <p:txBody>
          <a:bodyPr wrap="square" lIns="0" tIns="0" rIns="0" bIns="0" rtlCol="0" anchor="ctr"/>
          <a:lstStyle/>
          <a:p>
            <a:pPr indent="0" marL="0">
              <a:buNone/>
            </a:pPr>
            <a:r>
              <a:rPr lang="en-US" sz="1500" b="1" dirty="0">
                <a:solidFill>
                  <a:srgbClr val="E6EAEE"/>
                </a:solidFill>
                <a:latin typeface="Calibri" pitchFamily="34" charset="0"/>
                <a:ea typeface="Calibri" pitchFamily="34" charset="-122"/>
                <a:cs typeface="Calibri" pitchFamily="34" charset="-120"/>
              </a:rPr>
              <a:t>Fact-checked</a:t>
            </a:r>
            <a:endParaRPr lang="en-US" sz="1500" dirty="0"/>
          </a:p>
        </p:txBody>
      </p:sp>
      <p:sp>
        <p:nvSpPr>
          <p:cNvPr id="28" name="Text 22"/>
          <p:cNvSpPr txBox="1"/>
          <p:nvPr/>
        </p:nvSpPr>
        <p:spPr>
          <a:xfrm>
            <a:off x="8778240" y="5394960"/>
            <a:ext cx="2834640" cy="640080"/>
          </a:xfrm>
          <a:prstGeom prst="rect">
            <a:avLst/>
          </a:prstGeom>
          <a:noFill/>
          <a:ln/>
        </p:spPr>
        <p:txBody>
          <a:bodyPr wrap="square" lIns="0" tIns="0" rIns="0" bIns="0" rtlCol="0" anchor="t"/>
          <a:lstStyle/>
          <a:p>
            <a:pPr indent="0" marL="0">
              <a:buNone/>
            </a:pPr>
            <a:r>
              <a:rPr lang="en-US" sz="1200" dirty="0">
                <a:solidFill>
                  <a:srgbClr val="7B8794"/>
                </a:solidFill>
                <a:latin typeface="Calibri" pitchFamily="34" charset="0"/>
                <a:ea typeface="Calibri" pitchFamily="34" charset="-122"/>
                <a:cs typeface="Calibri" pitchFamily="34" charset="-120"/>
              </a:rPr>
              <a:t>Invented facts are rejected; the template is used instead.</a:t>
            </a:r>
            <a:endParaRPr lang="en-US" sz="120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Alerts where the admin already is</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14  /  NOTIFICATIONS</a:t>
            </a:r>
            <a:endParaRPr lang="en-US" sz="1100" dirty="0"/>
          </a:p>
        </p:txBody>
      </p:sp>
      <p:sp>
        <p:nvSpPr>
          <p:cNvPr id="5" name="card"/>
          <p:cNvSpPr/>
          <p:nvPr/>
        </p:nvSpPr>
        <p:spPr>
          <a:xfrm>
            <a:off x="548640" y="1691640"/>
            <a:ext cx="1737360" cy="1920240"/>
          </a:xfrm>
          <a:prstGeom prst="rect">
            <a:avLst/>
          </a:prstGeom>
          <a:solidFill>
            <a:srgbClr val="12161A"/>
          </a:solidFill>
          <a:ln w="12700">
            <a:solidFill>
              <a:srgbClr val="232A31"/>
            </a:solidFill>
            <a:prstDash val="solid"/>
          </a:ln>
        </p:spPr>
      </p:sp>
      <p:pic>
        <p:nvPicPr>
          <p:cNvPr id="6" name="Image 0" descr="Slack">    </p:cNvPr>
          <p:cNvPicPr>
            <a:picLocks noChangeAspect="1"/>
          </p:cNvPicPr>
          <p:nvPr/>
        </p:nvPicPr>
        <p:blipFill>
          <a:blip r:embed="rId1"/>
          <a:stretch>
            <a:fillRect/>
          </a:stretch>
        </p:blipFill>
        <p:spPr>
          <a:xfrm>
            <a:off x="1097280" y="1920240"/>
            <a:ext cx="640080" cy="640080"/>
          </a:xfrm>
          <a:prstGeom prst="rect">
            <a:avLst/>
          </a:prstGeom>
        </p:spPr>
      </p:pic>
      <p:sp>
        <p:nvSpPr>
          <p:cNvPr id="7" name="Text 3"/>
          <p:cNvSpPr txBox="1"/>
          <p:nvPr/>
        </p:nvSpPr>
        <p:spPr>
          <a:xfrm>
            <a:off x="548640" y="2697480"/>
            <a:ext cx="1737360" cy="365760"/>
          </a:xfrm>
          <a:prstGeom prst="rect">
            <a:avLst/>
          </a:prstGeom>
          <a:noFill/>
          <a:ln/>
        </p:spPr>
        <p:txBody>
          <a:bodyPr wrap="square" lIns="0" tIns="0" rIns="0" bIns="0" rtlCol="0" anchor="ctr"/>
          <a:lstStyle/>
          <a:p>
            <a:pPr algn="ctr" indent="0" marL="0">
              <a:buNone/>
            </a:pPr>
            <a:r>
              <a:rPr lang="en-US" sz="1700" b="1" dirty="0">
                <a:solidFill>
                  <a:srgbClr val="E6EAEE"/>
                </a:solidFill>
                <a:latin typeface="Calibri" pitchFamily="34" charset="0"/>
                <a:ea typeface="Calibri" pitchFamily="34" charset="-122"/>
                <a:cs typeface="Calibri" pitchFamily="34" charset="-120"/>
              </a:rPr>
              <a:t>Slack</a:t>
            </a:r>
            <a:endParaRPr lang="en-US" sz="1700" dirty="0"/>
          </a:p>
        </p:txBody>
      </p:sp>
      <p:sp>
        <p:nvSpPr>
          <p:cNvPr id="8" name="Text 4"/>
          <p:cNvSpPr txBox="1"/>
          <p:nvPr/>
        </p:nvSpPr>
        <p:spPr>
          <a:xfrm>
            <a:off x="548640" y="3108960"/>
            <a:ext cx="1737360" cy="365760"/>
          </a:xfrm>
          <a:prstGeom prst="rect">
            <a:avLst/>
          </a:prstGeom>
          <a:noFill/>
          <a:ln/>
        </p:spPr>
        <p:txBody>
          <a:bodyPr wrap="square" lIns="0" tIns="0" rIns="0" bIns="0" rtlCol="0" anchor="ctr"/>
          <a:lstStyle/>
          <a:p>
            <a:pPr algn="ctr" indent="0" marL="0">
              <a:buNone/>
            </a:pPr>
            <a:r>
              <a:rPr lang="en-US" sz="1000" dirty="0">
                <a:solidFill>
                  <a:srgbClr val="7B8794"/>
                </a:solidFill>
                <a:latin typeface="Courier New" pitchFamily="34" charset="0"/>
                <a:ea typeface="Courier New" pitchFamily="34" charset="-122"/>
                <a:cs typeface="Courier New" pitchFamily="34" charset="-120"/>
              </a:rPr>
              <a:t>incoming webhook</a:t>
            </a:r>
            <a:endParaRPr lang="en-US" sz="1000" dirty="0"/>
          </a:p>
        </p:txBody>
      </p:sp>
      <p:sp>
        <p:nvSpPr>
          <p:cNvPr id="9" name="card"/>
          <p:cNvSpPr/>
          <p:nvPr/>
        </p:nvSpPr>
        <p:spPr>
          <a:xfrm>
            <a:off x="2468880" y="1691640"/>
            <a:ext cx="1737360" cy="1920240"/>
          </a:xfrm>
          <a:prstGeom prst="rect">
            <a:avLst/>
          </a:prstGeom>
          <a:solidFill>
            <a:srgbClr val="12161A"/>
          </a:solidFill>
          <a:ln w="12700">
            <a:solidFill>
              <a:srgbClr val="232A31"/>
            </a:solidFill>
            <a:prstDash val="solid"/>
          </a:ln>
        </p:spPr>
      </p:sp>
      <p:pic>
        <p:nvPicPr>
          <p:cNvPr id="10" name="Image 1" descr="Discord">    </p:cNvPr>
          <p:cNvPicPr>
            <a:picLocks noChangeAspect="1"/>
          </p:cNvPicPr>
          <p:nvPr/>
        </p:nvPicPr>
        <p:blipFill>
          <a:blip r:embed="rId2"/>
          <a:stretch>
            <a:fillRect/>
          </a:stretch>
        </p:blipFill>
        <p:spPr>
          <a:xfrm>
            <a:off x="3017520" y="1920240"/>
            <a:ext cx="640080" cy="640080"/>
          </a:xfrm>
          <a:prstGeom prst="rect">
            <a:avLst/>
          </a:prstGeom>
        </p:spPr>
      </p:pic>
      <p:sp>
        <p:nvSpPr>
          <p:cNvPr id="11" name="Text 6"/>
          <p:cNvSpPr txBox="1"/>
          <p:nvPr/>
        </p:nvSpPr>
        <p:spPr>
          <a:xfrm>
            <a:off x="2468880" y="2697480"/>
            <a:ext cx="1737360" cy="365760"/>
          </a:xfrm>
          <a:prstGeom prst="rect">
            <a:avLst/>
          </a:prstGeom>
          <a:noFill/>
          <a:ln/>
        </p:spPr>
        <p:txBody>
          <a:bodyPr wrap="square" lIns="0" tIns="0" rIns="0" bIns="0" rtlCol="0" anchor="ctr"/>
          <a:lstStyle/>
          <a:p>
            <a:pPr algn="ctr" indent="0" marL="0">
              <a:buNone/>
            </a:pPr>
            <a:r>
              <a:rPr lang="en-US" sz="1700" b="1" dirty="0">
                <a:solidFill>
                  <a:srgbClr val="E6EAEE"/>
                </a:solidFill>
                <a:latin typeface="Calibri" pitchFamily="34" charset="0"/>
                <a:ea typeface="Calibri" pitchFamily="34" charset="-122"/>
                <a:cs typeface="Calibri" pitchFamily="34" charset="-120"/>
              </a:rPr>
              <a:t>Discord</a:t>
            </a:r>
            <a:endParaRPr lang="en-US" sz="1700" dirty="0"/>
          </a:p>
        </p:txBody>
      </p:sp>
      <p:sp>
        <p:nvSpPr>
          <p:cNvPr id="12" name="Text 7"/>
          <p:cNvSpPr txBox="1"/>
          <p:nvPr/>
        </p:nvSpPr>
        <p:spPr>
          <a:xfrm>
            <a:off x="2468880" y="3108960"/>
            <a:ext cx="1737360" cy="365760"/>
          </a:xfrm>
          <a:prstGeom prst="rect">
            <a:avLst/>
          </a:prstGeom>
          <a:noFill/>
          <a:ln/>
        </p:spPr>
        <p:txBody>
          <a:bodyPr wrap="square" lIns="0" tIns="0" rIns="0" bIns="0" rtlCol="0" anchor="ctr"/>
          <a:lstStyle/>
          <a:p>
            <a:pPr algn="ctr" indent="0" marL="0">
              <a:buNone/>
            </a:pPr>
            <a:r>
              <a:rPr lang="en-US" sz="1000" dirty="0">
                <a:solidFill>
                  <a:srgbClr val="7B8794"/>
                </a:solidFill>
                <a:latin typeface="Courier New" pitchFamily="34" charset="0"/>
                <a:ea typeface="Courier New" pitchFamily="34" charset="-122"/>
                <a:cs typeface="Courier New" pitchFamily="34" charset="-120"/>
              </a:rPr>
              <a:t>webhook</a:t>
            </a:r>
            <a:endParaRPr lang="en-US" sz="1000" dirty="0"/>
          </a:p>
        </p:txBody>
      </p:sp>
      <p:sp>
        <p:nvSpPr>
          <p:cNvPr id="13" name="card"/>
          <p:cNvSpPr/>
          <p:nvPr/>
        </p:nvSpPr>
        <p:spPr>
          <a:xfrm>
            <a:off x="4389120" y="1691640"/>
            <a:ext cx="1737360" cy="1920240"/>
          </a:xfrm>
          <a:prstGeom prst="rect">
            <a:avLst/>
          </a:prstGeom>
          <a:solidFill>
            <a:srgbClr val="12161A"/>
          </a:solidFill>
          <a:ln w="12700">
            <a:solidFill>
              <a:srgbClr val="232A31"/>
            </a:solidFill>
            <a:prstDash val="solid"/>
          </a:ln>
        </p:spPr>
      </p:sp>
      <p:pic>
        <p:nvPicPr>
          <p:cNvPr id="14" name="Image 2" descr="Telegram">    </p:cNvPr>
          <p:cNvPicPr>
            <a:picLocks noChangeAspect="1"/>
          </p:cNvPicPr>
          <p:nvPr/>
        </p:nvPicPr>
        <p:blipFill>
          <a:blip r:embed="rId3"/>
          <a:stretch>
            <a:fillRect/>
          </a:stretch>
        </p:blipFill>
        <p:spPr>
          <a:xfrm>
            <a:off x="4937760" y="1920240"/>
            <a:ext cx="640080" cy="640080"/>
          </a:xfrm>
          <a:prstGeom prst="rect">
            <a:avLst/>
          </a:prstGeom>
        </p:spPr>
      </p:pic>
      <p:sp>
        <p:nvSpPr>
          <p:cNvPr id="15" name="Text 9"/>
          <p:cNvSpPr txBox="1"/>
          <p:nvPr/>
        </p:nvSpPr>
        <p:spPr>
          <a:xfrm>
            <a:off x="4389120" y="2697480"/>
            <a:ext cx="1737360" cy="365760"/>
          </a:xfrm>
          <a:prstGeom prst="rect">
            <a:avLst/>
          </a:prstGeom>
          <a:noFill/>
          <a:ln/>
        </p:spPr>
        <p:txBody>
          <a:bodyPr wrap="square" lIns="0" tIns="0" rIns="0" bIns="0" rtlCol="0" anchor="ctr"/>
          <a:lstStyle/>
          <a:p>
            <a:pPr algn="ctr" indent="0" marL="0">
              <a:buNone/>
            </a:pPr>
            <a:r>
              <a:rPr lang="en-US" sz="1700" b="1" dirty="0">
                <a:solidFill>
                  <a:srgbClr val="E6EAEE"/>
                </a:solidFill>
                <a:latin typeface="Calibri" pitchFamily="34" charset="0"/>
                <a:ea typeface="Calibri" pitchFamily="34" charset="-122"/>
                <a:cs typeface="Calibri" pitchFamily="34" charset="-120"/>
              </a:rPr>
              <a:t>Telegram</a:t>
            </a:r>
            <a:endParaRPr lang="en-US" sz="1700" dirty="0"/>
          </a:p>
        </p:txBody>
      </p:sp>
      <p:sp>
        <p:nvSpPr>
          <p:cNvPr id="16" name="Text 10"/>
          <p:cNvSpPr txBox="1"/>
          <p:nvPr/>
        </p:nvSpPr>
        <p:spPr>
          <a:xfrm>
            <a:off x="4389120" y="3108960"/>
            <a:ext cx="1737360" cy="365760"/>
          </a:xfrm>
          <a:prstGeom prst="rect">
            <a:avLst/>
          </a:prstGeom>
          <a:noFill/>
          <a:ln/>
        </p:spPr>
        <p:txBody>
          <a:bodyPr wrap="square" lIns="0" tIns="0" rIns="0" bIns="0" rtlCol="0" anchor="ctr"/>
          <a:lstStyle/>
          <a:p>
            <a:pPr algn="ctr" indent="0" marL="0">
              <a:buNone/>
            </a:pPr>
            <a:r>
              <a:rPr lang="en-US" sz="1000" dirty="0">
                <a:solidFill>
                  <a:srgbClr val="7B8794"/>
                </a:solidFill>
                <a:latin typeface="Courier New" pitchFamily="34" charset="0"/>
                <a:ea typeface="Courier New" pitchFamily="34" charset="-122"/>
                <a:cs typeface="Courier New" pitchFamily="34" charset="-120"/>
              </a:rPr>
              <a:t>bot token + chat id</a:t>
            </a:r>
            <a:endParaRPr lang="en-US" sz="1000" dirty="0"/>
          </a:p>
        </p:txBody>
      </p:sp>
      <p:sp>
        <p:nvSpPr>
          <p:cNvPr id="17" name="panel-head"/>
          <p:cNvSpPr/>
          <p:nvPr/>
        </p:nvSpPr>
        <p:spPr>
          <a:xfrm>
            <a:off x="6492240" y="1691640"/>
            <a:ext cx="5166360" cy="365760"/>
          </a:xfrm>
          <a:prstGeom prst="rect">
            <a:avLst/>
          </a:prstGeom>
          <a:solidFill>
            <a:srgbClr val="0A0C0F"/>
          </a:solidFill>
          <a:ln w="12700">
            <a:solidFill>
              <a:srgbClr val="232A31"/>
            </a:solidFill>
            <a:prstDash val="solid"/>
          </a:ln>
        </p:spPr>
      </p:sp>
      <p:sp>
        <p:nvSpPr>
          <p:cNvPr id="18" name="Text 12"/>
          <p:cNvSpPr txBox="1"/>
          <p:nvPr/>
        </p:nvSpPr>
        <p:spPr>
          <a:xfrm>
            <a:off x="6629400" y="1764792"/>
            <a:ext cx="4892040" cy="228600"/>
          </a:xfrm>
          <a:prstGeom prst="rect">
            <a:avLst/>
          </a:prstGeom>
          <a:noFill/>
          <a:ln/>
        </p:spPr>
        <p:txBody>
          <a:bodyPr wrap="square" lIns="0" tIns="0" rIns="0" bIns="0" rtlCol="0" anchor="ctr"/>
          <a:lstStyle/>
          <a:p>
            <a:pPr indent="0" marL="0">
              <a:buNone/>
            </a:pPr>
            <a:r>
              <a:rPr lang="en-US" sz="1000" b="1" spc="300" kern="0" dirty="0">
                <a:solidFill>
                  <a:srgbClr val="7B8794"/>
                </a:solidFill>
                <a:latin typeface="Courier New" pitchFamily="34" charset="0"/>
                <a:ea typeface="Courier New" pitchFamily="34" charset="-122"/>
                <a:cs typeface="Courier New" pitchFamily="34" charset="-120"/>
              </a:rPr>
              <a:t>WHAT ARRIVES</a:t>
            </a:r>
            <a:endParaRPr lang="en-US" sz="1000" dirty="0"/>
          </a:p>
        </p:txBody>
      </p:sp>
      <p:sp>
        <p:nvSpPr>
          <p:cNvPr id="19" name="panel"/>
          <p:cNvSpPr/>
          <p:nvPr/>
        </p:nvSpPr>
        <p:spPr>
          <a:xfrm>
            <a:off x="6492240" y="2057400"/>
            <a:ext cx="5166360" cy="1554480"/>
          </a:xfrm>
          <a:prstGeom prst="rect">
            <a:avLst/>
          </a:prstGeom>
          <a:solidFill>
            <a:srgbClr val="12161A"/>
          </a:solidFill>
          <a:ln w="12700">
            <a:solidFill>
              <a:srgbClr val="232A31"/>
            </a:solidFill>
            <a:prstDash val="solid"/>
          </a:ln>
        </p:spPr>
      </p:sp>
      <p:sp>
        <p:nvSpPr>
          <p:cNvPr id="20" name="Text 14"/>
          <p:cNvSpPr txBox="1"/>
          <p:nvPr/>
        </p:nvSpPr>
        <p:spPr>
          <a:xfrm>
            <a:off x="6675120" y="2194560"/>
            <a:ext cx="4846320" cy="274320"/>
          </a:xfrm>
          <a:prstGeom prst="rect">
            <a:avLst/>
          </a:prstGeom>
          <a:noFill/>
          <a:ln/>
        </p:spPr>
        <p:txBody>
          <a:bodyPr wrap="square" lIns="0" tIns="0" rIns="0" bIns="0" rtlCol="0" anchor="ctr"/>
          <a:lstStyle/>
          <a:p>
            <a:pPr indent="0" marL="0">
              <a:buNone/>
            </a:pPr>
            <a:r>
              <a:rPr lang="en-US" sz="1200" b="1" dirty="0">
                <a:solidFill>
                  <a:srgbClr val="C4403F"/>
                </a:solidFill>
                <a:latin typeface="Courier New" pitchFamily="34" charset="0"/>
                <a:ea typeface="Courier New" pitchFamily="34" charset="-122"/>
                <a:cs typeface="Courier New" pitchFamily="34" charset="-120"/>
              </a:rPr>
              <a:t>[CRITICAL] Device is probing many network ports</a:t>
            </a:r>
            <a:endParaRPr lang="en-US" sz="1200" dirty="0"/>
          </a:p>
        </p:txBody>
      </p:sp>
      <p:sp>
        <p:nvSpPr>
          <p:cNvPr id="21" name="Text 15"/>
          <p:cNvSpPr txBox="1"/>
          <p:nvPr/>
        </p:nvSpPr>
        <p:spPr>
          <a:xfrm>
            <a:off x="6675120" y="2542032"/>
            <a:ext cx="4846320" cy="1005840"/>
          </a:xfrm>
          <a:prstGeom prst="rect">
            <a:avLst/>
          </a:prstGeom>
          <a:noFill/>
          <a:ln/>
        </p:spPr>
        <p:txBody>
          <a:bodyPr wrap="square" lIns="0" tIns="0" rIns="0" bIns="0" rtlCol="0" anchor="t"/>
          <a:lstStyle/>
          <a:p>
            <a:pPr indent="0" marL="0">
              <a:buNone/>
            </a:pPr>
            <a:r>
              <a:rPr lang="en-US" sz="1200" dirty="0">
                <a:solidFill>
                  <a:srgbClr val="CBD2D9"/>
                </a:solidFill>
                <a:latin typeface="Calibri" pitchFamily="34" charset="0"/>
                <a:ea typeface="Calibri" pitchFamily="34" charset="-122"/>
                <a:cs typeface="Calibri" pitchFamily="34" charset="-120"/>
              </a:rPr>
              <a:t>Device 192.168.2.30 tried 400 different ports on 192.168.2.20 within 10 seconds, and 99% of the attempts failed. Check what this device is running, or disconnect it if you do not recognise this.</a:t>
            </a:r>
            <a:endParaRPr lang="en-US" sz="1200" dirty="0"/>
          </a:p>
        </p:txBody>
      </p:sp>
      <p:sp>
        <p:nvSpPr>
          <p:cNvPr id="22" name="Text 16"/>
          <p:cNvSpPr txBox="1"/>
          <p:nvPr/>
        </p:nvSpPr>
        <p:spPr>
          <a:xfrm>
            <a:off x="548640" y="3977640"/>
            <a:ext cx="7315200" cy="228600"/>
          </a:xfrm>
          <a:prstGeom prst="rect">
            <a:avLst/>
          </a:prstGeom>
          <a:noFill/>
          <a:ln/>
        </p:spPr>
        <p:txBody>
          <a:bodyPr wrap="square" lIns="0" tIns="0" rIns="0" bIns="0" rtlCol="0" anchor="ctr"/>
          <a:lstStyle/>
          <a:p>
            <a:pPr indent="0" marL="0">
              <a:buNone/>
            </a:pPr>
            <a:r>
              <a:rPr lang="en-US" sz="1000" b="1" spc="300" kern="0" dirty="0">
                <a:solidFill>
                  <a:srgbClr val="7B8794"/>
                </a:solidFill>
                <a:latin typeface="Courier New" pitchFamily="34" charset="0"/>
                <a:ea typeface="Courier New" pitchFamily="34" charset="-122"/>
                <a:cs typeface="Courier New" pitchFamily="34" charset="-120"/>
              </a:rPr>
              <a:t>POLICIES THAT PREVENT ALERT FATIGUE</a:t>
            </a:r>
            <a:endParaRPr lang="en-US" sz="1000" dirty="0"/>
          </a:p>
        </p:txBody>
      </p:sp>
      <p:sp>
        <p:nvSpPr>
          <p:cNvPr id="23" name="policy"/>
          <p:cNvSpPr/>
          <p:nvPr/>
        </p:nvSpPr>
        <p:spPr>
          <a:xfrm>
            <a:off x="548640" y="4343400"/>
            <a:ext cx="2103120" cy="914400"/>
          </a:xfrm>
          <a:prstGeom prst="rect">
            <a:avLst/>
          </a:prstGeom>
          <a:solidFill>
            <a:srgbClr val="12161A"/>
          </a:solidFill>
          <a:ln w="12700">
            <a:solidFill>
              <a:srgbClr val="232A31"/>
            </a:solidFill>
            <a:prstDash val="solid"/>
          </a:ln>
        </p:spPr>
      </p:sp>
      <p:sp>
        <p:nvSpPr>
          <p:cNvPr id="24" name="Text 18"/>
          <p:cNvSpPr txBox="1"/>
          <p:nvPr/>
        </p:nvSpPr>
        <p:spPr>
          <a:xfrm>
            <a:off x="713232" y="4434840"/>
            <a:ext cx="1828800" cy="320040"/>
          </a:xfrm>
          <a:prstGeom prst="rect">
            <a:avLst/>
          </a:prstGeom>
          <a:noFill/>
          <a:ln/>
        </p:spPr>
        <p:txBody>
          <a:bodyPr wrap="square" lIns="0" tIns="0" rIns="0" bIns="0" rtlCol="0" anchor="ctr"/>
          <a:lstStyle/>
          <a:p>
            <a:pPr indent="0" marL="0">
              <a:buNone/>
            </a:pPr>
            <a:r>
              <a:rPr lang="en-US" sz="1400" b="1" dirty="0">
                <a:solidFill>
                  <a:srgbClr val="E6EAEE"/>
                </a:solidFill>
                <a:latin typeface="Calibri" pitchFamily="34" charset="0"/>
                <a:ea typeface="Calibri" pitchFamily="34" charset="-122"/>
                <a:cs typeface="Calibri" pitchFamily="34" charset="-120"/>
              </a:rPr>
              <a:t>severity floor</a:t>
            </a:r>
            <a:endParaRPr lang="en-US" sz="1400" dirty="0"/>
          </a:p>
        </p:txBody>
      </p:sp>
      <p:sp>
        <p:nvSpPr>
          <p:cNvPr id="25" name="Text 19"/>
          <p:cNvSpPr txBox="1"/>
          <p:nvPr/>
        </p:nvSpPr>
        <p:spPr>
          <a:xfrm>
            <a:off x="713232" y="4800600"/>
            <a:ext cx="1828800" cy="320040"/>
          </a:xfrm>
          <a:prstGeom prst="rect">
            <a:avLst/>
          </a:prstGeom>
          <a:noFill/>
          <a:ln/>
        </p:spPr>
        <p:txBody>
          <a:bodyPr wrap="square" lIns="0" tIns="0" rIns="0" bIns="0" rtlCol="0" anchor="ctr"/>
          <a:lstStyle/>
          <a:p>
            <a:pPr indent="0" marL="0">
              <a:buNone/>
            </a:pPr>
            <a:r>
              <a:rPr lang="en-US" sz="1050" dirty="0">
                <a:solidFill>
                  <a:srgbClr val="7B8794"/>
                </a:solidFill>
                <a:latin typeface="Courier New" pitchFamily="34" charset="0"/>
                <a:ea typeface="Courier New" pitchFamily="34" charset="-122"/>
                <a:cs typeface="Courier New" pitchFamily="34" charset="-120"/>
              </a:rPr>
              <a:t>default 0.6</a:t>
            </a:r>
            <a:endParaRPr lang="en-US" sz="1050" dirty="0"/>
          </a:p>
        </p:txBody>
      </p:sp>
      <p:sp>
        <p:nvSpPr>
          <p:cNvPr id="26" name="policy"/>
          <p:cNvSpPr/>
          <p:nvPr/>
        </p:nvSpPr>
        <p:spPr>
          <a:xfrm>
            <a:off x="2788920" y="4343400"/>
            <a:ext cx="2103120" cy="914400"/>
          </a:xfrm>
          <a:prstGeom prst="rect">
            <a:avLst/>
          </a:prstGeom>
          <a:solidFill>
            <a:srgbClr val="12161A"/>
          </a:solidFill>
          <a:ln w="12700">
            <a:solidFill>
              <a:srgbClr val="232A31"/>
            </a:solidFill>
            <a:prstDash val="solid"/>
          </a:ln>
        </p:spPr>
      </p:sp>
      <p:sp>
        <p:nvSpPr>
          <p:cNvPr id="27" name="Text 21"/>
          <p:cNvSpPr txBox="1"/>
          <p:nvPr/>
        </p:nvSpPr>
        <p:spPr>
          <a:xfrm>
            <a:off x="2953512" y="4434840"/>
            <a:ext cx="1828800" cy="320040"/>
          </a:xfrm>
          <a:prstGeom prst="rect">
            <a:avLst/>
          </a:prstGeom>
          <a:noFill/>
          <a:ln/>
        </p:spPr>
        <p:txBody>
          <a:bodyPr wrap="square" lIns="0" tIns="0" rIns="0" bIns="0" rtlCol="0" anchor="ctr"/>
          <a:lstStyle/>
          <a:p>
            <a:pPr indent="0" marL="0">
              <a:buNone/>
            </a:pPr>
            <a:r>
              <a:rPr lang="en-US" sz="1400" b="1" dirty="0">
                <a:solidFill>
                  <a:srgbClr val="E6EAEE"/>
                </a:solidFill>
                <a:latin typeface="Calibri" pitchFamily="34" charset="0"/>
                <a:ea typeface="Calibri" pitchFamily="34" charset="-122"/>
                <a:cs typeface="Calibri" pitchFamily="34" charset="-120"/>
              </a:rPr>
              <a:t>de-duplication</a:t>
            </a:r>
            <a:endParaRPr lang="en-US" sz="1400" dirty="0"/>
          </a:p>
        </p:txBody>
      </p:sp>
      <p:sp>
        <p:nvSpPr>
          <p:cNvPr id="28" name="Text 22"/>
          <p:cNvSpPr txBox="1"/>
          <p:nvPr/>
        </p:nvSpPr>
        <p:spPr>
          <a:xfrm>
            <a:off x="2953512" y="4800600"/>
            <a:ext cx="1828800" cy="320040"/>
          </a:xfrm>
          <a:prstGeom prst="rect">
            <a:avLst/>
          </a:prstGeom>
          <a:noFill/>
          <a:ln/>
        </p:spPr>
        <p:txBody>
          <a:bodyPr wrap="square" lIns="0" tIns="0" rIns="0" bIns="0" rtlCol="0" anchor="ctr"/>
          <a:lstStyle/>
          <a:p>
            <a:pPr indent="0" marL="0">
              <a:buNone/>
            </a:pPr>
            <a:r>
              <a:rPr lang="en-US" sz="1050" dirty="0">
                <a:solidFill>
                  <a:srgbClr val="7B8794"/>
                </a:solidFill>
                <a:latin typeface="Courier New" pitchFamily="34" charset="0"/>
                <a:ea typeface="Courier New" pitchFamily="34" charset="-122"/>
                <a:cs typeface="Courier New" pitchFamily="34" charset="-120"/>
              </a:rPr>
              <a:t>one per chain step</a:t>
            </a:r>
            <a:endParaRPr lang="en-US" sz="1050" dirty="0"/>
          </a:p>
        </p:txBody>
      </p:sp>
      <p:sp>
        <p:nvSpPr>
          <p:cNvPr id="29" name="policy"/>
          <p:cNvSpPr/>
          <p:nvPr/>
        </p:nvSpPr>
        <p:spPr>
          <a:xfrm>
            <a:off x="5029200" y="4343400"/>
            <a:ext cx="2103120" cy="914400"/>
          </a:xfrm>
          <a:prstGeom prst="rect">
            <a:avLst/>
          </a:prstGeom>
          <a:solidFill>
            <a:srgbClr val="12161A"/>
          </a:solidFill>
          <a:ln w="12700">
            <a:solidFill>
              <a:srgbClr val="232A31"/>
            </a:solidFill>
            <a:prstDash val="solid"/>
          </a:ln>
        </p:spPr>
      </p:sp>
      <p:sp>
        <p:nvSpPr>
          <p:cNvPr id="30" name="Text 24"/>
          <p:cNvSpPr txBox="1"/>
          <p:nvPr/>
        </p:nvSpPr>
        <p:spPr>
          <a:xfrm>
            <a:off x="5193792" y="4434840"/>
            <a:ext cx="1828800" cy="320040"/>
          </a:xfrm>
          <a:prstGeom prst="rect">
            <a:avLst/>
          </a:prstGeom>
          <a:noFill/>
          <a:ln/>
        </p:spPr>
        <p:txBody>
          <a:bodyPr wrap="square" lIns="0" tIns="0" rIns="0" bIns="0" rtlCol="0" anchor="ctr"/>
          <a:lstStyle/>
          <a:p>
            <a:pPr indent="0" marL="0">
              <a:buNone/>
            </a:pPr>
            <a:r>
              <a:rPr lang="en-US" sz="1400" b="1" dirty="0">
                <a:solidFill>
                  <a:srgbClr val="E6EAEE"/>
                </a:solidFill>
                <a:latin typeface="Calibri" pitchFamily="34" charset="0"/>
                <a:ea typeface="Calibri" pitchFamily="34" charset="-122"/>
                <a:cs typeface="Calibri" pitchFamily="34" charset="-120"/>
              </a:rPr>
              <a:t>rate limit</a:t>
            </a:r>
            <a:endParaRPr lang="en-US" sz="1400" dirty="0"/>
          </a:p>
        </p:txBody>
      </p:sp>
      <p:sp>
        <p:nvSpPr>
          <p:cNvPr id="31" name="Text 25"/>
          <p:cNvSpPr txBox="1"/>
          <p:nvPr/>
        </p:nvSpPr>
        <p:spPr>
          <a:xfrm>
            <a:off x="5193792" y="4800600"/>
            <a:ext cx="1828800" cy="320040"/>
          </a:xfrm>
          <a:prstGeom prst="rect">
            <a:avLst/>
          </a:prstGeom>
          <a:noFill/>
          <a:ln/>
        </p:spPr>
        <p:txBody>
          <a:bodyPr wrap="square" lIns="0" tIns="0" rIns="0" bIns="0" rtlCol="0" anchor="ctr"/>
          <a:lstStyle/>
          <a:p>
            <a:pPr indent="0" marL="0">
              <a:buNone/>
            </a:pPr>
            <a:r>
              <a:rPr lang="en-US" sz="1050" dirty="0">
                <a:solidFill>
                  <a:srgbClr val="7B8794"/>
                </a:solidFill>
                <a:latin typeface="Courier New" pitchFamily="34" charset="0"/>
                <a:ea typeface="Courier New" pitchFamily="34" charset="-122"/>
                <a:cs typeface="Courier New" pitchFamily="34" charset="-120"/>
              </a:rPr>
              <a:t>10 / min / channel</a:t>
            </a:r>
            <a:endParaRPr lang="en-US" sz="1050" dirty="0"/>
          </a:p>
        </p:txBody>
      </p:sp>
      <p:sp>
        <p:nvSpPr>
          <p:cNvPr id="32" name="policy"/>
          <p:cNvSpPr/>
          <p:nvPr/>
        </p:nvSpPr>
        <p:spPr>
          <a:xfrm>
            <a:off x="7269480" y="4343400"/>
            <a:ext cx="2103120" cy="914400"/>
          </a:xfrm>
          <a:prstGeom prst="rect">
            <a:avLst/>
          </a:prstGeom>
          <a:solidFill>
            <a:srgbClr val="12161A"/>
          </a:solidFill>
          <a:ln w="12700">
            <a:solidFill>
              <a:srgbClr val="232A31"/>
            </a:solidFill>
            <a:prstDash val="solid"/>
          </a:ln>
        </p:spPr>
      </p:sp>
      <p:sp>
        <p:nvSpPr>
          <p:cNvPr id="33" name="Text 27"/>
          <p:cNvSpPr txBox="1"/>
          <p:nvPr/>
        </p:nvSpPr>
        <p:spPr>
          <a:xfrm>
            <a:off x="7434072" y="4434840"/>
            <a:ext cx="1828800" cy="320040"/>
          </a:xfrm>
          <a:prstGeom prst="rect">
            <a:avLst/>
          </a:prstGeom>
          <a:noFill/>
          <a:ln/>
        </p:spPr>
        <p:txBody>
          <a:bodyPr wrap="square" lIns="0" tIns="0" rIns="0" bIns="0" rtlCol="0" anchor="ctr"/>
          <a:lstStyle/>
          <a:p>
            <a:pPr indent="0" marL="0">
              <a:buNone/>
            </a:pPr>
            <a:r>
              <a:rPr lang="en-US" sz="1400" b="1" dirty="0">
                <a:solidFill>
                  <a:srgbClr val="E6EAEE"/>
                </a:solidFill>
                <a:latin typeface="Calibri" pitchFamily="34" charset="0"/>
                <a:ea typeface="Calibri" pitchFamily="34" charset="-122"/>
                <a:cs typeface="Calibri" pitchFamily="34" charset="-120"/>
              </a:rPr>
              <a:t>retry + back-off</a:t>
            </a:r>
            <a:endParaRPr lang="en-US" sz="1400" dirty="0"/>
          </a:p>
        </p:txBody>
      </p:sp>
      <p:sp>
        <p:nvSpPr>
          <p:cNvPr id="34" name="Text 28"/>
          <p:cNvSpPr txBox="1"/>
          <p:nvPr/>
        </p:nvSpPr>
        <p:spPr>
          <a:xfrm>
            <a:off x="7434072" y="4800600"/>
            <a:ext cx="1828800" cy="320040"/>
          </a:xfrm>
          <a:prstGeom prst="rect">
            <a:avLst/>
          </a:prstGeom>
          <a:noFill/>
          <a:ln/>
        </p:spPr>
        <p:txBody>
          <a:bodyPr wrap="square" lIns="0" tIns="0" rIns="0" bIns="0" rtlCol="0" anchor="ctr"/>
          <a:lstStyle/>
          <a:p>
            <a:pPr indent="0" marL="0">
              <a:buNone/>
            </a:pPr>
            <a:r>
              <a:rPr lang="en-US" sz="1050" dirty="0">
                <a:solidFill>
                  <a:srgbClr val="7B8794"/>
                </a:solidFill>
                <a:latin typeface="Courier New" pitchFamily="34" charset="0"/>
                <a:ea typeface="Courier New" pitchFamily="34" charset="-122"/>
                <a:cs typeface="Courier New" pitchFamily="34" charset="-120"/>
              </a:rPr>
              <a:t>2 retries</a:t>
            </a:r>
            <a:endParaRPr lang="en-US" sz="1050" dirty="0"/>
          </a:p>
        </p:txBody>
      </p:sp>
      <p:sp>
        <p:nvSpPr>
          <p:cNvPr id="35" name="policy"/>
          <p:cNvSpPr/>
          <p:nvPr/>
        </p:nvSpPr>
        <p:spPr>
          <a:xfrm>
            <a:off x="9509760" y="4343400"/>
            <a:ext cx="2103120" cy="914400"/>
          </a:xfrm>
          <a:prstGeom prst="rect">
            <a:avLst/>
          </a:prstGeom>
          <a:solidFill>
            <a:srgbClr val="12161A"/>
          </a:solidFill>
          <a:ln w="12700">
            <a:solidFill>
              <a:srgbClr val="232A31"/>
            </a:solidFill>
            <a:prstDash val="solid"/>
          </a:ln>
        </p:spPr>
      </p:sp>
      <p:sp>
        <p:nvSpPr>
          <p:cNvPr id="36" name="Text 30"/>
          <p:cNvSpPr txBox="1"/>
          <p:nvPr/>
        </p:nvSpPr>
        <p:spPr>
          <a:xfrm>
            <a:off x="9674352" y="4434840"/>
            <a:ext cx="1828800" cy="320040"/>
          </a:xfrm>
          <a:prstGeom prst="rect">
            <a:avLst/>
          </a:prstGeom>
          <a:noFill/>
          <a:ln/>
        </p:spPr>
        <p:txBody>
          <a:bodyPr wrap="square" lIns="0" tIns="0" rIns="0" bIns="0" rtlCol="0" anchor="ctr"/>
          <a:lstStyle/>
          <a:p>
            <a:pPr indent="0" marL="0">
              <a:buNone/>
            </a:pPr>
            <a:r>
              <a:rPr lang="en-US" sz="1400" b="1" dirty="0">
                <a:solidFill>
                  <a:srgbClr val="E6EAEE"/>
                </a:solidFill>
                <a:latin typeface="Calibri" pitchFamily="34" charset="0"/>
                <a:ea typeface="Calibri" pitchFamily="34" charset="-122"/>
                <a:cs typeface="Calibri" pitchFamily="34" charset="-120"/>
              </a:rPr>
              <a:t>circuit breaker</a:t>
            </a:r>
            <a:endParaRPr lang="en-US" sz="1400" dirty="0"/>
          </a:p>
        </p:txBody>
      </p:sp>
      <p:sp>
        <p:nvSpPr>
          <p:cNvPr id="37" name="Text 31"/>
          <p:cNvSpPr txBox="1"/>
          <p:nvPr/>
        </p:nvSpPr>
        <p:spPr>
          <a:xfrm>
            <a:off x="9674352" y="4800600"/>
            <a:ext cx="1828800" cy="320040"/>
          </a:xfrm>
          <a:prstGeom prst="rect">
            <a:avLst/>
          </a:prstGeom>
          <a:noFill/>
          <a:ln/>
        </p:spPr>
        <p:txBody>
          <a:bodyPr wrap="square" lIns="0" tIns="0" rIns="0" bIns="0" rtlCol="0" anchor="ctr"/>
          <a:lstStyle/>
          <a:p>
            <a:pPr indent="0" marL="0">
              <a:buNone/>
            </a:pPr>
            <a:r>
              <a:rPr lang="en-US" sz="1050" dirty="0">
                <a:solidFill>
                  <a:srgbClr val="7B8794"/>
                </a:solidFill>
                <a:latin typeface="Courier New" pitchFamily="34" charset="0"/>
                <a:ea typeface="Courier New" pitchFamily="34" charset="-122"/>
                <a:cs typeface="Courier New" pitchFamily="34" charset="-120"/>
              </a:rPr>
              <a:t>3 failures, 5 min off</a:t>
            </a:r>
            <a:endParaRPr lang="en-US" sz="1050" dirty="0"/>
          </a:p>
        </p:txBody>
      </p:sp>
      <p:sp>
        <p:nvSpPr>
          <p:cNvPr id="38" name="honest"/>
          <p:cNvSpPr/>
          <p:nvPr/>
        </p:nvSpPr>
        <p:spPr>
          <a:xfrm>
            <a:off x="548640" y="5532120"/>
            <a:ext cx="11109960" cy="594360"/>
          </a:xfrm>
          <a:prstGeom prst="rect">
            <a:avLst/>
          </a:prstGeom>
          <a:solidFill>
            <a:srgbClr val="181D22"/>
          </a:solidFill>
          <a:ln w="12700">
            <a:solidFill>
              <a:srgbClr val="2F3943"/>
            </a:solidFill>
            <a:prstDash val="solid"/>
          </a:ln>
        </p:spPr>
      </p:sp>
      <p:sp>
        <p:nvSpPr>
          <p:cNvPr id="39" name="honest-edge"/>
          <p:cNvSpPr/>
          <p:nvPr/>
        </p:nvSpPr>
        <p:spPr>
          <a:xfrm>
            <a:off x="548640" y="5532120"/>
            <a:ext cx="73152" cy="594360"/>
          </a:xfrm>
          <a:prstGeom prst="rect">
            <a:avLst/>
          </a:prstGeom>
          <a:solidFill>
            <a:srgbClr val="B8993B"/>
          </a:solidFill>
          <a:ln/>
        </p:spPr>
      </p:sp>
      <p:sp>
        <p:nvSpPr>
          <p:cNvPr id="40" name="Text 34"/>
          <p:cNvSpPr txBox="1"/>
          <p:nvPr/>
        </p:nvSpPr>
        <p:spPr>
          <a:xfrm>
            <a:off x="868680" y="5532120"/>
            <a:ext cx="10607040" cy="594360"/>
          </a:xfrm>
          <a:prstGeom prst="rect">
            <a:avLst/>
          </a:prstGeom>
          <a:noFill/>
          <a:ln/>
        </p:spPr>
        <p:txBody>
          <a:bodyPr wrap="square" lIns="0" tIns="0" rIns="0" bIns="0" rtlCol="0" anchor="ctr"/>
          <a:lstStyle/>
          <a:p>
            <a:pPr indent="0" marL="0">
              <a:buNone/>
            </a:pPr>
            <a:r>
              <a:rPr lang="en-US" sz="1250" b="1" dirty="0">
                <a:solidFill>
                  <a:srgbClr val="E6EAEE"/>
                </a:solidFill>
                <a:latin typeface="Calibri" pitchFamily="34" charset="0"/>
                <a:ea typeface="Calibri" pitchFamily="34" charset="-122"/>
                <a:cs typeface="Calibri" pitchFamily="34" charset="-120"/>
              </a:rPr>
              <a:t>Opt-in, off by default. </a:t>
            </a:r>
            <a:pPr indent="0" marL="0">
              <a:buNone/>
            </a:pPr>
            <a:r>
              <a:rPr lang="en-US" sz="1250" dirty="0">
                <a:solidFill>
                  <a:srgbClr val="CBD2D9"/>
                </a:solidFill>
                <a:latin typeface="Calibri" pitchFamily="34" charset="0"/>
                <a:ea typeface="Calibri" pitchFamily="34" charset="-122"/>
                <a:cs typeface="Calibri" pitchFamily="34" charset="-120"/>
              </a:rPr>
              <a:t>Keys stay in a private file. Messages never contain packet data. Delivery is tested against fakes; real-channel delivery is still to be confirmed.</a:t>
            </a:r>
            <a:endParaRPr lang="en-US" sz="125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A security tool has to be safe to run</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15  /  SECURITY BY DESIGN</a:t>
            </a:r>
            <a:endParaRPr lang="en-US" sz="1100" dirty="0"/>
          </a:p>
        </p:txBody>
      </p:sp>
      <p:sp>
        <p:nvSpPr>
          <p:cNvPr id="5" name="icon-box"/>
          <p:cNvSpPr/>
          <p:nvPr/>
        </p:nvSpPr>
        <p:spPr>
          <a:xfrm>
            <a:off x="548640" y="1645920"/>
            <a:ext cx="640080" cy="640080"/>
          </a:xfrm>
          <a:prstGeom prst="rect">
            <a:avLst/>
          </a:prstGeom>
          <a:solidFill>
            <a:srgbClr val="181D22"/>
          </a:solidFill>
          <a:ln w="12700">
            <a:solidFill>
              <a:srgbClr val="2F3943"/>
            </a:solidFill>
            <a:prstDash val="solid"/>
          </a:ln>
        </p:spPr>
      </p:sp>
      <p:pic>
        <p:nvPicPr>
          <p:cNvPr id="6" name="Image 0" descr="icon">    </p:cNvPr>
          <p:cNvPicPr>
            <a:picLocks noChangeAspect="1"/>
          </p:cNvPicPr>
          <p:nvPr/>
        </p:nvPicPr>
        <p:blipFill>
          <a:blip r:embed="rId1"/>
          <a:stretch>
            <a:fillRect/>
          </a:stretch>
        </p:blipFill>
        <p:spPr>
          <a:xfrm>
            <a:off x="721462" y="1818742"/>
            <a:ext cx="294437" cy="294437"/>
          </a:xfrm>
          <a:prstGeom prst="rect">
            <a:avLst/>
          </a:prstGeom>
        </p:spPr>
      </p:pic>
      <p:sp>
        <p:nvSpPr>
          <p:cNvPr id="7" name="Text 3"/>
          <p:cNvSpPr txBox="1"/>
          <p:nvPr/>
        </p:nvSpPr>
        <p:spPr>
          <a:xfrm>
            <a:off x="1417320" y="1618488"/>
            <a:ext cx="5486400" cy="365760"/>
          </a:xfrm>
          <a:prstGeom prst="rect">
            <a:avLst/>
          </a:prstGeom>
          <a:noFill/>
          <a:ln/>
        </p:spPr>
        <p:txBody>
          <a:bodyPr wrap="square" lIns="0" tIns="0" rIns="0" bIns="0" rtlCol="0" anchor="ctr"/>
          <a:lstStyle/>
          <a:p>
            <a:pPr indent="0" marL="0">
              <a:buNone/>
            </a:pPr>
            <a:r>
              <a:rPr lang="en-US" sz="1700" b="1" dirty="0">
                <a:solidFill>
                  <a:srgbClr val="E6EAEE"/>
                </a:solidFill>
                <a:latin typeface="Calibri" pitchFamily="34" charset="0"/>
                <a:ea typeface="Calibri" pitchFamily="34" charset="-122"/>
                <a:cs typeface="Calibri" pitchFamily="34" charset="-120"/>
              </a:rPr>
              <a:t>Network text is hostile</a:t>
            </a:r>
            <a:endParaRPr lang="en-US" sz="1700" dirty="0"/>
          </a:p>
        </p:txBody>
      </p:sp>
      <p:sp>
        <p:nvSpPr>
          <p:cNvPr id="8" name="Text 4"/>
          <p:cNvSpPr txBox="1"/>
          <p:nvPr/>
        </p:nvSpPr>
        <p:spPr>
          <a:xfrm>
            <a:off x="1417320" y="1975104"/>
            <a:ext cx="5577840" cy="548640"/>
          </a:xfrm>
          <a:prstGeom prst="rect">
            <a:avLst/>
          </a:prstGeom>
          <a:noFill/>
          <a:ln/>
        </p:spPr>
        <p:txBody>
          <a:bodyPr wrap="square" lIns="0" tIns="0" rIns="0" bIns="0" rtlCol="0" anchor="t"/>
          <a:lstStyle/>
          <a:p>
            <a:pPr indent="0" marL="0">
              <a:buNone/>
            </a:pPr>
            <a:r>
              <a:rPr lang="en-US" sz="1250" dirty="0">
                <a:solidFill>
                  <a:srgbClr val="7B8794"/>
                </a:solidFill>
                <a:latin typeface="Calibri" pitchFamily="34" charset="0"/>
                <a:ea typeface="Calibri" pitchFamily="34" charset="-122"/>
                <a:cs typeface="Calibri" pitchFamily="34" charset="-120"/>
              </a:rPr>
              <a:t>DNS names and hostnames pass one sanitiser before any LLM, alert or screen. The console shows them as plain text only.</a:t>
            </a:r>
            <a:endParaRPr lang="en-US" sz="1250" dirty="0"/>
          </a:p>
        </p:txBody>
      </p:sp>
      <p:sp>
        <p:nvSpPr>
          <p:cNvPr id="9" name="icon-box"/>
          <p:cNvSpPr/>
          <p:nvPr/>
        </p:nvSpPr>
        <p:spPr>
          <a:xfrm>
            <a:off x="548640" y="2551176"/>
            <a:ext cx="640080" cy="640080"/>
          </a:xfrm>
          <a:prstGeom prst="rect">
            <a:avLst/>
          </a:prstGeom>
          <a:solidFill>
            <a:srgbClr val="181D22"/>
          </a:solidFill>
          <a:ln w="12700">
            <a:solidFill>
              <a:srgbClr val="2F3943"/>
            </a:solidFill>
            <a:prstDash val="solid"/>
          </a:ln>
        </p:spPr>
      </p:sp>
      <p:pic>
        <p:nvPicPr>
          <p:cNvPr id="10" name="Image 1" descr="icon">    </p:cNvPr>
          <p:cNvPicPr>
            <a:picLocks noChangeAspect="1"/>
          </p:cNvPicPr>
          <p:nvPr/>
        </p:nvPicPr>
        <p:blipFill>
          <a:blip r:embed="rId2"/>
          <a:stretch>
            <a:fillRect/>
          </a:stretch>
        </p:blipFill>
        <p:spPr>
          <a:xfrm>
            <a:off x="721462" y="2723998"/>
            <a:ext cx="294437" cy="294437"/>
          </a:xfrm>
          <a:prstGeom prst="rect">
            <a:avLst/>
          </a:prstGeom>
        </p:spPr>
      </p:pic>
      <p:sp>
        <p:nvSpPr>
          <p:cNvPr id="11" name="Text 6"/>
          <p:cNvSpPr txBox="1"/>
          <p:nvPr/>
        </p:nvSpPr>
        <p:spPr>
          <a:xfrm>
            <a:off x="1417320" y="2523744"/>
            <a:ext cx="5486400" cy="365760"/>
          </a:xfrm>
          <a:prstGeom prst="rect">
            <a:avLst/>
          </a:prstGeom>
          <a:noFill/>
          <a:ln/>
        </p:spPr>
        <p:txBody>
          <a:bodyPr wrap="square" lIns="0" tIns="0" rIns="0" bIns="0" rtlCol="0" anchor="ctr"/>
          <a:lstStyle/>
          <a:p>
            <a:pPr indent="0" marL="0">
              <a:buNone/>
            </a:pPr>
            <a:r>
              <a:rPr lang="en-US" sz="1700" b="1" dirty="0">
                <a:solidFill>
                  <a:srgbClr val="E6EAEE"/>
                </a:solidFill>
                <a:latin typeface="Calibri" pitchFamily="34" charset="0"/>
                <a:ea typeface="Calibri" pitchFamily="34" charset="-122"/>
                <a:cs typeface="Calibri" pitchFamily="34" charset="-120"/>
              </a:rPr>
              <a:t>A locked-down console</a:t>
            </a:r>
            <a:endParaRPr lang="en-US" sz="1700" dirty="0"/>
          </a:p>
        </p:txBody>
      </p:sp>
      <p:sp>
        <p:nvSpPr>
          <p:cNvPr id="12" name="Text 7"/>
          <p:cNvSpPr txBox="1"/>
          <p:nvPr/>
        </p:nvSpPr>
        <p:spPr>
          <a:xfrm>
            <a:off x="1417320" y="2880360"/>
            <a:ext cx="5577840" cy="548640"/>
          </a:xfrm>
          <a:prstGeom prst="rect">
            <a:avLst/>
          </a:prstGeom>
          <a:noFill/>
          <a:ln/>
        </p:spPr>
        <p:txBody>
          <a:bodyPr wrap="square" lIns="0" tIns="0" rIns="0" bIns="0" rtlCol="0" anchor="t"/>
          <a:lstStyle/>
          <a:p>
            <a:pPr indent="0" marL="0">
              <a:buNone/>
            </a:pPr>
            <a:r>
              <a:rPr lang="en-US" sz="1250" dirty="0">
                <a:solidFill>
                  <a:srgbClr val="7B8794"/>
                </a:solidFill>
                <a:latin typeface="Calibri" pitchFamily="34" charset="0"/>
                <a:ea typeface="Calibri" pitchFamily="34" charset="-122"/>
                <a:cs typeface="Calibri" pitchFamily="34" charset="-120"/>
              </a:rPr>
              <a:t>127.0.0.1 only, per-run token, strict content-security policy, no inline scripts, and a test that fails if HTML is built from strings.</a:t>
            </a:r>
            <a:endParaRPr lang="en-US" sz="1250" dirty="0"/>
          </a:p>
        </p:txBody>
      </p:sp>
      <p:sp>
        <p:nvSpPr>
          <p:cNvPr id="13" name="icon-box"/>
          <p:cNvSpPr/>
          <p:nvPr/>
        </p:nvSpPr>
        <p:spPr>
          <a:xfrm>
            <a:off x="548640" y="3456432"/>
            <a:ext cx="640080" cy="640080"/>
          </a:xfrm>
          <a:prstGeom prst="rect">
            <a:avLst/>
          </a:prstGeom>
          <a:solidFill>
            <a:srgbClr val="181D22"/>
          </a:solidFill>
          <a:ln w="12700">
            <a:solidFill>
              <a:srgbClr val="2F3943"/>
            </a:solidFill>
            <a:prstDash val="solid"/>
          </a:ln>
        </p:spPr>
      </p:sp>
      <p:pic>
        <p:nvPicPr>
          <p:cNvPr id="14" name="Image 2" descr="icon">    </p:cNvPr>
          <p:cNvPicPr>
            <a:picLocks noChangeAspect="1"/>
          </p:cNvPicPr>
          <p:nvPr/>
        </p:nvPicPr>
        <p:blipFill>
          <a:blip r:embed="rId3"/>
          <a:stretch>
            <a:fillRect/>
          </a:stretch>
        </p:blipFill>
        <p:spPr>
          <a:xfrm>
            <a:off x="721462" y="3629254"/>
            <a:ext cx="294437" cy="294437"/>
          </a:xfrm>
          <a:prstGeom prst="rect">
            <a:avLst/>
          </a:prstGeom>
        </p:spPr>
      </p:pic>
      <p:sp>
        <p:nvSpPr>
          <p:cNvPr id="15" name="Text 9"/>
          <p:cNvSpPr txBox="1"/>
          <p:nvPr/>
        </p:nvSpPr>
        <p:spPr>
          <a:xfrm>
            <a:off x="1417320" y="3429000"/>
            <a:ext cx="5486400" cy="365760"/>
          </a:xfrm>
          <a:prstGeom prst="rect">
            <a:avLst/>
          </a:prstGeom>
          <a:noFill/>
          <a:ln/>
        </p:spPr>
        <p:txBody>
          <a:bodyPr wrap="square" lIns="0" tIns="0" rIns="0" bIns="0" rtlCol="0" anchor="ctr"/>
          <a:lstStyle/>
          <a:p>
            <a:pPr indent="0" marL="0">
              <a:buNone/>
            </a:pPr>
            <a:r>
              <a:rPr lang="en-US" sz="1700" b="1" dirty="0">
                <a:solidFill>
                  <a:srgbClr val="E6EAEE"/>
                </a:solidFill>
                <a:latin typeface="Calibri" pitchFamily="34" charset="0"/>
                <a:ea typeface="Calibri" pitchFamily="34" charset="-122"/>
                <a:cs typeface="Calibri" pitchFamily="34" charset="-120"/>
              </a:rPr>
              <a:t>Observe and alert only</a:t>
            </a:r>
            <a:endParaRPr lang="en-US" sz="1700" dirty="0"/>
          </a:p>
        </p:txBody>
      </p:sp>
      <p:sp>
        <p:nvSpPr>
          <p:cNvPr id="16" name="Text 10"/>
          <p:cNvSpPr txBox="1"/>
          <p:nvPr/>
        </p:nvSpPr>
        <p:spPr>
          <a:xfrm>
            <a:off x="1417320" y="3785616"/>
            <a:ext cx="5577840" cy="548640"/>
          </a:xfrm>
          <a:prstGeom prst="rect">
            <a:avLst/>
          </a:prstGeom>
          <a:noFill/>
          <a:ln/>
        </p:spPr>
        <p:txBody>
          <a:bodyPr wrap="square" lIns="0" tIns="0" rIns="0" bIns="0" rtlCol="0" anchor="t"/>
          <a:lstStyle/>
          <a:p>
            <a:pPr indent="0" marL="0">
              <a:buNone/>
            </a:pPr>
            <a:r>
              <a:rPr lang="en-US" sz="1250" dirty="0">
                <a:solidFill>
                  <a:srgbClr val="7B8794"/>
                </a:solidFill>
                <a:latin typeface="Calibri" pitchFamily="34" charset="0"/>
                <a:ea typeface="Calibri" pitchFamily="34" charset="-122"/>
                <a:cs typeface="Calibri" pitchFamily="34" charset="-120"/>
              </a:rPr>
              <a:t>Raven never blocks, changes firewall rules or touches the network. A human decides what to do.</a:t>
            </a:r>
            <a:endParaRPr lang="en-US" sz="1250" dirty="0"/>
          </a:p>
        </p:txBody>
      </p:sp>
      <p:sp>
        <p:nvSpPr>
          <p:cNvPr id="17" name="icon-box"/>
          <p:cNvSpPr/>
          <p:nvPr/>
        </p:nvSpPr>
        <p:spPr>
          <a:xfrm>
            <a:off x="548640" y="4361688"/>
            <a:ext cx="640080" cy="640080"/>
          </a:xfrm>
          <a:prstGeom prst="rect">
            <a:avLst/>
          </a:prstGeom>
          <a:solidFill>
            <a:srgbClr val="181D22"/>
          </a:solidFill>
          <a:ln w="12700">
            <a:solidFill>
              <a:srgbClr val="2F3943"/>
            </a:solidFill>
            <a:prstDash val="solid"/>
          </a:ln>
        </p:spPr>
      </p:sp>
      <p:pic>
        <p:nvPicPr>
          <p:cNvPr id="18" name="Image 3" descr="icon">    </p:cNvPr>
          <p:cNvPicPr>
            <a:picLocks noChangeAspect="1"/>
          </p:cNvPicPr>
          <p:nvPr/>
        </p:nvPicPr>
        <p:blipFill>
          <a:blip r:embed="rId4"/>
          <a:stretch>
            <a:fillRect/>
          </a:stretch>
        </p:blipFill>
        <p:spPr>
          <a:xfrm>
            <a:off x="721462" y="4534510"/>
            <a:ext cx="294437" cy="294437"/>
          </a:xfrm>
          <a:prstGeom prst="rect">
            <a:avLst/>
          </a:prstGeom>
        </p:spPr>
      </p:pic>
      <p:sp>
        <p:nvSpPr>
          <p:cNvPr id="19" name="Text 12"/>
          <p:cNvSpPr txBox="1"/>
          <p:nvPr/>
        </p:nvSpPr>
        <p:spPr>
          <a:xfrm>
            <a:off x="1417320" y="4334256"/>
            <a:ext cx="5486400" cy="365760"/>
          </a:xfrm>
          <a:prstGeom prst="rect">
            <a:avLst/>
          </a:prstGeom>
          <a:noFill/>
          <a:ln/>
        </p:spPr>
        <p:txBody>
          <a:bodyPr wrap="square" lIns="0" tIns="0" rIns="0" bIns="0" rtlCol="0" anchor="ctr"/>
          <a:lstStyle/>
          <a:p>
            <a:pPr indent="0" marL="0">
              <a:buNone/>
            </a:pPr>
            <a:r>
              <a:rPr lang="en-US" sz="1700" b="1" dirty="0">
                <a:solidFill>
                  <a:srgbClr val="E6EAEE"/>
                </a:solidFill>
                <a:latin typeface="Calibri" pitchFamily="34" charset="0"/>
                <a:ea typeface="Calibri" pitchFamily="34" charset="-122"/>
                <a:cs typeface="Calibri" pitchFamily="34" charset="-120"/>
              </a:rPr>
              <a:t>Secrets stay private</a:t>
            </a:r>
            <a:endParaRPr lang="en-US" sz="1700" dirty="0"/>
          </a:p>
        </p:txBody>
      </p:sp>
      <p:sp>
        <p:nvSpPr>
          <p:cNvPr id="20" name="Text 13"/>
          <p:cNvSpPr txBox="1"/>
          <p:nvPr/>
        </p:nvSpPr>
        <p:spPr>
          <a:xfrm>
            <a:off x="1417320" y="4690872"/>
            <a:ext cx="5577840" cy="548640"/>
          </a:xfrm>
          <a:prstGeom prst="rect">
            <a:avLst/>
          </a:prstGeom>
          <a:noFill/>
          <a:ln/>
        </p:spPr>
        <p:txBody>
          <a:bodyPr wrap="square" lIns="0" tIns="0" rIns="0" bIns="0" rtlCol="0" anchor="t"/>
          <a:lstStyle/>
          <a:p>
            <a:pPr indent="0" marL="0">
              <a:buNone/>
            </a:pPr>
            <a:r>
              <a:rPr lang="en-US" sz="1250" dirty="0">
                <a:solidFill>
                  <a:srgbClr val="7B8794"/>
                </a:solidFill>
                <a:latin typeface="Calibri" pitchFamily="34" charset="0"/>
                <a:ea typeface="Calibri" pitchFamily="34" charset="-122"/>
                <a:cs typeface="Calibri" pitchFamily="34" charset="-120"/>
              </a:rPr>
              <a:t>Webhook URLs and tokens live in a mode 600 file, are never printed or logged, and errors never leak URLs.</a:t>
            </a:r>
            <a:endParaRPr lang="en-US" sz="1250" dirty="0"/>
          </a:p>
        </p:txBody>
      </p:sp>
      <p:sp>
        <p:nvSpPr>
          <p:cNvPr id="21" name="icon-box"/>
          <p:cNvSpPr/>
          <p:nvPr/>
        </p:nvSpPr>
        <p:spPr>
          <a:xfrm>
            <a:off x="548640" y="5266944"/>
            <a:ext cx="640080" cy="640080"/>
          </a:xfrm>
          <a:prstGeom prst="rect">
            <a:avLst/>
          </a:prstGeom>
          <a:solidFill>
            <a:srgbClr val="181D22"/>
          </a:solidFill>
          <a:ln w="12700">
            <a:solidFill>
              <a:srgbClr val="2F3943"/>
            </a:solidFill>
            <a:prstDash val="solid"/>
          </a:ln>
        </p:spPr>
      </p:sp>
      <p:pic>
        <p:nvPicPr>
          <p:cNvPr id="22" name="Image 4" descr="icon">    </p:cNvPr>
          <p:cNvPicPr>
            <a:picLocks noChangeAspect="1"/>
          </p:cNvPicPr>
          <p:nvPr/>
        </p:nvPicPr>
        <p:blipFill>
          <a:blip r:embed="rId5"/>
          <a:stretch>
            <a:fillRect/>
          </a:stretch>
        </p:blipFill>
        <p:spPr>
          <a:xfrm>
            <a:off x="721462" y="5439766"/>
            <a:ext cx="294437" cy="294437"/>
          </a:xfrm>
          <a:prstGeom prst="rect">
            <a:avLst/>
          </a:prstGeom>
        </p:spPr>
      </p:pic>
      <p:sp>
        <p:nvSpPr>
          <p:cNvPr id="23" name="Text 15"/>
          <p:cNvSpPr txBox="1"/>
          <p:nvPr/>
        </p:nvSpPr>
        <p:spPr>
          <a:xfrm>
            <a:off x="1417320" y="5239512"/>
            <a:ext cx="5486400" cy="365760"/>
          </a:xfrm>
          <a:prstGeom prst="rect">
            <a:avLst/>
          </a:prstGeom>
          <a:noFill/>
          <a:ln/>
        </p:spPr>
        <p:txBody>
          <a:bodyPr wrap="square" lIns="0" tIns="0" rIns="0" bIns="0" rtlCol="0" anchor="ctr"/>
          <a:lstStyle/>
          <a:p>
            <a:pPr indent="0" marL="0">
              <a:buNone/>
            </a:pPr>
            <a:r>
              <a:rPr lang="en-US" sz="1700" b="1" dirty="0">
                <a:solidFill>
                  <a:srgbClr val="E6EAEE"/>
                </a:solidFill>
                <a:latin typeface="Calibri" pitchFamily="34" charset="0"/>
                <a:ea typeface="Calibri" pitchFamily="34" charset="-122"/>
                <a:cs typeface="Calibri" pitchFamily="34" charset="-120"/>
              </a:rPr>
              <a:t>Attack scripts stay home</a:t>
            </a:r>
            <a:endParaRPr lang="en-US" sz="1700" dirty="0"/>
          </a:p>
        </p:txBody>
      </p:sp>
      <p:sp>
        <p:nvSpPr>
          <p:cNvPr id="24" name="Text 16"/>
          <p:cNvSpPr txBox="1"/>
          <p:nvPr/>
        </p:nvSpPr>
        <p:spPr>
          <a:xfrm>
            <a:off x="1417320" y="5596128"/>
            <a:ext cx="5577840" cy="548640"/>
          </a:xfrm>
          <a:prstGeom prst="rect">
            <a:avLst/>
          </a:prstGeom>
          <a:noFill/>
          <a:ln/>
        </p:spPr>
        <p:txBody>
          <a:bodyPr wrap="square" lIns="0" tIns="0" rIns="0" bIns="0" rtlCol="0" anchor="t"/>
          <a:lstStyle/>
          <a:p>
            <a:pPr indent="0" marL="0">
              <a:buNone/>
            </a:pPr>
            <a:r>
              <a:rPr lang="en-US" sz="1250" dirty="0">
                <a:solidFill>
                  <a:srgbClr val="7B8794"/>
                </a:solidFill>
                <a:latin typeface="Calibri" pitchFamily="34" charset="0"/>
                <a:ea typeface="Calibri" pitchFamily="34" charset="-122"/>
                <a:cs typeface="Calibri" pitchFamily="34" charset="-120"/>
              </a:rPr>
              <a:t>The demo attacks refuse any target except loopback. Own machine only.</a:t>
            </a:r>
            <a:endParaRPr lang="en-US" sz="1250" dirty="0"/>
          </a:p>
        </p:txBody>
      </p:sp>
      <p:sp>
        <p:nvSpPr>
          <p:cNvPr id="25" name="stat-panel"/>
          <p:cNvSpPr/>
          <p:nvPr/>
        </p:nvSpPr>
        <p:spPr>
          <a:xfrm>
            <a:off x="7498080" y="1645920"/>
            <a:ext cx="4160520" cy="4434840"/>
          </a:xfrm>
          <a:prstGeom prst="rect">
            <a:avLst/>
          </a:prstGeom>
          <a:solidFill>
            <a:srgbClr val="12161A"/>
          </a:solidFill>
          <a:ln w="12700">
            <a:solidFill>
              <a:srgbClr val="232A31"/>
            </a:solidFill>
            <a:prstDash val="solid"/>
          </a:ln>
        </p:spPr>
      </p:sp>
      <p:sp>
        <p:nvSpPr>
          <p:cNvPr id="26" name="Text 18"/>
          <p:cNvSpPr txBox="1"/>
          <p:nvPr/>
        </p:nvSpPr>
        <p:spPr>
          <a:xfrm>
            <a:off x="7772400" y="1828800"/>
            <a:ext cx="3657600" cy="228600"/>
          </a:xfrm>
          <a:prstGeom prst="rect">
            <a:avLst/>
          </a:prstGeom>
          <a:noFill/>
          <a:ln/>
        </p:spPr>
        <p:txBody>
          <a:bodyPr wrap="square" lIns="0" tIns="0" rIns="0" bIns="0" rtlCol="0" anchor="ctr"/>
          <a:lstStyle/>
          <a:p>
            <a:pPr indent="0" marL="0">
              <a:buNone/>
            </a:pPr>
            <a:r>
              <a:rPr lang="en-US" sz="1000" b="1" spc="300" kern="0" dirty="0">
                <a:solidFill>
                  <a:srgbClr val="7B8794"/>
                </a:solidFill>
                <a:latin typeface="Courier New" pitchFamily="34" charset="0"/>
                <a:ea typeface="Courier New" pitchFamily="34" charset="-122"/>
                <a:cs typeface="Courier New" pitchFamily="34" charset="-120"/>
              </a:rPr>
              <a:t>SECURITY TEST GROUP</a:t>
            </a:r>
            <a:endParaRPr lang="en-US" sz="1000" dirty="0"/>
          </a:p>
        </p:txBody>
      </p:sp>
      <p:sp>
        <p:nvSpPr>
          <p:cNvPr id="27" name="Text 19"/>
          <p:cNvSpPr txBox="1"/>
          <p:nvPr/>
        </p:nvSpPr>
        <p:spPr>
          <a:xfrm>
            <a:off x="7772400" y="2103120"/>
            <a:ext cx="1828800" cy="1097280"/>
          </a:xfrm>
          <a:prstGeom prst="rect">
            <a:avLst/>
          </a:prstGeom>
          <a:noFill/>
          <a:ln/>
        </p:spPr>
        <p:txBody>
          <a:bodyPr wrap="square" lIns="0" tIns="0" rIns="0" bIns="0" rtlCol="0" anchor="ctr"/>
          <a:lstStyle/>
          <a:p>
            <a:pPr indent="0" marL="0">
              <a:buNone/>
            </a:pPr>
            <a:r>
              <a:rPr lang="en-US" sz="7200" b="1" dirty="0">
                <a:solidFill>
                  <a:srgbClr val="5A9E84"/>
                </a:solidFill>
                <a:latin typeface="Courier New" pitchFamily="34" charset="0"/>
                <a:ea typeface="Courier New" pitchFamily="34" charset="-122"/>
                <a:cs typeface="Courier New" pitchFamily="34" charset="-120"/>
              </a:rPr>
              <a:t>85</a:t>
            </a:r>
            <a:endParaRPr lang="en-US" sz="7200" dirty="0"/>
          </a:p>
        </p:txBody>
      </p:sp>
      <p:sp>
        <p:nvSpPr>
          <p:cNvPr id="28" name="Text 20"/>
          <p:cNvSpPr txBox="1"/>
          <p:nvPr/>
        </p:nvSpPr>
        <p:spPr>
          <a:xfrm>
            <a:off x="9509760" y="2331720"/>
            <a:ext cx="2011680" cy="640080"/>
          </a:xfrm>
          <a:prstGeom prst="rect">
            <a:avLst/>
          </a:prstGeom>
          <a:noFill/>
          <a:ln/>
        </p:spPr>
        <p:txBody>
          <a:bodyPr wrap="square" lIns="0" tIns="0" rIns="0" bIns="0" rtlCol="0" anchor="ctr"/>
          <a:lstStyle/>
          <a:p>
            <a:pPr indent="0" marL="0">
              <a:buNone/>
            </a:pPr>
            <a:r>
              <a:rPr lang="en-US" sz="1400" dirty="0">
                <a:solidFill>
                  <a:srgbClr val="CBD2D9"/>
                </a:solidFill>
                <a:latin typeface="Calibri" pitchFamily="34" charset="0"/>
                <a:ea typeface="Calibri" pitchFamily="34" charset="-122"/>
                <a:cs typeface="Calibri" pitchFamily="34" charset="-120"/>
              </a:rPr>
              <a:t>tests that must</a:t>
            </a:r>
            <a:endParaRPr lang="en-US" sz="1400" dirty="0"/>
          </a:p>
          <a:p>
            <a:pPr indent="0" marL="0">
              <a:buNone/>
            </a:pPr>
            <a:r>
              <a:rPr lang="en-US" sz="1400" dirty="0">
                <a:solidFill>
                  <a:srgbClr val="CBD2D9"/>
                </a:solidFill>
                <a:latin typeface="Calibri" pitchFamily="34" charset="0"/>
                <a:ea typeface="Calibri" pitchFamily="34" charset="-122"/>
                <a:cs typeface="Calibri" pitchFamily="34" charset="-120"/>
              </a:rPr>
              <a:t>never be empty</a:t>
            </a:r>
            <a:endParaRPr lang="en-US" sz="1400" dirty="0"/>
          </a:p>
        </p:txBody>
      </p:sp>
      <p:sp>
        <p:nvSpPr>
          <p:cNvPr id="29" name="rule"/>
          <p:cNvSpPr/>
          <p:nvPr/>
        </p:nvSpPr>
        <p:spPr>
          <a:xfrm>
            <a:off x="7772400" y="3383280"/>
            <a:ext cx="3611880" cy="0"/>
          </a:xfrm>
          <a:prstGeom prst="line">
            <a:avLst/>
          </a:prstGeom>
          <a:noFill/>
          <a:ln w="12700">
            <a:solidFill>
              <a:srgbClr val="232A31"/>
            </a:solidFill>
            <a:prstDash val="solid"/>
          </a:ln>
        </p:spPr>
      </p:sp>
      <p:sp>
        <p:nvSpPr>
          <p:cNvPr id="30" name="Text 22"/>
          <p:cNvSpPr txBox="1"/>
          <p:nvPr/>
        </p:nvSpPr>
        <p:spPr>
          <a:xfrm>
            <a:off x="7772400" y="3520440"/>
            <a:ext cx="3611880" cy="1280160"/>
          </a:xfrm>
          <a:prstGeom prst="rect">
            <a:avLst/>
          </a:prstGeom>
          <a:noFill/>
          <a:ln/>
        </p:spPr>
        <p:txBody>
          <a:bodyPr wrap="square" lIns="0" tIns="0" rIns="0" bIns="0" rtlCol="0" anchor="t"/>
          <a:lstStyle/>
          <a:p>
            <a:pPr indent="0" marL="0">
              <a:buNone/>
            </a:pPr>
            <a:r>
              <a:rPr lang="en-US" sz="1250" dirty="0">
                <a:solidFill>
                  <a:srgbClr val="CBD2D9"/>
                </a:solidFill>
                <a:latin typeface="Calibri" pitchFamily="34" charset="0"/>
                <a:ea typeface="Calibri" pitchFamily="34" charset="-122"/>
                <a:cs typeface="Calibri" pitchFamily="34" charset="-120"/>
              </a:rPr>
              <a:t>They cover hostile DNS names, hostile history filters, SQL text in searches, spreadsheet-formula export, cross-site delete, rename and test-send requests, and planted symlinks.</a:t>
            </a:r>
            <a:endParaRPr lang="en-US" sz="1250" dirty="0"/>
          </a:p>
        </p:txBody>
      </p:sp>
      <p:sp>
        <p:nvSpPr>
          <p:cNvPr id="31" name="found"/>
          <p:cNvSpPr/>
          <p:nvPr/>
        </p:nvSpPr>
        <p:spPr>
          <a:xfrm>
            <a:off x="7772400" y="4892040"/>
            <a:ext cx="3611880" cy="1005840"/>
          </a:xfrm>
          <a:prstGeom prst="rect">
            <a:avLst/>
          </a:prstGeom>
          <a:solidFill>
            <a:srgbClr val="181D22"/>
          </a:solidFill>
          <a:ln w="12700">
            <a:solidFill>
              <a:srgbClr val="2F3943"/>
            </a:solidFill>
            <a:prstDash val="solid"/>
          </a:ln>
        </p:spPr>
      </p:sp>
      <p:sp>
        <p:nvSpPr>
          <p:cNvPr id="32" name="Text 24"/>
          <p:cNvSpPr txBox="1"/>
          <p:nvPr/>
        </p:nvSpPr>
        <p:spPr>
          <a:xfrm>
            <a:off x="7909560" y="4892040"/>
            <a:ext cx="3383280" cy="1005840"/>
          </a:xfrm>
          <a:prstGeom prst="rect">
            <a:avLst/>
          </a:prstGeom>
          <a:noFill/>
          <a:ln/>
        </p:spPr>
        <p:txBody>
          <a:bodyPr wrap="square" lIns="0" tIns="0" rIns="0" bIns="0" rtlCol="0" anchor="ctr"/>
          <a:lstStyle/>
          <a:p>
            <a:pPr indent="0" marL="0">
              <a:buNone/>
            </a:pPr>
            <a:r>
              <a:rPr lang="en-US" sz="1200" b="1" dirty="0">
                <a:solidFill>
                  <a:srgbClr val="B8993B"/>
                </a:solidFill>
                <a:latin typeface="Calibri" pitchFamily="34" charset="0"/>
                <a:ea typeface="Calibri" pitchFamily="34" charset="-122"/>
                <a:cs typeface="Calibri" pitchFamily="34" charset="-120"/>
              </a:rPr>
              <a:t>Found and fixed: </a:t>
            </a:r>
            <a:pPr indent="0" marL="0">
              <a:buNone/>
            </a:pPr>
            <a:r>
              <a:rPr lang="en-US" sz="1200" dirty="0">
                <a:solidFill>
                  <a:srgbClr val="CBD2D9"/>
                </a:solidFill>
                <a:latin typeface="Calibri" pitchFamily="34" charset="0"/>
                <a:ea typeface="Calibri" pitchFamily="34" charset="-122"/>
                <a:cs typeface="Calibri" pitchFamily="34" charset="-120"/>
              </a:rPr>
              <a:t>an automated review flagged a symlink risk in the sudo file-ownership code; it is fixed and tested.</a:t>
            </a:r>
            <a:endParaRPr lang="en-US" sz="120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Who it is for, and where it sits</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16  /  WHO AND WHERE</a:t>
            </a:r>
            <a:endParaRPr lang="en-US" sz="1100" dirty="0"/>
          </a:p>
        </p:txBody>
      </p:sp>
      <p:sp>
        <p:nvSpPr>
          <p:cNvPr id="5" name="node"/>
          <p:cNvSpPr/>
          <p:nvPr/>
        </p:nvSpPr>
        <p:spPr>
          <a:xfrm>
            <a:off x="548640" y="2377440"/>
            <a:ext cx="1737360" cy="1005840"/>
          </a:xfrm>
          <a:prstGeom prst="rect">
            <a:avLst/>
          </a:prstGeom>
          <a:solidFill>
            <a:srgbClr val="12161A"/>
          </a:solidFill>
          <a:ln w="12700">
            <a:solidFill>
              <a:srgbClr val="2F3943"/>
            </a:solidFill>
            <a:prstDash val="solid"/>
          </a:ln>
        </p:spPr>
      </p:sp>
      <p:sp>
        <p:nvSpPr>
          <p:cNvPr id="6" name="icon-box"/>
          <p:cNvSpPr/>
          <p:nvPr/>
        </p:nvSpPr>
        <p:spPr>
          <a:xfrm>
            <a:off x="777240" y="2514600"/>
            <a:ext cx="457200" cy="457200"/>
          </a:xfrm>
          <a:prstGeom prst="rect">
            <a:avLst/>
          </a:prstGeom>
          <a:solidFill>
            <a:srgbClr val="181D22"/>
          </a:solidFill>
          <a:ln w="12700">
            <a:solidFill>
              <a:srgbClr val="2F3943"/>
            </a:solidFill>
            <a:prstDash val="solid"/>
          </a:ln>
        </p:spPr>
      </p:sp>
      <p:pic>
        <p:nvPicPr>
          <p:cNvPr id="7" name="Image 0" descr="icon">    </p:cNvPr>
          <p:cNvPicPr>
            <a:picLocks noChangeAspect="1"/>
          </p:cNvPicPr>
          <p:nvPr/>
        </p:nvPicPr>
        <p:blipFill>
          <a:blip r:embed="rId1"/>
          <a:stretch>
            <a:fillRect/>
          </a:stretch>
        </p:blipFill>
        <p:spPr>
          <a:xfrm>
            <a:off x="900684" y="2638044"/>
            <a:ext cx="210312" cy="210312"/>
          </a:xfrm>
          <a:prstGeom prst="rect">
            <a:avLst/>
          </a:prstGeom>
        </p:spPr>
      </p:pic>
      <p:sp>
        <p:nvSpPr>
          <p:cNvPr id="8" name="Text 4"/>
          <p:cNvSpPr txBox="1"/>
          <p:nvPr/>
        </p:nvSpPr>
        <p:spPr>
          <a:xfrm>
            <a:off x="1325880" y="2377440"/>
            <a:ext cx="914400" cy="1005840"/>
          </a:xfrm>
          <a:prstGeom prst="rect">
            <a:avLst/>
          </a:prstGeom>
          <a:noFill/>
          <a:ln/>
        </p:spPr>
        <p:txBody>
          <a:bodyPr wrap="square" lIns="0" tIns="0" rIns="0" bIns="0" rtlCol="0" anchor="ctr"/>
          <a:lstStyle/>
          <a:p>
            <a:pPr indent="0" marL="0">
              <a:buNone/>
            </a:pPr>
            <a:r>
              <a:rPr lang="en-US" sz="1400" b="1" dirty="0">
                <a:solidFill>
                  <a:srgbClr val="E6EAEE"/>
                </a:solidFill>
                <a:latin typeface="Calibri" pitchFamily="34" charset="0"/>
                <a:ea typeface="Calibri" pitchFamily="34" charset="-122"/>
                <a:cs typeface="Calibri" pitchFamily="34" charset="-120"/>
              </a:rPr>
              <a:t>Internet</a:t>
            </a:r>
            <a:endParaRPr lang="en-US" sz="1400" dirty="0"/>
          </a:p>
        </p:txBody>
      </p:sp>
      <p:sp>
        <p:nvSpPr>
          <p:cNvPr id="9" name="arrow"/>
          <p:cNvSpPr/>
          <p:nvPr/>
        </p:nvSpPr>
        <p:spPr>
          <a:xfrm>
            <a:off x="2331720" y="2880360"/>
            <a:ext cx="731520" cy="0"/>
          </a:xfrm>
          <a:prstGeom prst="line">
            <a:avLst/>
          </a:prstGeom>
          <a:noFill/>
          <a:ln w="25400">
            <a:solidFill>
              <a:srgbClr val="4D5762"/>
            </a:solidFill>
            <a:prstDash val="solid"/>
            <a:tailEnd type="triangle"/>
          </a:ln>
        </p:spPr>
      </p:sp>
      <p:sp>
        <p:nvSpPr>
          <p:cNvPr id="10" name="gateway"/>
          <p:cNvSpPr/>
          <p:nvPr/>
        </p:nvSpPr>
        <p:spPr>
          <a:xfrm>
            <a:off x="3108960" y="2103120"/>
            <a:ext cx="2834640" cy="1554480"/>
          </a:xfrm>
          <a:prstGeom prst="rect">
            <a:avLst/>
          </a:prstGeom>
          <a:solidFill>
            <a:srgbClr val="12161A"/>
          </a:solidFill>
          <a:ln w="12700">
            <a:solidFill>
              <a:srgbClr val="C4403F"/>
            </a:solidFill>
            <a:prstDash val="solid"/>
          </a:ln>
        </p:spPr>
      </p:sp>
      <p:sp>
        <p:nvSpPr>
          <p:cNvPr id="11" name="icon-box"/>
          <p:cNvSpPr/>
          <p:nvPr/>
        </p:nvSpPr>
        <p:spPr>
          <a:xfrm>
            <a:off x="3337560" y="2286000"/>
            <a:ext cx="502920" cy="502920"/>
          </a:xfrm>
          <a:prstGeom prst="rect">
            <a:avLst/>
          </a:prstGeom>
          <a:solidFill>
            <a:srgbClr val="181D22"/>
          </a:solidFill>
          <a:ln w="12700">
            <a:solidFill>
              <a:srgbClr val="2F3943"/>
            </a:solidFill>
            <a:prstDash val="solid"/>
          </a:ln>
        </p:spPr>
      </p:sp>
      <p:pic>
        <p:nvPicPr>
          <p:cNvPr id="12" name="Image 1" descr="icon">    </p:cNvPr>
          <p:cNvPicPr>
            <a:picLocks noChangeAspect="1"/>
          </p:cNvPicPr>
          <p:nvPr/>
        </p:nvPicPr>
        <p:blipFill>
          <a:blip r:embed="rId2"/>
          <a:stretch>
            <a:fillRect/>
          </a:stretch>
        </p:blipFill>
        <p:spPr>
          <a:xfrm>
            <a:off x="3473348" y="2421788"/>
            <a:ext cx="231343" cy="231343"/>
          </a:xfrm>
          <a:prstGeom prst="rect">
            <a:avLst/>
          </a:prstGeom>
        </p:spPr>
      </p:pic>
      <p:sp>
        <p:nvSpPr>
          <p:cNvPr id="13" name="Text 8"/>
          <p:cNvSpPr txBox="1"/>
          <p:nvPr/>
        </p:nvSpPr>
        <p:spPr>
          <a:xfrm>
            <a:off x="3977640" y="2240280"/>
            <a:ext cx="1920240" cy="365760"/>
          </a:xfrm>
          <a:prstGeom prst="rect">
            <a:avLst/>
          </a:prstGeom>
          <a:noFill/>
          <a:ln/>
        </p:spPr>
        <p:txBody>
          <a:bodyPr wrap="square" lIns="0" tIns="0" rIns="0" bIns="0" rtlCol="0" anchor="ctr"/>
          <a:lstStyle/>
          <a:p>
            <a:pPr indent="0" marL="0">
              <a:buNone/>
            </a:pPr>
            <a:r>
              <a:rPr lang="en-US" sz="1600" b="1" dirty="0">
                <a:solidFill>
                  <a:srgbClr val="E6EAEE"/>
                </a:solidFill>
                <a:latin typeface="Calibri" pitchFamily="34" charset="0"/>
                <a:ea typeface="Calibri" pitchFamily="34" charset="-122"/>
                <a:cs typeface="Calibri" pitchFamily="34" charset="-120"/>
              </a:rPr>
              <a:t>Gateway Mac</a:t>
            </a:r>
            <a:endParaRPr lang="en-US" sz="1600" dirty="0"/>
          </a:p>
        </p:txBody>
      </p:sp>
      <p:sp>
        <p:nvSpPr>
          <p:cNvPr id="14" name="Text 9"/>
          <p:cNvSpPr txBox="1"/>
          <p:nvPr/>
        </p:nvSpPr>
        <p:spPr>
          <a:xfrm>
            <a:off x="3977640" y="2606040"/>
            <a:ext cx="1920240" cy="457200"/>
          </a:xfrm>
          <a:prstGeom prst="rect">
            <a:avLst/>
          </a:prstGeom>
          <a:noFill/>
          <a:ln/>
        </p:spPr>
        <p:txBody>
          <a:bodyPr wrap="square" lIns="0" tIns="0" rIns="0" bIns="0" rtlCol="0" anchor="ctr"/>
          <a:lstStyle/>
          <a:p>
            <a:pPr indent="0" marL="0">
              <a:buNone/>
            </a:pPr>
            <a:r>
              <a:rPr lang="en-US" sz="1000" dirty="0">
                <a:solidFill>
                  <a:srgbClr val="7B8794"/>
                </a:solidFill>
                <a:latin typeface="Courier New" pitchFamily="34" charset="0"/>
                <a:ea typeface="Courier New" pitchFamily="34" charset="-122"/>
                <a:cs typeface="Courier New" pitchFamily="34" charset="-120"/>
              </a:rPr>
              <a:t>Internet Sharing</a:t>
            </a:r>
            <a:endParaRPr lang="en-US" sz="1000" dirty="0"/>
          </a:p>
          <a:p>
            <a:pPr indent="0" marL="0">
              <a:buNone/>
            </a:pPr>
            <a:r>
              <a:rPr lang="en-US" sz="1000" dirty="0">
                <a:solidFill>
                  <a:srgbClr val="7B8794"/>
                </a:solidFill>
                <a:latin typeface="Courier New" pitchFamily="34" charset="0"/>
                <a:ea typeface="Courier New" pitchFamily="34" charset="-122"/>
                <a:cs typeface="Courier New" pitchFamily="34" charset="-120"/>
              </a:rPr>
              <a:t>bridge100</a:t>
            </a:r>
            <a:endParaRPr lang="en-US" sz="1000" dirty="0"/>
          </a:p>
        </p:txBody>
      </p:sp>
      <p:sp>
        <p:nvSpPr>
          <p:cNvPr id="15" name="Text 10"/>
          <p:cNvSpPr txBox="1"/>
          <p:nvPr/>
        </p:nvSpPr>
        <p:spPr>
          <a:xfrm>
            <a:off x="3337560" y="3154680"/>
            <a:ext cx="2468880" cy="365760"/>
          </a:xfrm>
          <a:prstGeom prst="rect">
            <a:avLst/>
          </a:prstGeom>
          <a:noFill/>
          <a:ln/>
        </p:spPr>
        <p:txBody>
          <a:bodyPr wrap="square" lIns="0" tIns="0" rIns="0" bIns="0" rtlCol="0" anchor="ctr"/>
          <a:lstStyle/>
          <a:p>
            <a:pPr indent="0" marL="0">
              <a:buNone/>
            </a:pPr>
            <a:r>
              <a:rPr lang="en-US" sz="1400" b="1" dirty="0">
                <a:solidFill>
                  <a:srgbClr val="C4403F"/>
                </a:solidFill>
                <a:latin typeface="Calibri" pitchFamily="34" charset="0"/>
                <a:ea typeface="Calibri" pitchFamily="34" charset="-122"/>
                <a:cs typeface="Calibri" pitchFamily="34" charset="-120"/>
              </a:rPr>
              <a:t>runs Raven</a:t>
            </a:r>
            <a:endParaRPr lang="en-US" sz="1400" dirty="0"/>
          </a:p>
        </p:txBody>
      </p:sp>
      <p:sp>
        <p:nvSpPr>
          <p:cNvPr id="16" name="arrow"/>
          <p:cNvSpPr/>
          <p:nvPr/>
        </p:nvSpPr>
        <p:spPr>
          <a:xfrm>
            <a:off x="5989320" y="2880360"/>
            <a:ext cx="731520" cy="0"/>
          </a:xfrm>
          <a:prstGeom prst="line">
            <a:avLst/>
          </a:prstGeom>
          <a:noFill/>
          <a:ln w="25400">
            <a:solidFill>
              <a:srgbClr val="4D5762"/>
            </a:solidFill>
            <a:prstDash val="solid"/>
            <a:tailEnd type="triangle"/>
          </a:ln>
        </p:spPr>
      </p:sp>
      <p:sp>
        <p:nvSpPr>
          <p:cNvPr id="17" name="node"/>
          <p:cNvSpPr/>
          <p:nvPr/>
        </p:nvSpPr>
        <p:spPr>
          <a:xfrm>
            <a:off x="6766560" y="1828800"/>
            <a:ext cx="1920240" cy="603504"/>
          </a:xfrm>
          <a:prstGeom prst="rect">
            <a:avLst/>
          </a:prstGeom>
          <a:solidFill>
            <a:srgbClr val="12161A"/>
          </a:solidFill>
          <a:ln w="12700">
            <a:solidFill>
              <a:srgbClr val="2F3943"/>
            </a:solidFill>
            <a:prstDash val="solid"/>
          </a:ln>
        </p:spPr>
      </p:sp>
      <p:sp>
        <p:nvSpPr>
          <p:cNvPr id="18" name="node"/>
          <p:cNvSpPr/>
          <p:nvPr/>
        </p:nvSpPr>
        <p:spPr>
          <a:xfrm>
            <a:off x="6766560" y="2542032"/>
            <a:ext cx="1920240" cy="603504"/>
          </a:xfrm>
          <a:prstGeom prst="rect">
            <a:avLst/>
          </a:prstGeom>
          <a:solidFill>
            <a:srgbClr val="12161A"/>
          </a:solidFill>
          <a:ln w="12700">
            <a:solidFill>
              <a:srgbClr val="2F3943"/>
            </a:solidFill>
            <a:prstDash val="solid"/>
          </a:ln>
        </p:spPr>
      </p:sp>
      <p:sp>
        <p:nvSpPr>
          <p:cNvPr id="19" name="node"/>
          <p:cNvSpPr/>
          <p:nvPr/>
        </p:nvSpPr>
        <p:spPr>
          <a:xfrm>
            <a:off x="6766560" y="3255264"/>
            <a:ext cx="1920240" cy="603504"/>
          </a:xfrm>
          <a:prstGeom prst="rect">
            <a:avLst/>
          </a:prstGeom>
          <a:solidFill>
            <a:srgbClr val="12161A"/>
          </a:solidFill>
          <a:ln w="12700">
            <a:solidFill>
              <a:srgbClr val="2F3943"/>
            </a:solidFill>
            <a:prstDash val="solid"/>
          </a:ln>
        </p:spPr>
      </p:sp>
      <p:pic>
        <p:nvPicPr>
          <p:cNvPr id="20" name="Image 2" descr="Laptops">    </p:cNvPr>
          <p:cNvPicPr>
            <a:picLocks noChangeAspect="1"/>
          </p:cNvPicPr>
          <p:nvPr/>
        </p:nvPicPr>
        <p:blipFill>
          <a:blip r:embed="rId3"/>
          <a:stretch>
            <a:fillRect/>
          </a:stretch>
        </p:blipFill>
        <p:spPr>
          <a:xfrm>
            <a:off x="6903720" y="1965960"/>
            <a:ext cx="329184" cy="329184"/>
          </a:xfrm>
          <a:prstGeom prst="rect">
            <a:avLst/>
          </a:prstGeom>
        </p:spPr>
      </p:pic>
      <p:sp>
        <p:nvSpPr>
          <p:cNvPr id="21" name="Text 15"/>
          <p:cNvSpPr txBox="1"/>
          <p:nvPr/>
        </p:nvSpPr>
        <p:spPr>
          <a:xfrm>
            <a:off x="7360920" y="1828800"/>
            <a:ext cx="1280160" cy="603504"/>
          </a:xfrm>
          <a:prstGeom prst="rect">
            <a:avLst/>
          </a:prstGeom>
          <a:noFill/>
          <a:ln/>
        </p:spPr>
        <p:txBody>
          <a:bodyPr wrap="square" lIns="0" tIns="0" rIns="0" bIns="0" rtlCol="0" anchor="ctr"/>
          <a:lstStyle/>
          <a:p>
            <a:pPr indent="0" marL="0">
              <a:buNone/>
            </a:pPr>
            <a:r>
              <a:rPr lang="en-US" sz="1300" dirty="0">
                <a:solidFill>
                  <a:srgbClr val="CBD2D9"/>
                </a:solidFill>
                <a:latin typeface="Calibri" pitchFamily="34" charset="0"/>
                <a:ea typeface="Calibri" pitchFamily="34" charset="-122"/>
                <a:cs typeface="Calibri" pitchFamily="34" charset="-120"/>
              </a:rPr>
              <a:t>Laptops</a:t>
            </a:r>
            <a:endParaRPr lang="en-US" sz="1300" dirty="0"/>
          </a:p>
        </p:txBody>
      </p:sp>
      <p:pic>
        <p:nvPicPr>
          <p:cNvPr id="22" name="Image 3" descr="Phones">    </p:cNvPr>
          <p:cNvPicPr>
            <a:picLocks noChangeAspect="1"/>
          </p:cNvPicPr>
          <p:nvPr/>
        </p:nvPicPr>
        <p:blipFill>
          <a:blip r:embed="rId4"/>
          <a:stretch>
            <a:fillRect/>
          </a:stretch>
        </p:blipFill>
        <p:spPr>
          <a:xfrm>
            <a:off x="6903720" y="2679192"/>
            <a:ext cx="329184" cy="329184"/>
          </a:xfrm>
          <a:prstGeom prst="rect">
            <a:avLst/>
          </a:prstGeom>
        </p:spPr>
      </p:pic>
      <p:sp>
        <p:nvSpPr>
          <p:cNvPr id="23" name="Text 16"/>
          <p:cNvSpPr txBox="1"/>
          <p:nvPr/>
        </p:nvSpPr>
        <p:spPr>
          <a:xfrm>
            <a:off x="7360920" y="2542032"/>
            <a:ext cx="1280160" cy="603504"/>
          </a:xfrm>
          <a:prstGeom prst="rect">
            <a:avLst/>
          </a:prstGeom>
          <a:noFill/>
          <a:ln/>
        </p:spPr>
        <p:txBody>
          <a:bodyPr wrap="square" lIns="0" tIns="0" rIns="0" bIns="0" rtlCol="0" anchor="ctr"/>
          <a:lstStyle/>
          <a:p>
            <a:pPr indent="0" marL="0">
              <a:buNone/>
            </a:pPr>
            <a:r>
              <a:rPr lang="en-US" sz="1300" dirty="0">
                <a:solidFill>
                  <a:srgbClr val="CBD2D9"/>
                </a:solidFill>
                <a:latin typeface="Calibri" pitchFamily="34" charset="0"/>
                <a:ea typeface="Calibri" pitchFamily="34" charset="-122"/>
                <a:cs typeface="Calibri" pitchFamily="34" charset="-120"/>
              </a:rPr>
              <a:t>Phones</a:t>
            </a:r>
            <a:endParaRPr lang="en-US" sz="1300" dirty="0"/>
          </a:p>
        </p:txBody>
      </p:sp>
      <p:pic>
        <p:nvPicPr>
          <p:cNvPr id="24" name="Image 4" descr="Printers, IoT">    </p:cNvPr>
          <p:cNvPicPr>
            <a:picLocks noChangeAspect="1"/>
          </p:cNvPicPr>
          <p:nvPr/>
        </p:nvPicPr>
        <p:blipFill>
          <a:blip r:embed="rId5"/>
          <a:stretch>
            <a:fillRect/>
          </a:stretch>
        </p:blipFill>
        <p:spPr>
          <a:xfrm>
            <a:off x="6903720" y="3392424"/>
            <a:ext cx="329184" cy="329184"/>
          </a:xfrm>
          <a:prstGeom prst="rect">
            <a:avLst/>
          </a:prstGeom>
        </p:spPr>
      </p:pic>
      <p:sp>
        <p:nvSpPr>
          <p:cNvPr id="25" name="Text 17"/>
          <p:cNvSpPr txBox="1"/>
          <p:nvPr/>
        </p:nvSpPr>
        <p:spPr>
          <a:xfrm>
            <a:off x="7360920" y="3255264"/>
            <a:ext cx="1280160" cy="603504"/>
          </a:xfrm>
          <a:prstGeom prst="rect">
            <a:avLst/>
          </a:prstGeom>
          <a:noFill/>
          <a:ln/>
        </p:spPr>
        <p:txBody>
          <a:bodyPr wrap="square" lIns="0" tIns="0" rIns="0" bIns="0" rtlCol="0" anchor="ctr"/>
          <a:lstStyle/>
          <a:p>
            <a:pPr indent="0" marL="0">
              <a:buNone/>
            </a:pPr>
            <a:r>
              <a:rPr lang="en-US" sz="1300" dirty="0">
                <a:solidFill>
                  <a:srgbClr val="CBD2D9"/>
                </a:solidFill>
                <a:latin typeface="Calibri" pitchFamily="34" charset="0"/>
                <a:ea typeface="Calibri" pitchFamily="34" charset="-122"/>
                <a:cs typeface="Calibri" pitchFamily="34" charset="-120"/>
              </a:rPr>
              <a:t>Printers, IoT</a:t>
            </a:r>
            <a:endParaRPr lang="en-US" sz="1300" dirty="0"/>
          </a:p>
        </p:txBody>
      </p:sp>
      <p:sp>
        <p:nvSpPr>
          <p:cNvPr id="26" name="Text 18"/>
          <p:cNvSpPr txBox="1"/>
          <p:nvPr/>
        </p:nvSpPr>
        <p:spPr>
          <a:xfrm>
            <a:off x="548640" y="4114800"/>
            <a:ext cx="8229600" cy="548640"/>
          </a:xfrm>
          <a:prstGeom prst="rect">
            <a:avLst/>
          </a:prstGeom>
          <a:noFill/>
          <a:ln/>
        </p:spPr>
        <p:txBody>
          <a:bodyPr wrap="square" lIns="0" tIns="0" rIns="0" bIns="0" rtlCol="0" anchor="ctr"/>
          <a:lstStyle/>
          <a:p>
            <a:pPr indent="0" marL="0">
              <a:buNone/>
            </a:pPr>
            <a:r>
              <a:rPr lang="en-US" sz="1100" dirty="0">
                <a:solidFill>
                  <a:srgbClr val="4D5762"/>
                </a:solidFill>
                <a:latin typeface="Courier New" pitchFamily="34" charset="0"/>
                <a:ea typeface="Courier New" pitchFamily="34" charset="-122"/>
                <a:cs typeface="Courier New" pitchFamily="34" charset="-120"/>
              </a:rPr>
              <a:t>Sees all traffic that crosses the gateway.</a:t>
            </a:r>
            <a:endParaRPr lang="en-US" sz="1100" dirty="0"/>
          </a:p>
          <a:p>
            <a:pPr indent="0" marL="0">
              <a:buNone/>
            </a:pPr>
            <a:r>
              <a:rPr lang="en-US" sz="1100" dirty="0">
                <a:solidFill>
                  <a:srgbClr val="4D5762"/>
                </a:solidFill>
                <a:latin typeface="Courier New" pitchFamily="34" charset="0"/>
                <a:ea typeface="Courier New" pitchFamily="34" charset="-122"/>
                <a:cs typeface="Courier New" pitchFamily="34" charset="-120"/>
              </a:rPr>
              <a:t>On a plain laptop on Wi-Fi it sees only that laptop.</a:t>
            </a:r>
            <a:endParaRPr lang="en-US" sz="1100" dirty="0"/>
          </a:p>
        </p:txBody>
      </p:sp>
      <p:sp>
        <p:nvSpPr>
          <p:cNvPr id="27" name="who"/>
          <p:cNvSpPr/>
          <p:nvPr/>
        </p:nvSpPr>
        <p:spPr>
          <a:xfrm>
            <a:off x="9144000" y="1828800"/>
            <a:ext cx="2514600" cy="2834640"/>
          </a:xfrm>
          <a:prstGeom prst="rect">
            <a:avLst/>
          </a:prstGeom>
          <a:solidFill>
            <a:srgbClr val="12161A"/>
          </a:solidFill>
          <a:ln w="12700">
            <a:solidFill>
              <a:srgbClr val="232A31"/>
            </a:solidFill>
            <a:prstDash val="solid"/>
          </a:ln>
        </p:spPr>
      </p:sp>
      <p:sp>
        <p:nvSpPr>
          <p:cNvPr id="28" name="Text 20"/>
          <p:cNvSpPr txBox="1"/>
          <p:nvPr/>
        </p:nvSpPr>
        <p:spPr>
          <a:xfrm>
            <a:off x="9326880" y="1965960"/>
            <a:ext cx="1828800" cy="228600"/>
          </a:xfrm>
          <a:prstGeom prst="rect">
            <a:avLst/>
          </a:prstGeom>
          <a:noFill/>
          <a:ln/>
        </p:spPr>
        <p:txBody>
          <a:bodyPr wrap="square" lIns="0" tIns="0" rIns="0" bIns="0" rtlCol="0" anchor="ctr"/>
          <a:lstStyle/>
          <a:p>
            <a:pPr indent="0" marL="0">
              <a:buNone/>
            </a:pPr>
            <a:r>
              <a:rPr lang="en-US" sz="1000" b="1" spc="300" kern="0" dirty="0">
                <a:solidFill>
                  <a:srgbClr val="5A9E84"/>
                </a:solidFill>
                <a:latin typeface="Courier New" pitchFamily="34" charset="0"/>
                <a:ea typeface="Courier New" pitchFamily="34" charset="-122"/>
                <a:cs typeface="Courier New" pitchFamily="34" charset="-120"/>
              </a:rPr>
              <a:t>FOR</a:t>
            </a:r>
            <a:endParaRPr lang="en-US" sz="1000" dirty="0"/>
          </a:p>
        </p:txBody>
      </p:sp>
      <p:sp>
        <p:nvSpPr>
          <p:cNvPr id="29" name="Text 21"/>
          <p:cNvSpPr txBox="1"/>
          <p:nvPr/>
        </p:nvSpPr>
        <p:spPr>
          <a:xfrm>
            <a:off x="9326880" y="2286000"/>
            <a:ext cx="2194560" cy="1097280"/>
          </a:xfrm>
          <a:prstGeom prst="rect">
            <a:avLst/>
          </a:prstGeom>
          <a:noFill/>
          <a:ln/>
        </p:spPr>
        <p:txBody>
          <a:bodyPr wrap="square" lIns="0" tIns="0" rIns="0" bIns="0" rtlCol="0" anchor="t"/>
          <a:lstStyle/>
          <a:p>
            <a:pPr indent="0" marL="0">
              <a:spcAft>
                <a:spcPts val="300"/>
              </a:spcAft>
              <a:buNone/>
            </a:pPr>
            <a:r>
              <a:rPr lang="en-US" sz="1250" dirty="0">
                <a:solidFill>
                  <a:srgbClr val="CBD2D9"/>
                </a:solidFill>
                <a:latin typeface="Calibri" pitchFamily="34" charset="0"/>
                <a:ea typeface="Calibri" pitchFamily="34" charset="-122"/>
                <a:cs typeface="Calibri" pitchFamily="34" charset="-120"/>
              </a:rPr>
              <a:t>Small teams</a:t>
            </a:r>
            <a:endParaRPr lang="en-US" sz="1250" dirty="0"/>
          </a:p>
          <a:p>
            <a:pPr indent="0" marL="0">
              <a:spcAft>
                <a:spcPts val="300"/>
              </a:spcAft>
              <a:buNone/>
            </a:pPr>
            <a:r>
              <a:rPr lang="en-US" sz="1250" dirty="0">
                <a:solidFill>
                  <a:srgbClr val="CBD2D9"/>
                </a:solidFill>
                <a:latin typeface="Calibri" pitchFamily="34" charset="0"/>
                <a:ea typeface="Calibri" pitchFamily="34" charset="-122"/>
                <a:cs typeface="Calibri" pitchFamily="34" charset="-120"/>
              </a:rPr>
              <a:t>Schools and colleges</a:t>
            </a:r>
            <a:endParaRPr lang="en-US" sz="1250" dirty="0"/>
          </a:p>
          <a:p>
            <a:pPr indent="0" marL="0">
              <a:spcAft>
                <a:spcPts val="300"/>
              </a:spcAft>
              <a:buNone/>
            </a:pPr>
            <a:r>
              <a:rPr lang="en-US" sz="1250" dirty="0">
                <a:solidFill>
                  <a:srgbClr val="CBD2D9"/>
                </a:solidFill>
                <a:latin typeface="Calibri" pitchFamily="34" charset="0"/>
                <a:ea typeface="Calibri" pitchFamily="34" charset="-122"/>
                <a:cs typeface="Calibri" pitchFamily="34" charset="-120"/>
              </a:rPr>
              <a:t>Labs and home offices</a:t>
            </a:r>
            <a:endParaRPr lang="en-US" sz="1250" dirty="0"/>
          </a:p>
          <a:p>
            <a:pPr indent="0" marL="0">
              <a:spcAft>
                <a:spcPts val="300"/>
              </a:spcAft>
              <a:buNone/>
            </a:pPr>
            <a:r>
              <a:rPr lang="en-US" sz="1250" dirty="0">
                <a:solidFill>
                  <a:srgbClr val="CBD2D9"/>
                </a:solidFill>
                <a:latin typeface="Calibri" pitchFamily="34" charset="0"/>
                <a:ea typeface="Calibri" pitchFamily="34" charset="-122"/>
                <a:cs typeface="Calibri" pitchFamily="34" charset="-120"/>
              </a:rPr>
              <a:t>Students learning detection</a:t>
            </a:r>
            <a:endParaRPr lang="en-US" sz="1250" dirty="0"/>
          </a:p>
        </p:txBody>
      </p:sp>
      <p:sp>
        <p:nvSpPr>
          <p:cNvPr id="30" name="Text 22"/>
          <p:cNvSpPr txBox="1"/>
          <p:nvPr/>
        </p:nvSpPr>
        <p:spPr>
          <a:xfrm>
            <a:off x="9326880" y="3520440"/>
            <a:ext cx="1828800" cy="228600"/>
          </a:xfrm>
          <a:prstGeom prst="rect">
            <a:avLst/>
          </a:prstGeom>
          <a:noFill/>
          <a:ln/>
        </p:spPr>
        <p:txBody>
          <a:bodyPr wrap="square" lIns="0" tIns="0" rIns="0" bIns="0" rtlCol="0" anchor="ctr"/>
          <a:lstStyle/>
          <a:p>
            <a:pPr indent="0" marL="0">
              <a:buNone/>
            </a:pPr>
            <a:r>
              <a:rPr lang="en-US" sz="1000" b="1" spc="300" kern="0" dirty="0">
                <a:solidFill>
                  <a:srgbClr val="C4403F"/>
                </a:solidFill>
                <a:latin typeface="Courier New" pitchFamily="34" charset="0"/>
                <a:ea typeface="Courier New" pitchFamily="34" charset="-122"/>
                <a:cs typeface="Courier New" pitchFamily="34" charset="-120"/>
              </a:rPr>
              <a:t>NOT FOR</a:t>
            </a:r>
            <a:endParaRPr lang="en-US" sz="1000" dirty="0"/>
          </a:p>
        </p:txBody>
      </p:sp>
      <p:sp>
        <p:nvSpPr>
          <p:cNvPr id="31" name="Text 23"/>
          <p:cNvSpPr txBox="1"/>
          <p:nvPr/>
        </p:nvSpPr>
        <p:spPr>
          <a:xfrm>
            <a:off x="9326880" y="3840480"/>
            <a:ext cx="2194560" cy="777240"/>
          </a:xfrm>
          <a:prstGeom prst="rect">
            <a:avLst/>
          </a:prstGeom>
          <a:noFill/>
          <a:ln/>
        </p:spPr>
        <p:txBody>
          <a:bodyPr wrap="square" lIns="0" tIns="0" rIns="0" bIns="0" rtlCol="0" anchor="t"/>
          <a:lstStyle/>
          <a:p>
            <a:pPr indent="0" marL="0">
              <a:spcAft>
                <a:spcPts val="300"/>
              </a:spcAft>
              <a:buNone/>
            </a:pPr>
            <a:r>
              <a:rPr lang="en-US" sz="1250" dirty="0">
                <a:solidFill>
                  <a:srgbClr val="7B8794"/>
                </a:solidFill>
                <a:latin typeface="Calibri" pitchFamily="34" charset="0"/>
                <a:ea typeface="Calibri" pitchFamily="34" charset="-122"/>
                <a:cs typeface="Calibri" pitchFamily="34" charset="-120"/>
              </a:rPr>
              <a:t>Enterprise scale</a:t>
            </a:r>
            <a:endParaRPr lang="en-US" sz="1250" dirty="0"/>
          </a:p>
          <a:p>
            <a:pPr indent="0" marL="0">
              <a:spcAft>
                <a:spcPts val="300"/>
              </a:spcAft>
              <a:buNone/>
            </a:pPr>
            <a:r>
              <a:rPr lang="en-US" sz="1250" dirty="0">
                <a:solidFill>
                  <a:srgbClr val="7B8794"/>
                </a:solidFill>
                <a:latin typeface="Calibri" pitchFamily="34" charset="0"/>
                <a:ea typeface="Calibri" pitchFamily="34" charset="-122"/>
                <a:cs typeface="Calibri" pitchFamily="34" charset="-120"/>
              </a:rPr>
              <a:t>Automatic blocking</a:t>
            </a:r>
            <a:endParaRPr lang="en-US" sz="1250" dirty="0"/>
          </a:p>
          <a:p>
            <a:pPr indent="0" marL="0">
              <a:spcAft>
                <a:spcPts val="300"/>
              </a:spcAft>
              <a:buNone/>
            </a:pPr>
            <a:r>
              <a:rPr lang="en-US" sz="1250" dirty="0">
                <a:solidFill>
                  <a:srgbClr val="7B8794"/>
                </a:solidFill>
                <a:latin typeface="Calibri" pitchFamily="34" charset="0"/>
                <a:ea typeface="Calibri" pitchFamily="34" charset="-122"/>
                <a:cs typeface="Calibri" pitchFamily="34" charset="-120"/>
              </a:rPr>
              <a:t>Reading encrypted traffic</a:t>
            </a:r>
            <a:endParaRPr lang="en-US" sz="1250" dirty="0"/>
          </a:p>
        </p:txBody>
      </p:sp>
      <p:sp>
        <p:nvSpPr>
          <p:cNvPr id="32" name="Text 24"/>
          <p:cNvSpPr txBox="1"/>
          <p:nvPr/>
        </p:nvSpPr>
        <p:spPr>
          <a:xfrm>
            <a:off x="548640" y="4937760"/>
            <a:ext cx="5486400" cy="228600"/>
          </a:xfrm>
          <a:prstGeom prst="rect">
            <a:avLst/>
          </a:prstGeom>
          <a:noFill/>
          <a:ln/>
        </p:spPr>
        <p:txBody>
          <a:bodyPr wrap="square" lIns="0" tIns="0" rIns="0" bIns="0" rtlCol="0" anchor="ctr"/>
          <a:lstStyle/>
          <a:p>
            <a:pPr indent="0" marL="0">
              <a:buNone/>
            </a:pPr>
            <a:r>
              <a:rPr lang="en-US" sz="1000" b="1" spc="300" kern="0" dirty="0">
                <a:solidFill>
                  <a:srgbClr val="7B8794"/>
                </a:solidFill>
                <a:latin typeface="Courier New" pitchFamily="34" charset="0"/>
                <a:ea typeface="Courier New" pitchFamily="34" charset="-122"/>
                <a:cs typeface="Courier New" pitchFamily="34" charset="-120"/>
              </a:rPr>
              <a:t>HOW IT IS USED</a:t>
            </a:r>
            <a:endParaRPr lang="en-US" sz="1000" dirty="0"/>
          </a:p>
        </p:txBody>
      </p:sp>
      <p:sp>
        <p:nvSpPr>
          <p:cNvPr id="33" name="num"/>
          <p:cNvSpPr/>
          <p:nvPr/>
        </p:nvSpPr>
        <p:spPr>
          <a:xfrm>
            <a:off x="548640" y="5303520"/>
            <a:ext cx="384048" cy="384048"/>
          </a:xfrm>
          <a:prstGeom prst="rect">
            <a:avLst/>
          </a:prstGeom>
          <a:solidFill>
            <a:srgbClr val="C4403F"/>
          </a:solidFill>
          <a:ln/>
        </p:spPr>
      </p:sp>
      <p:sp>
        <p:nvSpPr>
          <p:cNvPr id="34" name="Text 26"/>
          <p:cNvSpPr txBox="1"/>
          <p:nvPr/>
        </p:nvSpPr>
        <p:spPr>
          <a:xfrm>
            <a:off x="548640" y="5303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35" name="Text 27"/>
          <p:cNvSpPr txBox="1"/>
          <p:nvPr/>
        </p:nvSpPr>
        <p:spPr>
          <a:xfrm>
            <a:off x="1097280" y="5303520"/>
            <a:ext cx="3017520" cy="384048"/>
          </a:xfrm>
          <a:prstGeom prst="rect">
            <a:avLst/>
          </a:prstGeom>
          <a:noFill/>
          <a:ln/>
        </p:spPr>
        <p:txBody>
          <a:bodyPr wrap="square" lIns="0" tIns="0" rIns="0" bIns="0" rtlCol="0" anchor="ctr"/>
          <a:lstStyle/>
          <a:p>
            <a:pPr indent="0" marL="0">
              <a:buNone/>
            </a:pPr>
            <a:r>
              <a:rPr lang="en-US" sz="1400" dirty="0">
                <a:solidFill>
                  <a:srgbClr val="CBD2D9"/>
                </a:solidFill>
                <a:latin typeface="Calibri" pitchFamily="34" charset="0"/>
                <a:ea typeface="Calibri" pitchFamily="34" charset="-122"/>
                <a:cs typeface="Calibri" pitchFamily="34" charset="-120"/>
              </a:rPr>
              <a:t>Install on the gateway Mac</a:t>
            </a:r>
            <a:endParaRPr lang="en-US" sz="1400" dirty="0"/>
          </a:p>
        </p:txBody>
      </p:sp>
      <p:sp>
        <p:nvSpPr>
          <p:cNvPr id="36" name="num"/>
          <p:cNvSpPr/>
          <p:nvPr/>
        </p:nvSpPr>
        <p:spPr>
          <a:xfrm>
            <a:off x="4297680" y="5303520"/>
            <a:ext cx="384048" cy="384048"/>
          </a:xfrm>
          <a:prstGeom prst="rect">
            <a:avLst/>
          </a:prstGeom>
          <a:solidFill>
            <a:srgbClr val="C4403F"/>
          </a:solidFill>
          <a:ln/>
        </p:spPr>
      </p:sp>
      <p:sp>
        <p:nvSpPr>
          <p:cNvPr id="37" name="Text 29"/>
          <p:cNvSpPr txBox="1"/>
          <p:nvPr/>
        </p:nvSpPr>
        <p:spPr>
          <a:xfrm>
            <a:off x="4297680" y="5303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38" name="Text 30"/>
          <p:cNvSpPr txBox="1"/>
          <p:nvPr/>
        </p:nvSpPr>
        <p:spPr>
          <a:xfrm>
            <a:off x="4846320" y="5303520"/>
            <a:ext cx="3017520" cy="384048"/>
          </a:xfrm>
          <a:prstGeom prst="rect">
            <a:avLst/>
          </a:prstGeom>
          <a:noFill/>
          <a:ln/>
        </p:spPr>
        <p:txBody>
          <a:bodyPr wrap="square" lIns="0" tIns="0" rIns="0" bIns="0" rtlCol="0" anchor="ctr"/>
          <a:lstStyle/>
          <a:p>
            <a:pPr indent="0" marL="0">
              <a:buNone/>
            </a:pPr>
            <a:r>
              <a:rPr lang="en-US" sz="1400" dirty="0">
                <a:solidFill>
                  <a:srgbClr val="CBD2D9"/>
                </a:solidFill>
                <a:latin typeface="Calibri" pitchFamily="34" charset="0"/>
                <a:ea typeface="Calibri" pitchFamily="34" charset="-122"/>
                <a:cs typeface="Calibri" pitchFamily="34" charset="-120"/>
              </a:rPr>
              <a:t>Watch the console, or just wait for alerts</a:t>
            </a:r>
            <a:endParaRPr lang="en-US" sz="1400" dirty="0"/>
          </a:p>
        </p:txBody>
      </p:sp>
      <p:sp>
        <p:nvSpPr>
          <p:cNvPr id="39" name="num"/>
          <p:cNvSpPr/>
          <p:nvPr/>
        </p:nvSpPr>
        <p:spPr>
          <a:xfrm>
            <a:off x="8046720" y="5303520"/>
            <a:ext cx="384048" cy="384048"/>
          </a:xfrm>
          <a:prstGeom prst="rect">
            <a:avLst/>
          </a:prstGeom>
          <a:solidFill>
            <a:srgbClr val="C4403F"/>
          </a:solidFill>
          <a:ln/>
        </p:spPr>
      </p:sp>
      <p:sp>
        <p:nvSpPr>
          <p:cNvPr id="40" name="Text 32"/>
          <p:cNvSpPr txBox="1"/>
          <p:nvPr/>
        </p:nvSpPr>
        <p:spPr>
          <a:xfrm>
            <a:off x="8046720" y="5303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41" name="Text 33"/>
          <p:cNvSpPr txBox="1"/>
          <p:nvPr/>
        </p:nvSpPr>
        <p:spPr>
          <a:xfrm>
            <a:off x="8595360" y="5303520"/>
            <a:ext cx="3017520" cy="384048"/>
          </a:xfrm>
          <a:prstGeom prst="rect">
            <a:avLst/>
          </a:prstGeom>
          <a:noFill/>
          <a:ln/>
        </p:spPr>
        <p:txBody>
          <a:bodyPr wrap="square" lIns="0" tIns="0" rIns="0" bIns="0" rtlCol="0" anchor="ctr"/>
          <a:lstStyle/>
          <a:p>
            <a:pPr indent="0" marL="0">
              <a:buNone/>
            </a:pPr>
            <a:r>
              <a:rPr lang="en-US" sz="1400" dirty="0">
                <a:solidFill>
                  <a:srgbClr val="CBD2D9"/>
                </a:solidFill>
                <a:latin typeface="Calibri" pitchFamily="34" charset="0"/>
                <a:ea typeface="Calibri" pitchFamily="34" charset="-122"/>
                <a:cs typeface="Calibri" pitchFamily="34" charset="-120"/>
              </a:rPr>
              <a:t>Open History to review what happened</a:t>
            </a:r>
            <a:endParaRPr lang="en-US" sz="140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E6EAEE"/>
                </a:solidFill>
                <a:latin typeface="Calibri" pitchFamily="34" charset="0"/>
                <a:ea typeface="Calibri" pitchFamily="34" charset="-122"/>
                <a:cs typeface="Calibri" pitchFamily="34" charset="-120"/>
              </a:rPr>
              <a:t>From clone to first detection in five minutes</a:t>
            </a:r>
            <a:endParaRPr lang="en-US" sz="2800" dirty="0"/>
          </a:p>
        </p:txBody>
      </p:sp>
      <p:sp>
        <p:nvSpPr>
          <p:cNvPr id="4" name="Text 1"/>
          <p:cNvSpPr txBox="1"/>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C4403F"/>
                </a:solidFill>
                <a:latin typeface="Courier New" pitchFamily="34" charset="0"/>
                <a:ea typeface="Courier New" pitchFamily="34" charset="-122"/>
                <a:cs typeface="Courier New" pitchFamily="34" charset="-120"/>
              </a:rPr>
              <a:t>17  /  RUN IT</a:t>
            </a:r>
            <a:endParaRPr lang="en-US" sz="1100" dirty="0"/>
          </a:p>
        </p:txBody>
      </p:sp>
      <p:sp>
        <p:nvSpPr>
          <p:cNvPr id="5" name="term"/>
          <p:cNvSpPr/>
          <p:nvPr/>
        </p:nvSpPr>
        <p:spPr>
          <a:xfrm>
            <a:off x="548640" y="1645920"/>
            <a:ext cx="11109960" cy="1417320"/>
          </a:xfrm>
          <a:prstGeom prst="rect">
            <a:avLst/>
          </a:prstGeom>
          <a:solidFill>
            <a:srgbClr val="12161A"/>
          </a:solidFill>
          <a:ln w="12700">
            <a:solidFill>
              <a:srgbClr val="232A31"/>
            </a:solidFill>
            <a:prstDash val="solid"/>
          </a:ln>
        </p:spPr>
      </p:sp>
      <p:sp>
        <p:nvSpPr>
          <p:cNvPr id="6" name="term-bar"/>
          <p:cNvSpPr/>
          <p:nvPr/>
        </p:nvSpPr>
        <p:spPr>
          <a:xfrm>
            <a:off x="548640" y="1645920"/>
            <a:ext cx="11109960" cy="347472"/>
          </a:xfrm>
          <a:prstGeom prst="rect">
            <a:avLst/>
          </a:prstGeom>
          <a:solidFill>
            <a:srgbClr val="0A0C0F"/>
          </a:solidFill>
          <a:ln w="12700">
            <a:solidFill>
              <a:srgbClr val="232A31"/>
            </a:solidFill>
            <a:prstDash val="solid"/>
          </a:ln>
        </p:spPr>
      </p:sp>
      <p:sp>
        <p:nvSpPr>
          <p:cNvPr id="7" name="Text 4"/>
          <p:cNvSpPr txBox="1"/>
          <p:nvPr/>
        </p:nvSpPr>
        <p:spPr>
          <a:xfrm>
            <a:off x="731520" y="1700784"/>
            <a:ext cx="7315200" cy="237744"/>
          </a:xfrm>
          <a:prstGeom prst="rect">
            <a:avLst/>
          </a:prstGeom>
          <a:noFill/>
          <a:ln/>
        </p:spPr>
        <p:txBody>
          <a:bodyPr wrap="square" lIns="0" tIns="0" rIns="0" bIns="0" rtlCol="0" anchor="ctr"/>
          <a:lstStyle/>
          <a:p>
            <a:pPr indent="0" marL="0">
              <a:buNone/>
            </a:pPr>
            <a:r>
              <a:rPr lang="en-US" sz="1100" b="1" spc="200" kern="0" dirty="0">
                <a:solidFill>
                  <a:srgbClr val="7B8794"/>
                </a:solidFill>
                <a:latin typeface="Courier New" pitchFamily="34" charset="0"/>
                <a:ea typeface="Courier New" pitchFamily="34" charset="-122"/>
                <a:cs typeface="Courier New" pitchFamily="34" charset="-120"/>
              </a:rPr>
              <a:t>1  INSTALL</a:t>
            </a:r>
            <a:endParaRPr lang="en-US" sz="1100" dirty="0"/>
          </a:p>
        </p:txBody>
      </p:sp>
      <p:sp>
        <p:nvSpPr>
          <p:cNvPr id="8" name="Text 5"/>
          <p:cNvSpPr txBox="1"/>
          <p:nvPr/>
        </p:nvSpPr>
        <p:spPr>
          <a:xfrm>
            <a:off x="777240" y="2057400"/>
            <a:ext cx="10515600" cy="960120"/>
          </a:xfrm>
          <a:prstGeom prst="rect">
            <a:avLst/>
          </a:prstGeom>
          <a:noFill/>
          <a:ln/>
        </p:spPr>
        <p:txBody>
          <a:bodyPr wrap="square" lIns="0" tIns="0" rIns="0" bIns="0" rtlCol="0" anchor="t"/>
          <a:lstStyle/>
          <a:p>
            <a:pPr indent="0" marL="0">
              <a:spcAft>
                <a:spcPts val="200"/>
              </a:spcAft>
              <a:buNone/>
            </a:pPr>
            <a:r>
              <a:rPr lang="en-US" sz="1250" dirty="0">
                <a:solidFill>
                  <a:srgbClr val="E6EAEE"/>
                </a:solidFill>
                <a:latin typeface="Courier New" pitchFamily="34" charset="0"/>
                <a:ea typeface="Courier New" pitchFamily="34" charset="-122"/>
                <a:cs typeface="Courier New" pitchFamily="34" charset="-120"/>
              </a:rPr>
              <a:t>$ brew install uv</a:t>
            </a:r>
            <a:endParaRPr lang="en-US" sz="1250" dirty="0"/>
          </a:p>
          <a:p>
            <a:pPr indent="0" marL="0">
              <a:spcAft>
                <a:spcPts val="200"/>
              </a:spcAft>
              <a:buNone/>
            </a:pPr>
            <a:r>
              <a:rPr lang="en-US" sz="1250" dirty="0">
                <a:solidFill>
                  <a:srgbClr val="E6EAEE"/>
                </a:solidFill>
                <a:latin typeface="Courier New" pitchFamily="34" charset="0"/>
                <a:ea typeface="Courier New" pitchFamily="34" charset="-122"/>
                <a:cs typeface="Courier New" pitchFamily="34" charset="-120"/>
              </a:rPr>
              <a:t>$ git clone https://github.com/MRX-72/Hackt0b3r.git raven &amp;&amp; cd raven</a:t>
            </a:r>
            <a:endParaRPr lang="en-US" sz="1250" dirty="0"/>
          </a:p>
          <a:p>
            <a:pPr indent="0" marL="0">
              <a:spcAft>
                <a:spcPts val="200"/>
              </a:spcAft>
              <a:buNone/>
            </a:pPr>
            <a:r>
              <a:rPr lang="en-US" sz="1250" dirty="0">
                <a:solidFill>
                  <a:srgbClr val="E6EAEE"/>
                </a:solidFill>
                <a:latin typeface="Courier New" pitchFamily="34" charset="0"/>
                <a:ea typeface="Courier New" pitchFamily="34" charset="-122"/>
                <a:cs typeface="Courier New" pitchFamily="34" charset="-120"/>
              </a:rPr>
              <a:t>$ uv tool install .</a:t>
            </a:r>
            <a:endParaRPr lang="en-US" sz="1250" dirty="0"/>
          </a:p>
          <a:p>
            <a:pPr indent="0" marL="0">
              <a:spcAft>
                <a:spcPts val="200"/>
              </a:spcAft>
              <a:buNone/>
            </a:pPr>
            <a:r>
              <a:rPr lang="en-US" sz="1250" dirty="0">
                <a:solidFill>
                  <a:srgbClr val="E6EAEE"/>
                </a:solidFill>
                <a:latin typeface="Courier New" pitchFamily="34" charset="0"/>
                <a:ea typeface="Courier New" pitchFamily="34" charset="-122"/>
                <a:cs typeface="Courier New" pitchFamily="34" charset="-120"/>
              </a:rPr>
              <a:t>$ raven init &amp;&amp; raven doctor</a:t>
            </a:r>
            <a:endParaRPr lang="en-US" sz="1250" dirty="0"/>
          </a:p>
        </p:txBody>
      </p:sp>
      <p:sp>
        <p:nvSpPr>
          <p:cNvPr id="9" name="term"/>
          <p:cNvSpPr/>
          <p:nvPr/>
        </p:nvSpPr>
        <p:spPr>
          <a:xfrm>
            <a:off x="548640" y="3200400"/>
            <a:ext cx="11109960" cy="1417320"/>
          </a:xfrm>
          <a:prstGeom prst="rect">
            <a:avLst/>
          </a:prstGeom>
          <a:solidFill>
            <a:srgbClr val="12161A"/>
          </a:solidFill>
          <a:ln w="12700">
            <a:solidFill>
              <a:srgbClr val="232A31"/>
            </a:solidFill>
            <a:prstDash val="solid"/>
          </a:ln>
        </p:spPr>
      </p:sp>
      <p:sp>
        <p:nvSpPr>
          <p:cNvPr id="10" name="term-bar"/>
          <p:cNvSpPr/>
          <p:nvPr/>
        </p:nvSpPr>
        <p:spPr>
          <a:xfrm>
            <a:off x="548640" y="3200400"/>
            <a:ext cx="11109960" cy="347472"/>
          </a:xfrm>
          <a:prstGeom prst="rect">
            <a:avLst/>
          </a:prstGeom>
          <a:solidFill>
            <a:srgbClr val="0A0C0F"/>
          </a:solidFill>
          <a:ln w="12700">
            <a:solidFill>
              <a:srgbClr val="232A31"/>
            </a:solidFill>
            <a:prstDash val="solid"/>
          </a:ln>
        </p:spPr>
      </p:sp>
      <p:sp>
        <p:nvSpPr>
          <p:cNvPr id="11" name="Text 8"/>
          <p:cNvSpPr txBox="1"/>
          <p:nvPr/>
        </p:nvSpPr>
        <p:spPr>
          <a:xfrm>
            <a:off x="731520" y="3255264"/>
            <a:ext cx="7315200" cy="237744"/>
          </a:xfrm>
          <a:prstGeom prst="rect">
            <a:avLst/>
          </a:prstGeom>
          <a:noFill/>
          <a:ln/>
        </p:spPr>
        <p:txBody>
          <a:bodyPr wrap="square" lIns="0" tIns="0" rIns="0" bIns="0" rtlCol="0" anchor="ctr"/>
          <a:lstStyle/>
          <a:p>
            <a:pPr indent="0" marL="0">
              <a:buNone/>
            </a:pPr>
            <a:r>
              <a:rPr lang="en-US" sz="1100" b="1" spc="200" kern="0" dirty="0">
                <a:solidFill>
                  <a:srgbClr val="7B8794"/>
                </a:solidFill>
                <a:latin typeface="Courier New" pitchFamily="34" charset="0"/>
                <a:ea typeface="Courier New" pitchFamily="34" charset="-122"/>
                <a:cs typeface="Courier New" pitchFamily="34" charset="-120"/>
              </a:rPr>
              <a:t>2  QUICK START  (no network needed)</a:t>
            </a:r>
            <a:endParaRPr lang="en-US" sz="1100" dirty="0"/>
          </a:p>
        </p:txBody>
      </p:sp>
      <p:sp>
        <p:nvSpPr>
          <p:cNvPr id="12" name="Text 9"/>
          <p:cNvSpPr txBox="1"/>
          <p:nvPr/>
        </p:nvSpPr>
        <p:spPr>
          <a:xfrm>
            <a:off x="777240" y="3611880"/>
            <a:ext cx="10515600" cy="960120"/>
          </a:xfrm>
          <a:prstGeom prst="rect">
            <a:avLst/>
          </a:prstGeom>
          <a:noFill/>
          <a:ln/>
        </p:spPr>
        <p:txBody>
          <a:bodyPr wrap="square" lIns="0" tIns="0" rIns="0" bIns="0" rtlCol="0" anchor="t"/>
          <a:lstStyle/>
          <a:p>
            <a:pPr indent="0" marL="0">
              <a:spcAft>
                <a:spcPts val="200"/>
              </a:spcAft>
              <a:buNone/>
            </a:pPr>
            <a:r>
              <a:rPr lang="en-US" sz="1250" dirty="0">
                <a:solidFill>
                  <a:srgbClr val="E6EAEE"/>
                </a:solidFill>
                <a:latin typeface="Courier New" pitchFamily="34" charset="0"/>
                <a:ea typeface="Courier New" pitchFamily="34" charset="-122"/>
                <a:cs typeface="Courier New" pitchFamily="34" charset="-120"/>
              </a:rPr>
              <a:t>$ uv run python tools/make_demo_pcap.py demo.pcap</a:t>
            </a:r>
            <a:endParaRPr lang="en-US" sz="1250" dirty="0"/>
          </a:p>
          <a:p>
            <a:pPr indent="0" marL="0">
              <a:spcAft>
                <a:spcPts val="200"/>
              </a:spcAft>
              <a:buNone/>
            </a:pPr>
            <a:r>
              <a:rPr lang="en-US" sz="1250" dirty="0">
                <a:solidFill>
                  <a:srgbClr val="E6EAEE"/>
                </a:solidFill>
                <a:latin typeface="Courier New" pitchFamily="34" charset="0"/>
                <a:ea typeface="Courier New" pitchFamily="34" charset="-122"/>
                <a:cs typeface="Courier New" pitchFamily="34" charset="-120"/>
              </a:rPr>
              <a:t>$ raven replay demo.pcap</a:t>
            </a:r>
            <a:endParaRPr lang="en-US" sz="1250" dirty="0"/>
          </a:p>
          <a:p>
            <a:pPr indent="0" marL="0">
              <a:spcAft>
                <a:spcPts val="200"/>
              </a:spcAft>
              <a:buNone/>
            </a:pPr>
            <a:r>
              <a:rPr lang="en-US" sz="1250" dirty="0">
                <a:solidFill>
                  <a:srgbClr val="E6EAEE"/>
                </a:solidFill>
                <a:latin typeface="Courier New" pitchFamily="34" charset="0"/>
                <a:ea typeface="Courier New" pitchFamily="34" charset="-122"/>
                <a:cs typeface="Courier New" pitchFamily="34" charset="-120"/>
              </a:rPr>
              <a:t>$ raven ui --replay demo.pcap</a:t>
            </a:r>
            <a:endParaRPr lang="en-US" sz="1250" dirty="0"/>
          </a:p>
          <a:p>
            <a:pPr indent="0" marL="0">
              <a:spcAft>
                <a:spcPts val="200"/>
              </a:spcAft>
              <a:buNone/>
            </a:pPr>
            <a:r>
              <a:rPr lang="en-US" sz="1250" dirty="0">
                <a:solidFill>
                  <a:srgbClr val="E6EAEE"/>
                </a:solidFill>
                <a:latin typeface="Courier New" pitchFamily="34" charset="0"/>
                <a:ea typeface="Courier New" pitchFamily="34" charset="-122"/>
                <a:cs typeface="Courier New" pitchFamily="34" charset="-120"/>
              </a:rPr>
              <a:t>$ raven history</a:t>
            </a:r>
            <a:endParaRPr lang="en-US" sz="1250" dirty="0"/>
          </a:p>
        </p:txBody>
      </p:sp>
      <p:sp>
        <p:nvSpPr>
          <p:cNvPr id="13" name="term"/>
          <p:cNvSpPr/>
          <p:nvPr/>
        </p:nvSpPr>
        <p:spPr>
          <a:xfrm>
            <a:off x="548640" y="4754880"/>
            <a:ext cx="11109960" cy="1417320"/>
          </a:xfrm>
          <a:prstGeom prst="rect">
            <a:avLst/>
          </a:prstGeom>
          <a:solidFill>
            <a:srgbClr val="12161A"/>
          </a:solidFill>
          <a:ln w="12700">
            <a:solidFill>
              <a:srgbClr val="232A31"/>
            </a:solidFill>
            <a:prstDash val="solid"/>
          </a:ln>
        </p:spPr>
      </p:sp>
      <p:sp>
        <p:nvSpPr>
          <p:cNvPr id="14" name="term-bar"/>
          <p:cNvSpPr/>
          <p:nvPr/>
        </p:nvSpPr>
        <p:spPr>
          <a:xfrm>
            <a:off x="548640" y="4754880"/>
            <a:ext cx="11109960" cy="347472"/>
          </a:xfrm>
          <a:prstGeom prst="rect">
            <a:avLst/>
          </a:prstGeom>
          <a:solidFill>
            <a:srgbClr val="0A0C0F"/>
          </a:solidFill>
          <a:ln w="12700">
            <a:solidFill>
              <a:srgbClr val="232A31"/>
            </a:solidFill>
            <a:prstDash val="solid"/>
          </a:ln>
        </p:spPr>
      </p:sp>
      <p:sp>
        <p:nvSpPr>
          <p:cNvPr id="15" name="Text 12"/>
          <p:cNvSpPr txBox="1"/>
          <p:nvPr/>
        </p:nvSpPr>
        <p:spPr>
          <a:xfrm>
            <a:off x="731520" y="4809744"/>
            <a:ext cx="7315200" cy="237744"/>
          </a:xfrm>
          <a:prstGeom prst="rect">
            <a:avLst/>
          </a:prstGeom>
          <a:noFill/>
          <a:ln/>
        </p:spPr>
        <p:txBody>
          <a:bodyPr wrap="square" lIns="0" tIns="0" rIns="0" bIns="0" rtlCol="0" anchor="ctr"/>
          <a:lstStyle/>
          <a:p>
            <a:pPr indent="0" marL="0">
              <a:buNone/>
            </a:pPr>
            <a:r>
              <a:rPr lang="en-US" sz="1100" b="1" spc="200" kern="0" dirty="0">
                <a:solidFill>
                  <a:srgbClr val="7B8794"/>
                </a:solidFill>
                <a:latin typeface="Courier New" pitchFamily="34" charset="0"/>
                <a:ea typeface="Courier New" pitchFamily="34" charset="-122"/>
                <a:cs typeface="Courier New" pitchFamily="34" charset="-120"/>
              </a:rPr>
              <a:t>3  ATTACK YOURSELF  (two terminals)</a:t>
            </a:r>
            <a:endParaRPr lang="en-US" sz="1100" dirty="0"/>
          </a:p>
        </p:txBody>
      </p:sp>
      <p:sp>
        <p:nvSpPr>
          <p:cNvPr id="16" name="Text 13"/>
          <p:cNvSpPr txBox="1"/>
          <p:nvPr/>
        </p:nvSpPr>
        <p:spPr>
          <a:xfrm>
            <a:off x="777240" y="5166360"/>
            <a:ext cx="10515600" cy="960120"/>
          </a:xfrm>
          <a:prstGeom prst="rect">
            <a:avLst/>
          </a:prstGeom>
          <a:noFill/>
          <a:ln/>
        </p:spPr>
        <p:txBody>
          <a:bodyPr wrap="square" lIns="0" tIns="0" rIns="0" bIns="0" rtlCol="0" anchor="t"/>
          <a:lstStyle/>
          <a:p>
            <a:pPr indent="0" marL="0">
              <a:spcAft>
                <a:spcPts val="200"/>
              </a:spcAft>
              <a:buNone/>
            </a:pPr>
            <a:r>
              <a:rPr lang="en-US" sz="1250" dirty="0">
                <a:solidFill>
                  <a:srgbClr val="E6EAEE"/>
                </a:solidFill>
                <a:latin typeface="Courier New" pitchFamily="34" charset="0"/>
                <a:ea typeface="Courier New" pitchFamily="34" charset="-122"/>
                <a:cs typeface="Courier New" pitchFamily="34" charset="-120"/>
              </a:rPr>
              <a:t># terminal 1: the monitor</a:t>
            </a:r>
            <a:endParaRPr lang="en-US" sz="1250" dirty="0"/>
          </a:p>
          <a:p>
            <a:pPr indent="0" marL="0">
              <a:spcAft>
                <a:spcPts val="200"/>
              </a:spcAft>
              <a:buNone/>
            </a:pPr>
            <a:r>
              <a:rPr lang="en-US" sz="1250" dirty="0">
                <a:solidFill>
                  <a:srgbClr val="E6EAEE"/>
                </a:solidFill>
                <a:latin typeface="Courier New" pitchFamily="34" charset="0"/>
                <a:ea typeface="Courier New" pitchFamily="34" charset="-122"/>
                <a:cs typeface="Courier New" pitchFamily="34" charset="-120"/>
              </a:rPr>
              <a:t>$ raven --config examples/demo-10s.toml ui --iface lo0</a:t>
            </a:r>
            <a:endParaRPr lang="en-US" sz="1250" dirty="0"/>
          </a:p>
          <a:p>
            <a:pPr indent="0" marL="0">
              <a:spcAft>
                <a:spcPts val="200"/>
              </a:spcAft>
              <a:buNone/>
            </a:pPr>
            <a:r>
              <a:rPr lang="en-US" sz="1250" dirty="0">
                <a:solidFill>
                  <a:srgbClr val="E6EAEE"/>
                </a:solidFill>
                <a:latin typeface="Courier New" pitchFamily="34" charset="0"/>
                <a:ea typeface="Courier New" pitchFamily="34" charset="-122"/>
                <a:cs typeface="Courier New" pitchFamily="34" charset="-120"/>
              </a:rPr>
              <a:t># terminal 2: the attacks, on your own machine only</a:t>
            </a:r>
            <a:endParaRPr lang="en-US" sz="1250" dirty="0"/>
          </a:p>
          <a:p>
            <a:pPr indent="0" marL="0">
              <a:spcAft>
                <a:spcPts val="200"/>
              </a:spcAft>
              <a:buNone/>
            </a:pPr>
            <a:r>
              <a:rPr lang="en-US" sz="1250" dirty="0">
                <a:solidFill>
                  <a:srgbClr val="E6EAEE"/>
                </a:solidFill>
                <a:latin typeface="Courier New" pitchFamily="34" charset="0"/>
                <a:ea typeface="Courier New" pitchFamily="34" charset="-122"/>
                <a:cs typeface="Courier New" pitchFamily="34" charset="-120"/>
              </a:rPr>
              <a:t>$ uv run python tools/demo_attacks.py</a:t>
            </a:r>
            <a:endParaRPr lang="en-US" sz="1250" dirty="0"/>
          </a:p>
        </p:txBody>
      </p:sp>
      <p:sp>
        <p:nvSpPr>
          <p:cNvPr id="25" name="Slide Number Placeholder 0"/>
          <p:cNvSpPr>
            <a:spLocks noGrp="1"/>
          </p:cNvSpPr>
          <p:nvPr>
            <p:ph type="sldNum" sz="quarter" idx="4294967295"/>
          </p:nvPr>
        </p:nvSpPr>
        <p:spPr>
          <a:xfrm>
            <a:off x="10972800" y="6492240"/>
            <a:ext cx="6858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latin typeface="Courier New"/>
                <a:ea typeface="Courier New"/>
                <a:cs typeface="Courier New"/>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edge"/>
          <p:cNvSpPr/>
          <p:nvPr/>
        </p:nvSpPr>
        <p:spPr>
          <a:xfrm>
            <a:off x="0" y="0"/>
            <a:ext cx="164592" cy="6858000"/>
          </a:xfrm>
          <a:prstGeom prst="rect">
            <a:avLst/>
          </a:prstGeom>
          <a:solidFill>
            <a:srgbClr val="C4403F"/>
          </a:solidFill>
          <a:ln/>
        </p:spPr>
      </p:sp>
      <p:sp>
        <p:nvSpPr>
          <p:cNvPr id="4" name="Text 1"/>
          <p:cNvSpPr txBox="1"/>
          <p:nvPr/>
        </p:nvSpPr>
        <p:spPr>
          <a:xfrm>
            <a:off x="731520" y="1371600"/>
            <a:ext cx="5486400" cy="274320"/>
          </a:xfrm>
          <a:prstGeom prst="rect">
            <a:avLst/>
          </a:prstGeom>
          <a:noFill/>
          <a:ln/>
        </p:spPr>
        <p:txBody>
          <a:bodyPr wrap="square" lIns="0" tIns="0" rIns="0" bIns="0" rtlCol="0" anchor="ctr"/>
          <a:lstStyle/>
          <a:p>
            <a:pPr indent="0" marL="0">
              <a:buNone/>
            </a:pPr>
            <a:r>
              <a:rPr lang="en-US" sz="1200" b="1" spc="500" kern="0" dirty="0">
                <a:solidFill>
                  <a:srgbClr val="C4403F"/>
                </a:solidFill>
                <a:latin typeface="Courier New" pitchFamily="34" charset="0"/>
                <a:ea typeface="Courier New" pitchFamily="34" charset="-122"/>
                <a:cs typeface="Courier New" pitchFamily="34" charset="-120"/>
              </a:rPr>
              <a:t>TRY IT TODAY</a:t>
            </a:r>
            <a:endParaRPr lang="en-US" sz="1200" dirty="0"/>
          </a:p>
        </p:txBody>
      </p:sp>
      <p:sp>
        <p:nvSpPr>
          <p:cNvPr id="5" name="Text 2"/>
          <p:cNvSpPr txBox="1"/>
          <p:nvPr/>
        </p:nvSpPr>
        <p:spPr>
          <a:xfrm>
            <a:off x="731520" y="1783080"/>
            <a:ext cx="6583680" cy="1737360"/>
          </a:xfrm>
          <a:prstGeom prst="rect">
            <a:avLst/>
          </a:prstGeom>
          <a:noFill/>
          <a:ln/>
        </p:spPr>
        <p:txBody>
          <a:bodyPr wrap="square" lIns="0" tIns="0" rIns="0" bIns="0" rtlCol="0" anchor="t"/>
          <a:lstStyle/>
          <a:p>
            <a:pPr indent="0" marL="0">
              <a:buNone/>
            </a:pPr>
            <a:r>
              <a:rPr lang="en-US" sz="4000" b="1" dirty="0">
                <a:solidFill>
                  <a:srgbClr val="E6EAEE"/>
                </a:solidFill>
                <a:latin typeface="Calibri" pitchFamily="34" charset="0"/>
                <a:ea typeface="Calibri" pitchFamily="34" charset="-122"/>
                <a:cs typeface="Calibri" pitchFamily="34" charset="-120"/>
              </a:rPr>
              <a:t>See it catch an attack on your own machine.</a:t>
            </a:r>
            <a:endParaRPr lang="en-US" sz="4000" dirty="0"/>
          </a:p>
        </p:txBody>
      </p:sp>
      <p:sp>
        <p:nvSpPr>
          <p:cNvPr id="6" name="Text 3"/>
          <p:cNvSpPr txBox="1"/>
          <p:nvPr/>
        </p:nvSpPr>
        <p:spPr>
          <a:xfrm>
            <a:off x="731520" y="3657600"/>
            <a:ext cx="6400800" cy="457200"/>
          </a:xfrm>
          <a:prstGeom prst="rect">
            <a:avLst/>
          </a:prstGeom>
          <a:noFill/>
          <a:ln/>
        </p:spPr>
        <p:txBody>
          <a:bodyPr wrap="square" lIns="0" tIns="0" rIns="0" bIns="0" rtlCol="0" anchor="ctr"/>
          <a:lstStyle/>
          <a:p>
            <a:pPr indent="0" marL="0">
              <a:buNone/>
            </a:pPr>
            <a:r>
              <a:rPr lang="en-US" sz="1800" dirty="0">
                <a:solidFill>
                  <a:srgbClr val="CBD2D9"/>
                </a:solidFill>
                <a:latin typeface="Calibri" pitchFamily="34" charset="0"/>
                <a:ea typeface="Calibri" pitchFamily="34" charset="-122"/>
                <a:cs typeface="Calibri" pitchFamily="34" charset="-120"/>
              </a:rPr>
              <a:t>Five minutes, no network needed, nothing leaves your Mac.</a:t>
            </a:r>
            <a:endParaRPr lang="en-US" sz="1800" dirty="0"/>
          </a:p>
        </p:txBody>
      </p:sp>
      <p:sp>
        <p:nvSpPr>
          <p:cNvPr id="7" name="term"/>
          <p:cNvSpPr/>
          <p:nvPr/>
        </p:nvSpPr>
        <p:spPr>
          <a:xfrm>
            <a:off x="7863840" y="1737360"/>
            <a:ext cx="3840480" cy="2103120"/>
          </a:xfrm>
          <a:prstGeom prst="rect">
            <a:avLst/>
          </a:prstGeom>
          <a:solidFill>
            <a:srgbClr val="12161A"/>
          </a:solidFill>
          <a:ln w="12700">
            <a:solidFill>
              <a:srgbClr val="2F3943"/>
            </a:solidFill>
            <a:prstDash val="solid"/>
          </a:ln>
        </p:spPr>
      </p:sp>
      <p:sp>
        <p:nvSpPr>
          <p:cNvPr id="8" name="Text 5"/>
          <p:cNvSpPr txBox="1"/>
          <p:nvPr/>
        </p:nvSpPr>
        <p:spPr>
          <a:xfrm>
            <a:off x="8092440" y="1965960"/>
            <a:ext cx="3474720" cy="1737360"/>
          </a:xfrm>
          <a:prstGeom prst="rect">
            <a:avLst/>
          </a:prstGeom>
          <a:noFill/>
          <a:ln/>
        </p:spPr>
        <p:txBody>
          <a:bodyPr wrap="square" lIns="0" tIns="0" rIns="0" bIns="0" rtlCol="0" anchor="t"/>
          <a:lstStyle/>
          <a:p>
            <a:pPr indent="0" marL="0">
              <a:spcAft>
                <a:spcPts val="600"/>
              </a:spcAft>
              <a:buNone/>
            </a:pPr>
            <a:r>
              <a:rPr lang="en-US" sz="1400" dirty="0">
                <a:solidFill>
                  <a:srgbClr val="E6EAEE"/>
                </a:solidFill>
                <a:latin typeface="Courier New" pitchFamily="34" charset="0"/>
                <a:ea typeface="Courier New" pitchFamily="34" charset="-122"/>
                <a:cs typeface="Courier New" pitchFamily="34" charset="-120"/>
              </a:rPr>
              <a:t>$ uv tool install .</a:t>
            </a:r>
            <a:endParaRPr lang="en-US" sz="1400" dirty="0"/>
          </a:p>
          <a:p>
            <a:pPr indent="0" marL="0">
              <a:spcAft>
                <a:spcPts val="600"/>
              </a:spcAft>
              <a:buNone/>
            </a:pPr>
            <a:r>
              <a:rPr lang="en-US" sz="1400" dirty="0">
                <a:solidFill>
                  <a:srgbClr val="E6EAEE"/>
                </a:solidFill>
                <a:latin typeface="Courier New" pitchFamily="34" charset="0"/>
                <a:ea typeface="Courier New" pitchFamily="34" charset="-122"/>
                <a:cs typeface="Courier New" pitchFamily="34" charset="-120"/>
              </a:rPr>
              <a:t>$ raven init</a:t>
            </a:r>
            <a:endParaRPr lang="en-US" sz="1400" dirty="0"/>
          </a:p>
          <a:p>
            <a:pPr indent="0" marL="0">
              <a:spcAft>
                <a:spcPts val="600"/>
              </a:spcAft>
              <a:buNone/>
            </a:pPr>
            <a:r>
              <a:rPr lang="en-US" sz="1400" dirty="0">
                <a:solidFill>
                  <a:srgbClr val="E6EAEE"/>
                </a:solidFill>
                <a:latin typeface="Courier New" pitchFamily="34" charset="0"/>
                <a:ea typeface="Courier New" pitchFamily="34" charset="-122"/>
                <a:cs typeface="Courier New" pitchFamily="34" charset="-120"/>
              </a:rPr>
              <a:t>$ uv run python \</a:t>
            </a:r>
            <a:endParaRPr lang="en-US" sz="1400" dirty="0"/>
          </a:p>
          <a:p>
            <a:pPr indent="0" marL="0">
              <a:spcAft>
                <a:spcPts val="600"/>
              </a:spcAft>
              <a:buNone/>
            </a:pPr>
            <a:r>
              <a:rPr lang="en-US" sz="1400" dirty="0">
                <a:solidFill>
                  <a:srgbClr val="E6EAEE"/>
                </a:solidFill>
                <a:latin typeface="Courier New" pitchFamily="34" charset="0"/>
                <a:ea typeface="Courier New" pitchFamily="34" charset="-122"/>
                <a:cs typeface="Courier New" pitchFamily="34" charset="-120"/>
              </a:rPr>
              <a:t>    tools/demo_attacks.py</a:t>
            </a:r>
            <a:endParaRPr lang="en-US" sz="1400" dirty="0"/>
          </a:p>
        </p:txBody>
      </p:sp>
      <p:sp>
        <p:nvSpPr>
          <p:cNvPr id="9" name="Text 6"/>
          <p:cNvSpPr txBox="1"/>
          <p:nvPr/>
        </p:nvSpPr>
        <p:spPr>
          <a:xfrm>
            <a:off x="731520" y="5943600"/>
            <a:ext cx="8229600" cy="274320"/>
          </a:xfrm>
          <a:prstGeom prst="rect">
            <a:avLst/>
          </a:prstGeom>
          <a:noFill/>
          <a:ln/>
        </p:spPr>
        <p:txBody>
          <a:bodyPr wrap="square" lIns="0" tIns="0" rIns="0" bIns="0" rtlCol="0" anchor="ctr"/>
          <a:lstStyle/>
          <a:p>
            <a:pPr indent="0" marL="0">
              <a:buNone/>
            </a:pPr>
            <a:r>
              <a:rPr lang="en-US" sz="1200" dirty="0">
                <a:solidFill>
                  <a:srgbClr val="7B8794"/>
                </a:solidFill>
                <a:latin typeface="Courier New" pitchFamily="34" charset="0"/>
                <a:ea typeface="Courier New" pitchFamily="34" charset="-122"/>
                <a:cs typeface="Courier New" pitchFamily="34" charset="-120"/>
              </a:rPr>
              <a:t>README.md  ·  USER_GUIDE.md  ·  docs/ABLATION.md</a:t>
            </a:r>
            <a:endParaRPr lang="en-US" sz="1200" dirty="0"/>
          </a:p>
        </p:txBody>
      </p:sp>
      <p:sp>
        <p:nvSpPr>
          <p:cNvPr id="10" name="Text 7"/>
          <p:cNvSpPr txBox="1"/>
          <p:nvPr/>
        </p:nvSpPr>
        <p:spPr>
          <a:xfrm>
            <a:off x="7863840" y="4114800"/>
            <a:ext cx="3840480" cy="457200"/>
          </a:xfrm>
          <a:prstGeom prst="rect">
            <a:avLst/>
          </a:prstGeom>
          <a:noFill/>
          <a:ln/>
        </p:spPr>
        <p:txBody>
          <a:bodyPr wrap="square" lIns="0" tIns="0" rIns="0" bIns="0" rtlCol="0" anchor="ctr"/>
          <a:lstStyle/>
          <a:p>
            <a:pPr indent="0" marL="0">
              <a:buNone/>
            </a:pPr>
            <a:r>
              <a:rPr lang="en-US" sz="2400" b="1" dirty="0">
                <a:solidFill>
                  <a:srgbClr val="C4403F"/>
                </a:solidFill>
                <a:latin typeface="Courier New" pitchFamily="34" charset="0"/>
                <a:ea typeface="Courier New" pitchFamily="34" charset="-122"/>
                <a:cs typeface="Courier New"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Raven: network security for places with no security team</dc:title>
  <dc:subject>PptxGenJS Presentation</dc:subject>
  <dc:creator>Raven</dc:creator>
  <cp:lastModifiedBy>Raven</cp:lastModifiedBy>
  <cp:revision>1</cp:revision>
  <dcterms:created xsi:type="dcterms:W3CDTF">2026-10-24T23:55:42Z</dcterms:created>
  <dcterms:modified xsi:type="dcterms:W3CDTF">2026-10-24T23:55:42Z</dcterms:modified>
</cp:coreProperties>
</file>