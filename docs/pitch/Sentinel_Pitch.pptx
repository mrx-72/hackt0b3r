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promise: network security for places with no security team. Sentinel runs on the gateway Mac, spots port scans, password guessing, malware check-ins, DNS tunnelling and unusual traffic, explains each in plain English, keeps a permanent history, and can alert Slack, Discord or Telegram. The screenshot on the right is the real console during a live test on this 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schools, labs and small offices have the same exposure as a company but no analyst. Commercial tools assume a security operations team. The attacks themselves are quiet: a scan or a password-guessing run looks like background noise unless something is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Capture reads packets with tcpdump or from a pcap file. Features count what each device did over 10 seconds, 5 minutes and 1 hour. Detectors are readable rules plus two statistical models. Correlation joins alerts on the same device into an incident with an attack chain. Explain writes the words, from templates or an optional local LLM. Deliver puts it on the console, in the permanent history and, if enabled, on Slack, Discord or Telegram. The key safety point is the bar underneath: network text is sanitised before any LLM, alert or screen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detector looks for and the real evidence recorded in the live loopback test (numbers from demo.md and docs/ABLATION.md). The first four are rules with thresholds you can read and tune. The fifth, unusual behaviour, is statistical and says only 'unusual', never a named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screenshot, not a mock-up: the console during the live loopback test with all four attacks run. 1: the packet monitor, newest first, filterable; packets from a flagged device turn red for a minute. 2: topology around this host, with service ports as small boxes, so a scan shows up as ports lighting up. 3: the alert stack, every CRITICAL stays visible. 4: packets per second. It listens on 127.0.0.1 only, with a one-time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detection is written to a SQLite database in the user's folder, so it survives restarts. The History tab filters by severity, time and source, searches headline, address, technique or incident id, opens the full explanation and the numbers behind it, exports CSV, and deletes chosen entries (two clicks to confirm, each deletion recorded in an audit log). The same data is available in the terminal with 'sentinel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short window misses a patient attacker who probes slowly. Sentinel counts over 10 seconds, 5 minutes and 1 hour. The default scan thresholds are 20 distinct ports in 10 seconds, 15 in 5 minutes and 60 in an hour. Expressed as a probing rate, that is the chart: a scan must go faster than 120 probes a minute to trip the short clock, but the 5-minute clock catches 3 a minute and the 1-hour clock catches 1 a minute. In the live loopback test a fast scan was CRITICAL through the 10-second window and a scan of one probe per second was HIGH through the 5-minute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rule says a model ships enabled only if an ablation shows it adds something without raising false alarms on normal traffic. docs/ABLATION.md has the details; the data is synthetic. Left: a slow DNS tunnel with short names, 10 queries in 5 minutes, 20-character base32 labels. Only one rule signal fired, entropy 3.88, and two are needed, so the rules alone missed it. The n-gram model scores how pronounceable a name is. Ordinary names land at 2.5 to 3.5 bits per character, random ones at 5.4 and above; this tunnel scored 5.69, the second signal, so it was caught. Right: a 20-second bulk upload after 40 minutes of normal browsing. No rule covers volume. The Isolation Forest learned the network's normal, and bytes out was 263 times anything it had seen. Be upfront about limits: synthetic traffic, a small built-in word list, a 35-minute warm-up, and the real-network false-alarm rate is not yet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the live loopback test in demo.md: Sentinel captured lo0 on this Mac with only the 10-second window while the four attack scripts ran against 127.0.0.1. Bars show seconds from attack start to alert. The DNS tunnel was fastest, 1.7 s; the beacon needed about 12 s because it needs ten check-ins one second apart. The control, ordinary web browsing, raised nothing. Stability: port scan, brute force, DNS and the control were right in about 15 live runs each; the beacon missed 2 of 21 early attempts because the attack started before tcpdump was capturing, and after the driver waited for tcpdump it was 4 of 4. Real beacons check in every 30 to 300 seconds, so they need minutes, not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detector that cries wolf gets ignored, so every rule has a guard. DNS tunnelling needs two independent signals. A domain looked up by three or more devices is a shared service, not one machine's C2. A destination that many hosts contact is not a beacon. After an alert the same detector stays quiet for that device for five minutes. The Isolation Forest only alerts when a count or volume is more than double anything in its baseline; without that guard it raised false alarms on our benign test networks, which is why the guard exists. The result so far: 12 seeded benign networks of eight devices for 40 minutes raised nothing. Again: synthetic data, real-network rate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detector actually recorded: only numbers. Right is what the admin reads, taken from the real History detail in the screenshot: a headline, what happened, the likely cause and a suggested action. The text comes from fixed templates, so it is always available and always matches the evidence. If you run a local model, Ollama or llama.cpp, it rewrites the wording from the same sanitised fields. Its output is checked against the evidence: invented numbers, addresses or techniques cause the template to be used instead. The model can only pick an action from a fixed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 are opt-in and off by default. Slack and Discord use webhooks, Telegram a bot token and chat id; keys live in a private file, never in the config or logs. Policies stop alert fatigue: a severity floor, de-duplication, a per-channel rate limit, retries with back-off and a circuit breaker that pauses a failing channel. Messages carry only a sanitised summary: device, technique, score and advice, never packet data. Be honest about status: delivery is tested against fakes; sending to real Slack, Discord and Telegram is on the verification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One: strings from the network are hostile and go through one sanitiser. Two: the console is local only, with a token, a strict content-security policy and no way for network text to become markup; the test suite fails if code that builds HTML from strings is added. Three: Sentinel only observes and alerts; it never blocks or changes the network. Four: secrets are in a mode 600 file and never printed. Five: the demo attack scripts refuse any target except loopback. Also mention the delete and history paths are validated and audited, and that automated security review found and we fixed a symlink issue in the sudo file-ownership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sees what crosses the interface it captures, so it belongs on the gateway: a Mac sharing its connection, where clients appear on bridge100. On a normal laptop on Wi-Fi it only sees that laptop's own traffic. Be clear about the audience: small teams, schools and labs with no analyst, and people learning detection. It is not an enterprise product, not an intrusion prevention system, and does not read encrypted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blocks. Install uses uv, which fetches Python itself. The quick start needs no network at all: it builds a synthetic capture with one of each attack and replays it. 'Attack yourself' runs the four attacks against your own loopback while the console watches, so you can show the detection live. The demo config uses a 10-second window and keeps demo data out of your real history. Everything is in the README and USER_GUIDE.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call to action: try it in five minutes with no network. Offer to run the live attack demo now.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01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013"/>
        </a:solidFill>
      </p:bgPr>
    </p:bg>
    <p:spTree>
      <p:nvGrpSpPr>
        <p:cNvPr id="1" name=""/>
        <p:cNvGrpSpPr/>
        <p:nvPr/>
      </p:nvGrpSpPr>
      <p:grpSpPr>
        <a:xfrm>
          <a:off x="0" y="0"/>
          <a:ext cx="0" cy="0"/>
          <a:chOff x="0" y="0"/>
          <a:chExt cx="0" cy="0"/>
        </a:xfrm>
      </p:grpSpPr>
      <p:sp>
        <p:nvSpPr>
          <p:cNvPr id="2" name="Shape 0"/>
          <p:cNvSpPr/>
          <p:nvPr/>
        </p:nvSpPr>
        <p:spPr>
          <a:xfrm>
            <a:off x="0" y="6492240"/>
            <a:ext cx="12188952" cy="365760"/>
          </a:xfrm>
          <a:prstGeom prst="rect">
            <a:avLst/>
          </a:prstGeom>
          <a:solidFill>
            <a:srgbClr val="0A0C0F"/>
          </a:solidFill>
          <a:ln w="12700">
            <a:solidFill>
              <a:srgbClr val="0A0C0F"/>
            </a:solidFill>
            <a:prstDash val="solid"/>
          </a:ln>
        </p:spPr>
      </p:sp>
      <p:sp>
        <p:nvSpPr>
          <p:cNvPr id="3" name="Shape 1"/>
          <p:cNvSpPr/>
          <p:nvPr/>
        </p:nvSpPr>
        <p:spPr>
          <a:xfrm>
            <a:off x="548640" y="6556248"/>
            <a:ext cx="109728" cy="109728"/>
          </a:xfrm>
          <a:prstGeom prst="rect">
            <a:avLst/>
          </a:prstGeom>
          <a:solidFill>
            <a:srgbClr val="C4403F"/>
          </a:solidFill>
          <a:ln w="12700">
            <a:solidFill>
              <a:srgbClr val="C4403F"/>
            </a:solidFill>
            <a:prstDash val="solid"/>
          </a:ln>
        </p:spPr>
      </p:sp>
      <p:sp>
        <p:nvSpPr>
          <p:cNvPr id="4" name="Text 2"/>
          <p:cNvSpPr/>
          <p:nvPr/>
        </p:nvSpPr>
        <p:spPr>
          <a:xfrm>
            <a:off x="749808" y="6492240"/>
            <a:ext cx="2743200" cy="256032"/>
          </a:xfrm>
          <a:prstGeom prst="rect">
            <a:avLst/>
          </a:prstGeom>
          <a:noFill/>
          <a:ln/>
        </p:spPr>
        <p:txBody>
          <a:bodyPr wrap="square" lIns="0" tIns="0" rIns="0" bIns="0" rtlCol="0" anchor="ctr"/>
          <a:lstStyle/>
          <a:p>
            <a:pPr indent="0" marL="0">
              <a:buNone/>
            </a:pPr>
            <a:r>
              <a:rPr lang="en-US" sz="1000" b="1" spc="400" kern="0" dirty="0">
                <a:solidFill>
                  <a:srgbClr val="7B8794"/>
                </a:solidFill>
                <a:latin typeface="Courier New" pitchFamily="34" charset="0"/>
                <a:ea typeface="Courier New" pitchFamily="34" charset="-122"/>
                <a:cs typeface="Courier New" pitchFamily="34" charset="-120"/>
              </a:rPr>
              <a:t>SENTINEL</a:t>
            </a:r>
            <a:endParaRPr lang="en-US" sz="1000" dirty="0"/>
          </a:p>
        </p:txBody>
      </p:sp>
      <p:sp>
        <p:nvSpPr>
          <p:cNvPr id="5" name="Text 3"/>
          <p:cNvSpPr/>
          <p:nvPr>
            <p:ph idx="103" type="title" hasCustomPrompt="1"/>
          </p:nvPr>
        </p:nvSpPr>
        <p:spPr>
          <a:xfrm>
            <a:off x="548640" y="566928"/>
            <a:ext cx="11064240" cy="868680"/>
          </a:xfrm>
          <a:prstGeom prst="rect">
            <a:avLst/>
          </a:prstGeom>
          <a:noFill/>
          <a:ln/>
        </p:spPr>
        <p:txBody>
          <a:bodyPr wrap="square" rtlCol="0"/>
          <a:lstStyle>
            <a:lvl1pPr algn="l" indent="0" marL="0">
              <a:buNone/>
              <a:defRPr lang="en-US" sz="2800" b="1" dirty="0">
                <a:solidFill>
                  <a:srgbClr val="E6EAEE"/>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dge"/>
          <p:cNvSpPr/>
          <p:nvPr/>
        </p:nvSpPr>
        <p:spPr>
          <a:xfrm>
            <a:off x="0" y="0"/>
            <a:ext cx="164592" cy="6858000"/>
          </a:xfrm>
          <a:prstGeom prst="rect">
            <a:avLst/>
          </a:prstGeom>
          <a:solidFill>
            <a:srgbClr val="C4403F"/>
          </a:solidFill>
          <a:ln/>
        </p:spPr>
      </p:sp>
      <p:sp>
        <p:nvSpPr>
          <p:cNvPr id="4" name="Text 1"/>
          <p:cNvSpPr txBox="1"/>
          <p:nvPr/>
        </p:nvSpPr>
        <p:spPr>
          <a:xfrm>
            <a:off x="640080" y="1097280"/>
            <a:ext cx="5486400" cy="274320"/>
          </a:xfrm>
          <a:prstGeom prst="rect">
            <a:avLst/>
          </a:prstGeom>
          <a:noFill/>
          <a:ln/>
        </p:spPr>
        <p:txBody>
          <a:bodyPr wrap="square" lIns="0" tIns="0" rIns="0" bIns="0" rtlCol="0" anchor="ctr"/>
          <a:lstStyle/>
          <a:p>
            <a:pPr indent="0" marL="0">
              <a:buNone/>
            </a:pPr>
            <a:r>
              <a:rPr lang="en-US" sz="1200" b="1" spc="500" kern="0" dirty="0">
                <a:solidFill>
                  <a:srgbClr val="C4403F"/>
                </a:solidFill>
                <a:latin typeface="Courier New" pitchFamily="34" charset="0"/>
                <a:ea typeface="Courier New" pitchFamily="34" charset="-122"/>
                <a:cs typeface="Courier New" pitchFamily="34" charset="-120"/>
              </a:rPr>
              <a:t>NETWORK ANOMALY DETECTOR</a:t>
            </a:r>
            <a:endParaRPr lang="en-US" sz="1200" dirty="0"/>
          </a:p>
        </p:txBody>
      </p:sp>
      <p:sp>
        <p:nvSpPr>
          <p:cNvPr id="5" name="Text 2"/>
          <p:cNvSpPr txBox="1"/>
          <p:nvPr/>
        </p:nvSpPr>
        <p:spPr>
          <a:xfrm>
            <a:off x="640080" y="1463040"/>
            <a:ext cx="5486400" cy="1097280"/>
          </a:xfrm>
          <a:prstGeom prst="rect">
            <a:avLst/>
          </a:prstGeom>
          <a:noFill/>
          <a:ln/>
        </p:spPr>
        <p:txBody>
          <a:bodyPr wrap="square" lIns="0" tIns="0" rIns="0" bIns="0" rtlCol="0" anchor="ctr"/>
          <a:lstStyle/>
          <a:p>
            <a:pPr indent="0" marL="0">
              <a:buNone/>
            </a:pPr>
            <a:r>
              <a:rPr lang="en-US" sz="6600" b="1" dirty="0">
                <a:solidFill>
                  <a:srgbClr val="E6EAEE"/>
                </a:solidFill>
                <a:latin typeface="Calibri" pitchFamily="34" charset="0"/>
                <a:ea typeface="Calibri" pitchFamily="34" charset="-122"/>
                <a:cs typeface="Calibri" pitchFamily="34" charset="-120"/>
              </a:rPr>
              <a:t>Sentinel</a:t>
            </a:r>
            <a:endParaRPr lang="en-US" sz="6600" dirty="0"/>
          </a:p>
        </p:txBody>
      </p:sp>
      <p:sp>
        <p:nvSpPr>
          <p:cNvPr id="6" name="Text 3"/>
          <p:cNvSpPr txBox="1"/>
          <p:nvPr/>
        </p:nvSpPr>
        <p:spPr>
          <a:xfrm>
            <a:off x="640080" y="2651760"/>
            <a:ext cx="5120640" cy="1005840"/>
          </a:xfrm>
          <a:prstGeom prst="rect">
            <a:avLst/>
          </a:prstGeom>
          <a:noFill/>
          <a:ln/>
        </p:spPr>
        <p:txBody>
          <a:bodyPr wrap="square" lIns="0" tIns="0" rIns="0" bIns="0" rtlCol="0" anchor="ctr"/>
          <a:lstStyle/>
          <a:p>
            <a:pPr indent="0" marL="0">
              <a:buNone/>
            </a:pPr>
            <a:r>
              <a:rPr lang="en-US" sz="2400" dirty="0">
                <a:solidFill>
                  <a:srgbClr val="CBD2D9"/>
                </a:solidFill>
                <a:latin typeface="Calibri" pitchFamily="34" charset="0"/>
                <a:ea typeface="Calibri" pitchFamily="34" charset="-122"/>
                <a:cs typeface="Calibri" pitchFamily="34" charset="-120"/>
              </a:rPr>
              <a:t>Network security for places with no security team.</a:t>
            </a:r>
            <a:endParaRPr lang="en-US" sz="2400" dirty="0"/>
          </a:p>
        </p:txBody>
      </p:sp>
      <p:sp>
        <p:nvSpPr>
          <p:cNvPr id="7" name="rule"/>
          <p:cNvSpPr/>
          <p:nvPr/>
        </p:nvSpPr>
        <p:spPr>
          <a:xfrm>
            <a:off x="640080" y="4343400"/>
            <a:ext cx="1554480" cy="0"/>
          </a:xfrm>
          <a:prstGeom prst="line">
            <a:avLst/>
          </a:prstGeom>
          <a:noFill/>
          <a:ln w="12700">
            <a:solidFill>
              <a:srgbClr val="2F3943"/>
            </a:solidFill>
            <a:prstDash val="solid"/>
          </a:ln>
        </p:spPr>
      </p:sp>
      <p:sp>
        <p:nvSpPr>
          <p:cNvPr id="8" name="Text 5"/>
          <p:cNvSpPr txBox="1"/>
          <p:nvPr/>
        </p:nvSpPr>
        <p:spPr>
          <a:xfrm>
            <a:off x="64008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5</a:t>
            </a:r>
            <a:endParaRPr lang="en-US" sz="2800" dirty="0"/>
          </a:p>
        </p:txBody>
      </p:sp>
      <p:sp>
        <p:nvSpPr>
          <p:cNvPr id="9" name="Text 6"/>
          <p:cNvSpPr txBox="1"/>
          <p:nvPr/>
        </p:nvSpPr>
        <p:spPr>
          <a:xfrm>
            <a:off x="64008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detectors, rules and</a:t>
            </a:r>
            <a:endParaRPr lang="en-US" sz="1200" dirty="0"/>
          </a:p>
          <a:p>
            <a:pPr indent="0" marL="0">
              <a:buNone/>
            </a:pPr>
            <a:r>
              <a:rPr lang="en-US" sz="1200" dirty="0">
                <a:solidFill>
                  <a:srgbClr val="7B8794"/>
                </a:solidFill>
                <a:latin typeface="Calibri" pitchFamily="34" charset="0"/>
                <a:ea typeface="Calibri" pitchFamily="34" charset="-122"/>
                <a:cs typeface="Calibri" pitchFamily="34" charset="-120"/>
              </a:rPr>
              <a:t>statistical</a:t>
            </a:r>
            <a:endParaRPr lang="en-US" sz="1200" dirty="0"/>
          </a:p>
        </p:txBody>
      </p:sp>
      <p:sp>
        <p:nvSpPr>
          <p:cNvPr id="10" name="rule"/>
          <p:cNvSpPr/>
          <p:nvPr/>
        </p:nvSpPr>
        <p:spPr>
          <a:xfrm>
            <a:off x="2423160" y="4343400"/>
            <a:ext cx="1554480" cy="0"/>
          </a:xfrm>
          <a:prstGeom prst="line">
            <a:avLst/>
          </a:prstGeom>
          <a:noFill/>
          <a:ln w="12700">
            <a:solidFill>
              <a:srgbClr val="2F3943"/>
            </a:solidFill>
            <a:prstDash val="solid"/>
          </a:ln>
        </p:spPr>
      </p:sp>
      <p:sp>
        <p:nvSpPr>
          <p:cNvPr id="11" name="Text 8"/>
          <p:cNvSpPr txBox="1"/>
          <p:nvPr/>
        </p:nvSpPr>
        <p:spPr>
          <a:xfrm>
            <a:off x="242316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392</a:t>
            </a:r>
            <a:endParaRPr lang="en-US" sz="2800" dirty="0"/>
          </a:p>
        </p:txBody>
      </p:sp>
      <p:sp>
        <p:nvSpPr>
          <p:cNvPr id="12" name="Text 9"/>
          <p:cNvSpPr txBox="1"/>
          <p:nvPr/>
        </p:nvSpPr>
        <p:spPr>
          <a:xfrm>
            <a:off x="242316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automated tests</a:t>
            </a:r>
            <a:endParaRPr lang="en-US" sz="1200" dirty="0"/>
          </a:p>
        </p:txBody>
      </p:sp>
      <p:sp>
        <p:nvSpPr>
          <p:cNvPr id="13" name="rule"/>
          <p:cNvSpPr/>
          <p:nvPr/>
        </p:nvSpPr>
        <p:spPr>
          <a:xfrm>
            <a:off x="4206240" y="4343400"/>
            <a:ext cx="1554480" cy="0"/>
          </a:xfrm>
          <a:prstGeom prst="line">
            <a:avLst/>
          </a:prstGeom>
          <a:noFill/>
          <a:ln w="12700">
            <a:solidFill>
              <a:srgbClr val="2F3943"/>
            </a:solidFill>
            <a:prstDash val="solid"/>
          </a:ln>
        </p:spPr>
      </p:sp>
      <p:sp>
        <p:nvSpPr>
          <p:cNvPr id="14" name="Text 11"/>
          <p:cNvSpPr txBox="1"/>
          <p:nvPr/>
        </p:nvSpPr>
        <p:spPr>
          <a:xfrm>
            <a:off x="420624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4 / 4</a:t>
            </a:r>
            <a:endParaRPr lang="en-US" sz="2800" dirty="0"/>
          </a:p>
        </p:txBody>
      </p:sp>
      <p:sp>
        <p:nvSpPr>
          <p:cNvPr id="15" name="Text 12"/>
          <p:cNvSpPr txBox="1"/>
          <p:nvPr/>
        </p:nvSpPr>
        <p:spPr>
          <a:xfrm>
            <a:off x="420624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live attacks caught</a:t>
            </a:r>
            <a:endParaRPr lang="en-US" sz="1200" dirty="0"/>
          </a:p>
          <a:p>
            <a:pPr indent="0" marL="0">
              <a:buNone/>
            </a:pPr>
            <a:r>
              <a:rPr lang="en-US" sz="1200" dirty="0">
                <a:solidFill>
                  <a:srgbClr val="7B8794"/>
                </a:solidFill>
                <a:latin typeface="Calibri" pitchFamily="34" charset="0"/>
                <a:ea typeface="Calibri" pitchFamily="34" charset="-122"/>
                <a:cs typeface="Calibri" pitchFamily="34" charset="-120"/>
              </a:rPr>
              <a:t>on loopback</a:t>
            </a:r>
            <a:endParaRPr lang="en-US" sz="1200" dirty="0"/>
          </a:p>
        </p:txBody>
      </p:sp>
      <p:sp>
        <p:nvSpPr>
          <p:cNvPr id="16" name="Text 13"/>
          <p:cNvSpPr txBox="1"/>
          <p:nvPr/>
        </p:nvSpPr>
        <p:spPr>
          <a:xfrm>
            <a:off x="640080" y="6035040"/>
            <a:ext cx="5486400" cy="274320"/>
          </a:xfrm>
          <a:prstGeom prst="rect">
            <a:avLst/>
          </a:prstGeom>
          <a:noFill/>
          <a:ln/>
        </p:spPr>
        <p:txBody>
          <a:bodyPr wrap="square" lIns="0" tIns="0" rIns="0" bIns="0" rtlCol="0" anchor="ctr"/>
          <a:lstStyle/>
          <a:p>
            <a:pPr indent="0" marL="0">
              <a:buNone/>
            </a:pPr>
            <a:r>
              <a:rPr lang="en-US" sz="1200" dirty="0">
                <a:solidFill>
                  <a:srgbClr val="7B8794"/>
                </a:solidFill>
                <a:latin typeface="Courier New" pitchFamily="34" charset="0"/>
                <a:ea typeface="Courier New" pitchFamily="34" charset="-122"/>
                <a:cs typeface="Courier New" pitchFamily="34" charset="-120"/>
              </a:rPr>
              <a:t>Runs on one Mac. No cloud. No account.</a:t>
            </a:r>
            <a:endParaRPr lang="en-US" sz="1200" dirty="0"/>
          </a:p>
        </p:txBody>
      </p:sp>
      <p:sp>
        <p:nvSpPr>
          <p:cNvPr id="17" name="frame"/>
          <p:cNvSpPr/>
          <p:nvPr/>
        </p:nvSpPr>
        <p:spPr>
          <a:xfrm>
            <a:off x="5897880" y="1591056"/>
            <a:ext cx="6144768" cy="3504438"/>
          </a:xfrm>
          <a:prstGeom prst="rect">
            <a:avLst/>
          </a:prstGeom>
          <a:solidFill>
            <a:srgbClr val="12161A"/>
          </a:solidFill>
          <a:ln w="12700">
            <a:solidFill>
              <a:srgbClr val="2F3943"/>
            </a:solidFill>
            <a:prstDash val="solid"/>
          </a:ln>
        </p:spPr>
      </p:sp>
      <p:pic>
        <p:nvPicPr>
          <p:cNvPr id="18" name="Image 0" descr="Sentinel web console during a live port scan, brute force, beacon and DNS tunnel test: packet monitor, topology and four CRITICAL alerts">    </p:cNvPr>
          <p:cNvPicPr>
            <a:picLocks noChangeAspect="1"/>
          </p:cNvPicPr>
          <p:nvPr/>
        </p:nvPicPr>
        <p:blipFill>
          <a:blip r:embed="rId1"/>
          <a:stretch>
            <a:fillRect/>
          </a:stretch>
        </p:blipFill>
        <p:spPr>
          <a:xfrm>
            <a:off x="5952744" y="1645920"/>
            <a:ext cx="6035040" cy="3394710"/>
          </a:xfrm>
          <a:prstGeom prst="rect">
            <a:avLst/>
          </a:prstGeom>
        </p:spPr>
      </p:pic>
      <p:sp>
        <p:nvSpPr>
          <p:cNvPr id="19" name="Text 15"/>
          <p:cNvSpPr txBox="1"/>
          <p:nvPr/>
        </p:nvSpPr>
        <p:spPr>
          <a:xfrm>
            <a:off x="5952744" y="5223510"/>
            <a:ext cx="6035040" cy="228600"/>
          </a:xfrm>
          <a:prstGeom prst="rect">
            <a:avLst/>
          </a:prstGeom>
          <a:noFill/>
          <a:ln/>
        </p:spPr>
        <p:txBody>
          <a:bodyPr wrap="square" lIns="0" tIns="0" rIns="0" bIns="0" rtlCol="0" anchor="ctr"/>
          <a:lstStyle/>
          <a:p>
            <a:pPr indent="0" marL="0">
              <a:buNone/>
            </a:pPr>
            <a:r>
              <a:rPr lang="en-US" sz="900" spc="200" kern="0" dirty="0">
                <a:solidFill>
                  <a:srgbClr val="4D5762"/>
                </a:solidFill>
                <a:latin typeface="Courier New" pitchFamily="34" charset="0"/>
                <a:ea typeface="Courier New" pitchFamily="34" charset="-122"/>
                <a:cs typeface="Courier New" pitchFamily="34" charset="-120"/>
              </a:rPr>
              <a:t>REAL SCREENSHOT: LIVE TEST ON LOOPBACK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Small networks are attacked like big ones. Nobody is watching.</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01  /  THE PROBLEM</a:t>
            </a:r>
            <a:endParaRPr lang="en-US" sz="1100" dirty="0"/>
          </a:p>
        </p:txBody>
      </p:sp>
      <p:sp>
        <p:nvSpPr>
          <p:cNvPr id="5" name="card"/>
          <p:cNvSpPr/>
          <p:nvPr/>
        </p:nvSpPr>
        <p:spPr>
          <a:xfrm>
            <a:off x="548640" y="1783080"/>
            <a:ext cx="3520440" cy="3017520"/>
          </a:xfrm>
          <a:prstGeom prst="rect">
            <a:avLst/>
          </a:prstGeom>
          <a:solidFill>
            <a:srgbClr val="12161A"/>
          </a:solidFill>
          <a:ln w="12700">
            <a:solidFill>
              <a:srgbClr val="232A31"/>
            </a:solidFill>
            <a:prstDash val="solid"/>
          </a:ln>
        </p:spPr>
      </p:sp>
      <p:sp>
        <p:nvSpPr>
          <p:cNvPr id="6" name="icon-box"/>
          <p:cNvSpPr/>
          <p:nvPr/>
        </p:nvSpPr>
        <p:spPr>
          <a:xfrm>
            <a:off x="822960" y="2057400"/>
            <a:ext cx="640080" cy="640080"/>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995782" y="2230222"/>
            <a:ext cx="294437" cy="294437"/>
          </a:xfrm>
          <a:prstGeom prst="rect">
            <a:avLst/>
          </a:prstGeom>
        </p:spPr>
      </p:pic>
      <p:sp>
        <p:nvSpPr>
          <p:cNvPr id="8" name="Text 4"/>
          <p:cNvSpPr txBox="1"/>
          <p:nvPr/>
        </p:nvSpPr>
        <p:spPr>
          <a:xfrm>
            <a:off x="82296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No security staff</a:t>
            </a:r>
            <a:endParaRPr lang="en-US" sz="2100" dirty="0"/>
          </a:p>
        </p:txBody>
      </p:sp>
      <p:sp>
        <p:nvSpPr>
          <p:cNvPr id="9" name="Text 5"/>
          <p:cNvSpPr txBox="1"/>
          <p:nvPr/>
        </p:nvSpPr>
        <p:spPr>
          <a:xfrm>
            <a:off x="82296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The admin is also the help desk. Nobody reads logs, and alerts nobody understands get ignored.</a:t>
            </a:r>
            <a:endParaRPr lang="en-US" sz="1500" dirty="0"/>
          </a:p>
        </p:txBody>
      </p:sp>
      <p:sp>
        <p:nvSpPr>
          <p:cNvPr id="10" name="card"/>
          <p:cNvSpPr/>
          <p:nvPr/>
        </p:nvSpPr>
        <p:spPr>
          <a:xfrm>
            <a:off x="4297680" y="1783080"/>
            <a:ext cx="3520440" cy="3017520"/>
          </a:xfrm>
          <a:prstGeom prst="rect">
            <a:avLst/>
          </a:prstGeom>
          <a:solidFill>
            <a:srgbClr val="12161A"/>
          </a:solidFill>
          <a:ln w="12700">
            <a:solidFill>
              <a:srgbClr val="232A31"/>
            </a:solidFill>
            <a:prstDash val="solid"/>
          </a:ln>
        </p:spPr>
      </p:sp>
      <p:sp>
        <p:nvSpPr>
          <p:cNvPr id="11" name="icon-box"/>
          <p:cNvSpPr/>
          <p:nvPr/>
        </p:nvSpPr>
        <p:spPr>
          <a:xfrm>
            <a:off x="4572000" y="2057400"/>
            <a:ext cx="640080" cy="640080"/>
          </a:xfrm>
          <a:prstGeom prst="rect">
            <a:avLst/>
          </a:prstGeom>
          <a:solidFill>
            <a:srgbClr val="181D22"/>
          </a:solidFill>
          <a:ln w="12700">
            <a:solidFill>
              <a:srgbClr val="2F3943"/>
            </a:solidFill>
            <a:prstDash val="solid"/>
          </a:ln>
        </p:spPr>
      </p:sp>
      <p:pic>
        <p:nvPicPr>
          <p:cNvPr id="12" name="Image 1" descr="icon">    </p:cNvPr>
          <p:cNvPicPr>
            <a:picLocks noChangeAspect="1"/>
          </p:cNvPicPr>
          <p:nvPr/>
        </p:nvPicPr>
        <p:blipFill>
          <a:blip r:embed="rId2"/>
          <a:stretch>
            <a:fillRect/>
          </a:stretch>
        </p:blipFill>
        <p:spPr>
          <a:xfrm>
            <a:off x="4744822" y="2230222"/>
            <a:ext cx="294437" cy="294437"/>
          </a:xfrm>
          <a:prstGeom prst="rect">
            <a:avLst/>
          </a:prstGeom>
        </p:spPr>
      </p:pic>
      <p:sp>
        <p:nvSpPr>
          <p:cNvPr id="13" name="Text 8"/>
          <p:cNvSpPr txBox="1"/>
          <p:nvPr/>
        </p:nvSpPr>
        <p:spPr>
          <a:xfrm>
            <a:off x="457200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Tools built for a SOC</a:t>
            </a:r>
            <a:endParaRPr lang="en-US" sz="2100" dirty="0"/>
          </a:p>
        </p:txBody>
      </p:sp>
      <p:sp>
        <p:nvSpPr>
          <p:cNvPr id="14" name="Text 9"/>
          <p:cNvSpPr txBox="1"/>
          <p:nvPr/>
        </p:nvSpPr>
        <p:spPr>
          <a:xfrm>
            <a:off x="457200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Enterprise products assume analysts, a SIEM and a budget. Small teams cannot run or afford them.</a:t>
            </a:r>
            <a:endParaRPr lang="en-US" sz="1500" dirty="0"/>
          </a:p>
        </p:txBody>
      </p:sp>
      <p:sp>
        <p:nvSpPr>
          <p:cNvPr id="15" name="card"/>
          <p:cNvSpPr/>
          <p:nvPr/>
        </p:nvSpPr>
        <p:spPr>
          <a:xfrm>
            <a:off x="8046720" y="1783080"/>
            <a:ext cx="3520440" cy="3017520"/>
          </a:xfrm>
          <a:prstGeom prst="rect">
            <a:avLst/>
          </a:prstGeom>
          <a:solidFill>
            <a:srgbClr val="12161A"/>
          </a:solidFill>
          <a:ln w="12700">
            <a:solidFill>
              <a:srgbClr val="232A31"/>
            </a:solidFill>
            <a:prstDash val="solid"/>
          </a:ln>
        </p:spPr>
      </p:sp>
      <p:sp>
        <p:nvSpPr>
          <p:cNvPr id="16" name="icon-box"/>
          <p:cNvSpPr/>
          <p:nvPr/>
        </p:nvSpPr>
        <p:spPr>
          <a:xfrm>
            <a:off x="8321040" y="2057400"/>
            <a:ext cx="640080" cy="640080"/>
          </a:xfrm>
          <a:prstGeom prst="rect">
            <a:avLst/>
          </a:prstGeom>
          <a:solidFill>
            <a:srgbClr val="181D22"/>
          </a:solidFill>
          <a:ln w="12700">
            <a:solidFill>
              <a:srgbClr val="2F3943"/>
            </a:solidFill>
            <a:prstDash val="solid"/>
          </a:ln>
        </p:spPr>
      </p:sp>
      <p:pic>
        <p:nvPicPr>
          <p:cNvPr id="17" name="Image 2" descr="icon">    </p:cNvPr>
          <p:cNvPicPr>
            <a:picLocks noChangeAspect="1"/>
          </p:cNvPicPr>
          <p:nvPr/>
        </p:nvPicPr>
        <p:blipFill>
          <a:blip r:embed="rId3"/>
          <a:stretch>
            <a:fillRect/>
          </a:stretch>
        </p:blipFill>
        <p:spPr>
          <a:xfrm>
            <a:off x="8493862" y="2230222"/>
            <a:ext cx="294437" cy="294437"/>
          </a:xfrm>
          <a:prstGeom prst="rect">
            <a:avLst/>
          </a:prstGeom>
        </p:spPr>
      </p:pic>
      <p:sp>
        <p:nvSpPr>
          <p:cNvPr id="18" name="Text 12"/>
          <p:cNvSpPr txBox="1"/>
          <p:nvPr/>
        </p:nvSpPr>
        <p:spPr>
          <a:xfrm>
            <a:off x="832104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Attacks hide in the noise</a:t>
            </a:r>
            <a:endParaRPr lang="en-US" sz="2100" dirty="0"/>
          </a:p>
        </p:txBody>
      </p:sp>
      <p:sp>
        <p:nvSpPr>
          <p:cNvPr id="19" name="Text 13"/>
          <p:cNvSpPr txBox="1"/>
          <p:nvPr/>
        </p:nvSpPr>
        <p:spPr>
          <a:xfrm>
            <a:off x="832104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A port scan, password guessing, a malware check-in: each is ordinary traffic until something counts it.</a:t>
            </a:r>
            <a:endParaRPr lang="en-US" sz="1500" dirty="0"/>
          </a:p>
        </p:txBody>
      </p:sp>
      <p:sp>
        <p:nvSpPr>
          <p:cNvPr id="20" name="callout"/>
          <p:cNvSpPr/>
          <p:nvPr/>
        </p:nvSpPr>
        <p:spPr>
          <a:xfrm>
            <a:off x="548640" y="5120640"/>
            <a:ext cx="11109960" cy="914400"/>
          </a:xfrm>
          <a:prstGeom prst="rect">
            <a:avLst/>
          </a:prstGeom>
          <a:solidFill>
            <a:srgbClr val="181D22"/>
          </a:solidFill>
          <a:ln w="12700">
            <a:solidFill>
              <a:srgbClr val="2F3943"/>
            </a:solidFill>
            <a:prstDash val="solid"/>
          </a:ln>
        </p:spPr>
      </p:sp>
      <p:sp>
        <p:nvSpPr>
          <p:cNvPr id="21" name="callout-edge"/>
          <p:cNvSpPr/>
          <p:nvPr/>
        </p:nvSpPr>
        <p:spPr>
          <a:xfrm>
            <a:off x="548640" y="5120640"/>
            <a:ext cx="73152" cy="914400"/>
          </a:xfrm>
          <a:prstGeom prst="rect">
            <a:avLst/>
          </a:prstGeom>
          <a:solidFill>
            <a:srgbClr val="C4403F"/>
          </a:solidFill>
          <a:ln/>
        </p:spPr>
      </p:sp>
      <p:sp>
        <p:nvSpPr>
          <p:cNvPr id="22" name="Text 16"/>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Sentinel: </a:t>
            </a:r>
            <a:pPr indent="0" marL="0">
              <a:buNone/>
            </a:pPr>
            <a:r>
              <a:rPr lang="en-US" sz="1900" dirty="0">
                <a:solidFill>
                  <a:srgbClr val="CBD2D9"/>
                </a:solidFill>
                <a:latin typeface="Calibri" pitchFamily="34" charset="0"/>
                <a:ea typeface="Calibri" pitchFamily="34" charset="-122"/>
                <a:cs typeface="Calibri" pitchFamily="34" charset="-120"/>
              </a:rPr>
              <a:t>one Mac on the gateway watches the traffic, spots the pattern, and tells the admin in plain English what to look at.</a:t>
            </a:r>
            <a:endParaRPr lang="en-US" sz="19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From packets to a plain-English alert in six steps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02  /  HOW IT WORKS</a:t>
            </a:r>
            <a:endParaRPr lang="en-US" sz="1100" dirty="0"/>
          </a:p>
        </p:txBody>
      </p:sp>
      <p:sp>
        <p:nvSpPr>
          <p:cNvPr id="5" name="step"/>
          <p:cNvSpPr/>
          <p:nvPr/>
        </p:nvSpPr>
        <p:spPr>
          <a:xfrm>
            <a:off x="548640" y="1828800"/>
            <a:ext cx="1627632" cy="2103120"/>
          </a:xfrm>
          <a:prstGeom prst="rect">
            <a:avLst/>
          </a:prstGeom>
          <a:solidFill>
            <a:srgbClr val="12161A"/>
          </a:solidFill>
          <a:ln w="12700">
            <a:solidFill>
              <a:srgbClr val="232A31"/>
            </a:solidFill>
            <a:prstDash val="solid"/>
          </a:ln>
        </p:spPr>
      </p:sp>
      <p:sp>
        <p:nvSpPr>
          <p:cNvPr id="6" name="icon-box"/>
          <p:cNvSpPr/>
          <p:nvPr/>
        </p:nvSpPr>
        <p:spPr>
          <a:xfrm>
            <a:off x="731520" y="2011680"/>
            <a:ext cx="566928" cy="566928"/>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884591" y="2164751"/>
            <a:ext cx="260787" cy="260787"/>
          </a:xfrm>
          <a:prstGeom prst="rect">
            <a:avLst/>
          </a:prstGeom>
        </p:spPr>
      </p:pic>
      <p:sp>
        <p:nvSpPr>
          <p:cNvPr id="8" name="Text 4"/>
          <p:cNvSpPr txBox="1"/>
          <p:nvPr/>
        </p:nvSpPr>
        <p:spPr>
          <a:xfrm>
            <a:off x="1719072"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1</a:t>
            </a:r>
            <a:endParaRPr lang="en-US" sz="1400" dirty="0"/>
          </a:p>
        </p:txBody>
      </p:sp>
      <p:sp>
        <p:nvSpPr>
          <p:cNvPr id="9" name="Text 5"/>
          <p:cNvSpPr txBox="1"/>
          <p:nvPr/>
        </p:nvSpPr>
        <p:spPr>
          <a:xfrm>
            <a:off x="731520"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Capture</a:t>
            </a:r>
            <a:endParaRPr lang="en-US" sz="1800" dirty="0"/>
          </a:p>
        </p:txBody>
      </p:sp>
      <p:sp>
        <p:nvSpPr>
          <p:cNvPr id="10" name="Text 6"/>
          <p:cNvSpPr txBox="1"/>
          <p:nvPr/>
        </p:nvSpPr>
        <p:spPr>
          <a:xfrm>
            <a:off x="731520"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tcpdump live,</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or any .pcap</a:t>
            </a:r>
            <a:endParaRPr lang="en-US" sz="1250" dirty="0"/>
          </a:p>
        </p:txBody>
      </p:sp>
      <p:sp>
        <p:nvSpPr>
          <p:cNvPr id="11" name="arrow"/>
          <p:cNvSpPr/>
          <p:nvPr/>
        </p:nvSpPr>
        <p:spPr>
          <a:xfrm>
            <a:off x="2203704" y="2990088"/>
            <a:ext cx="213970" cy="0"/>
          </a:xfrm>
          <a:prstGeom prst="line">
            <a:avLst/>
          </a:prstGeom>
          <a:noFill/>
          <a:ln w="25400">
            <a:solidFill>
              <a:srgbClr val="4D5762"/>
            </a:solidFill>
            <a:prstDash val="solid"/>
            <a:tailEnd type="triangle"/>
          </a:ln>
        </p:spPr>
      </p:sp>
      <p:sp>
        <p:nvSpPr>
          <p:cNvPr id="12" name="step"/>
          <p:cNvSpPr/>
          <p:nvPr/>
        </p:nvSpPr>
        <p:spPr>
          <a:xfrm>
            <a:off x="2445106" y="1828800"/>
            <a:ext cx="1627632" cy="2103120"/>
          </a:xfrm>
          <a:prstGeom prst="rect">
            <a:avLst/>
          </a:prstGeom>
          <a:solidFill>
            <a:srgbClr val="12161A"/>
          </a:solidFill>
          <a:ln w="12700">
            <a:solidFill>
              <a:srgbClr val="232A31"/>
            </a:solidFill>
            <a:prstDash val="solid"/>
          </a:ln>
        </p:spPr>
      </p:sp>
      <p:sp>
        <p:nvSpPr>
          <p:cNvPr id="13" name="icon-box"/>
          <p:cNvSpPr/>
          <p:nvPr/>
        </p:nvSpPr>
        <p:spPr>
          <a:xfrm>
            <a:off x="2627986" y="2011680"/>
            <a:ext cx="566928" cy="566928"/>
          </a:xfrm>
          <a:prstGeom prst="rect">
            <a:avLst/>
          </a:prstGeom>
          <a:solidFill>
            <a:srgbClr val="181D22"/>
          </a:solidFill>
          <a:ln w="12700">
            <a:solidFill>
              <a:srgbClr val="2F3943"/>
            </a:solidFill>
            <a:prstDash val="solid"/>
          </a:ln>
        </p:spPr>
      </p:sp>
      <p:pic>
        <p:nvPicPr>
          <p:cNvPr id="14" name="Image 1" descr="icon">    </p:cNvPr>
          <p:cNvPicPr>
            <a:picLocks noChangeAspect="1"/>
          </p:cNvPicPr>
          <p:nvPr/>
        </p:nvPicPr>
        <p:blipFill>
          <a:blip r:embed="rId2"/>
          <a:stretch>
            <a:fillRect/>
          </a:stretch>
        </p:blipFill>
        <p:spPr>
          <a:xfrm>
            <a:off x="2781056" y="2164751"/>
            <a:ext cx="260787" cy="260787"/>
          </a:xfrm>
          <a:prstGeom prst="rect">
            <a:avLst/>
          </a:prstGeom>
        </p:spPr>
      </p:pic>
      <p:sp>
        <p:nvSpPr>
          <p:cNvPr id="15" name="Text 10"/>
          <p:cNvSpPr txBox="1"/>
          <p:nvPr/>
        </p:nvSpPr>
        <p:spPr>
          <a:xfrm>
            <a:off x="3615538"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2</a:t>
            </a:r>
            <a:endParaRPr lang="en-US" sz="1400" dirty="0"/>
          </a:p>
        </p:txBody>
      </p:sp>
      <p:sp>
        <p:nvSpPr>
          <p:cNvPr id="16" name="Text 11"/>
          <p:cNvSpPr txBox="1"/>
          <p:nvPr/>
        </p:nvSpPr>
        <p:spPr>
          <a:xfrm>
            <a:off x="2627986"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Count</a:t>
            </a:r>
            <a:endParaRPr lang="en-US" sz="1800" dirty="0"/>
          </a:p>
        </p:txBody>
      </p:sp>
      <p:sp>
        <p:nvSpPr>
          <p:cNvPr id="17" name="Text 12"/>
          <p:cNvSpPr txBox="1"/>
          <p:nvPr/>
        </p:nvSpPr>
        <p:spPr>
          <a:xfrm>
            <a:off x="2627986"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per device over</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10 s, 5 min, 1 h</a:t>
            </a:r>
            <a:endParaRPr lang="en-US" sz="1250" dirty="0"/>
          </a:p>
        </p:txBody>
      </p:sp>
      <p:sp>
        <p:nvSpPr>
          <p:cNvPr id="18" name="arrow"/>
          <p:cNvSpPr/>
          <p:nvPr/>
        </p:nvSpPr>
        <p:spPr>
          <a:xfrm>
            <a:off x="4100170" y="2990088"/>
            <a:ext cx="213970" cy="0"/>
          </a:xfrm>
          <a:prstGeom prst="line">
            <a:avLst/>
          </a:prstGeom>
          <a:noFill/>
          <a:ln w="25400">
            <a:solidFill>
              <a:srgbClr val="4D5762"/>
            </a:solidFill>
            <a:prstDash val="solid"/>
            <a:tailEnd type="triangle"/>
          </a:ln>
        </p:spPr>
      </p:sp>
      <p:sp>
        <p:nvSpPr>
          <p:cNvPr id="19" name="step"/>
          <p:cNvSpPr/>
          <p:nvPr/>
        </p:nvSpPr>
        <p:spPr>
          <a:xfrm>
            <a:off x="4341571" y="1828800"/>
            <a:ext cx="1627632" cy="2103120"/>
          </a:xfrm>
          <a:prstGeom prst="rect">
            <a:avLst/>
          </a:prstGeom>
          <a:solidFill>
            <a:srgbClr val="12161A"/>
          </a:solidFill>
          <a:ln w="12700">
            <a:solidFill>
              <a:srgbClr val="232A31"/>
            </a:solidFill>
            <a:prstDash val="solid"/>
          </a:ln>
        </p:spPr>
      </p:sp>
      <p:sp>
        <p:nvSpPr>
          <p:cNvPr id="20" name="icon-box"/>
          <p:cNvSpPr/>
          <p:nvPr/>
        </p:nvSpPr>
        <p:spPr>
          <a:xfrm>
            <a:off x="4524451" y="2011680"/>
            <a:ext cx="566928" cy="566928"/>
          </a:xfrm>
          <a:prstGeom prst="rect">
            <a:avLst/>
          </a:prstGeom>
          <a:solidFill>
            <a:srgbClr val="181D22"/>
          </a:solidFill>
          <a:ln w="12700">
            <a:solidFill>
              <a:srgbClr val="2F3943"/>
            </a:solidFill>
            <a:prstDash val="solid"/>
          </a:ln>
        </p:spPr>
      </p:sp>
      <p:pic>
        <p:nvPicPr>
          <p:cNvPr id="21" name="Image 2" descr="icon">    </p:cNvPr>
          <p:cNvPicPr>
            <a:picLocks noChangeAspect="1"/>
          </p:cNvPicPr>
          <p:nvPr/>
        </p:nvPicPr>
        <p:blipFill>
          <a:blip r:embed="rId3"/>
          <a:stretch>
            <a:fillRect/>
          </a:stretch>
        </p:blipFill>
        <p:spPr>
          <a:xfrm>
            <a:off x="4677522" y="2164751"/>
            <a:ext cx="260787" cy="260787"/>
          </a:xfrm>
          <a:prstGeom prst="rect">
            <a:avLst/>
          </a:prstGeom>
        </p:spPr>
      </p:pic>
      <p:sp>
        <p:nvSpPr>
          <p:cNvPr id="22" name="Text 16"/>
          <p:cNvSpPr txBox="1"/>
          <p:nvPr/>
        </p:nvSpPr>
        <p:spPr>
          <a:xfrm>
            <a:off x="5512003"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3</a:t>
            </a:r>
            <a:endParaRPr lang="en-US" sz="1400" dirty="0"/>
          </a:p>
        </p:txBody>
      </p:sp>
      <p:sp>
        <p:nvSpPr>
          <p:cNvPr id="23" name="Text 17"/>
          <p:cNvSpPr txBox="1"/>
          <p:nvPr/>
        </p:nvSpPr>
        <p:spPr>
          <a:xfrm>
            <a:off x="4524451"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Detect</a:t>
            </a:r>
            <a:endParaRPr lang="en-US" sz="1800" dirty="0"/>
          </a:p>
        </p:txBody>
      </p:sp>
      <p:sp>
        <p:nvSpPr>
          <p:cNvPr id="24" name="Text 18"/>
          <p:cNvSpPr txBox="1"/>
          <p:nvPr/>
        </p:nvSpPr>
        <p:spPr>
          <a:xfrm>
            <a:off x="4524451"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5 detectors:</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rules + 2 models</a:t>
            </a:r>
            <a:endParaRPr lang="en-US" sz="1250" dirty="0"/>
          </a:p>
        </p:txBody>
      </p:sp>
      <p:sp>
        <p:nvSpPr>
          <p:cNvPr id="25" name="arrow"/>
          <p:cNvSpPr/>
          <p:nvPr/>
        </p:nvSpPr>
        <p:spPr>
          <a:xfrm>
            <a:off x="5996635" y="2990088"/>
            <a:ext cx="213970" cy="0"/>
          </a:xfrm>
          <a:prstGeom prst="line">
            <a:avLst/>
          </a:prstGeom>
          <a:noFill/>
          <a:ln w="25400">
            <a:solidFill>
              <a:srgbClr val="4D5762"/>
            </a:solidFill>
            <a:prstDash val="solid"/>
            <a:tailEnd type="triangle"/>
          </a:ln>
        </p:spPr>
      </p:sp>
      <p:sp>
        <p:nvSpPr>
          <p:cNvPr id="26" name="step"/>
          <p:cNvSpPr/>
          <p:nvPr/>
        </p:nvSpPr>
        <p:spPr>
          <a:xfrm>
            <a:off x="6238037" y="1828800"/>
            <a:ext cx="1627632" cy="2103120"/>
          </a:xfrm>
          <a:prstGeom prst="rect">
            <a:avLst/>
          </a:prstGeom>
          <a:solidFill>
            <a:srgbClr val="12161A"/>
          </a:solidFill>
          <a:ln w="12700">
            <a:solidFill>
              <a:srgbClr val="232A31"/>
            </a:solidFill>
            <a:prstDash val="solid"/>
          </a:ln>
        </p:spPr>
      </p:sp>
      <p:sp>
        <p:nvSpPr>
          <p:cNvPr id="27" name="icon-box"/>
          <p:cNvSpPr/>
          <p:nvPr/>
        </p:nvSpPr>
        <p:spPr>
          <a:xfrm>
            <a:off x="6420917" y="2011680"/>
            <a:ext cx="566928" cy="566928"/>
          </a:xfrm>
          <a:prstGeom prst="rect">
            <a:avLst/>
          </a:prstGeom>
          <a:solidFill>
            <a:srgbClr val="181D22"/>
          </a:solidFill>
          <a:ln w="12700">
            <a:solidFill>
              <a:srgbClr val="2F3943"/>
            </a:solidFill>
            <a:prstDash val="solid"/>
          </a:ln>
        </p:spPr>
      </p:sp>
      <p:pic>
        <p:nvPicPr>
          <p:cNvPr id="28" name="Image 3" descr="icon">    </p:cNvPr>
          <p:cNvPicPr>
            <a:picLocks noChangeAspect="1"/>
          </p:cNvPicPr>
          <p:nvPr/>
        </p:nvPicPr>
        <p:blipFill>
          <a:blip r:embed="rId4"/>
          <a:stretch>
            <a:fillRect/>
          </a:stretch>
        </p:blipFill>
        <p:spPr>
          <a:xfrm>
            <a:off x="6573987" y="2164751"/>
            <a:ext cx="260787" cy="260787"/>
          </a:xfrm>
          <a:prstGeom prst="rect">
            <a:avLst/>
          </a:prstGeom>
        </p:spPr>
      </p:pic>
      <p:sp>
        <p:nvSpPr>
          <p:cNvPr id="29" name="Text 22"/>
          <p:cNvSpPr txBox="1"/>
          <p:nvPr/>
        </p:nvSpPr>
        <p:spPr>
          <a:xfrm>
            <a:off x="7408469"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4</a:t>
            </a:r>
            <a:endParaRPr lang="en-US" sz="1400" dirty="0"/>
          </a:p>
        </p:txBody>
      </p:sp>
      <p:sp>
        <p:nvSpPr>
          <p:cNvPr id="30" name="Text 23"/>
          <p:cNvSpPr txBox="1"/>
          <p:nvPr/>
        </p:nvSpPr>
        <p:spPr>
          <a:xfrm>
            <a:off x="6420917"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Correlate</a:t>
            </a:r>
            <a:endParaRPr lang="en-US" sz="1800" dirty="0"/>
          </a:p>
        </p:txBody>
      </p:sp>
      <p:sp>
        <p:nvSpPr>
          <p:cNvPr id="31" name="Text 24"/>
          <p:cNvSpPr txBox="1"/>
          <p:nvPr/>
        </p:nvSpPr>
        <p:spPr>
          <a:xfrm>
            <a:off x="6420917"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one incident per</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device, ATT&amp;CK chain</a:t>
            </a:r>
            <a:endParaRPr lang="en-US" sz="1250" dirty="0"/>
          </a:p>
        </p:txBody>
      </p:sp>
      <p:sp>
        <p:nvSpPr>
          <p:cNvPr id="32" name="arrow"/>
          <p:cNvSpPr/>
          <p:nvPr/>
        </p:nvSpPr>
        <p:spPr>
          <a:xfrm>
            <a:off x="7893101" y="2990088"/>
            <a:ext cx="213970" cy="0"/>
          </a:xfrm>
          <a:prstGeom prst="line">
            <a:avLst/>
          </a:prstGeom>
          <a:noFill/>
          <a:ln w="25400">
            <a:solidFill>
              <a:srgbClr val="4D5762"/>
            </a:solidFill>
            <a:prstDash val="solid"/>
            <a:tailEnd type="triangle"/>
          </a:ln>
        </p:spPr>
      </p:sp>
      <p:sp>
        <p:nvSpPr>
          <p:cNvPr id="33" name="step"/>
          <p:cNvSpPr/>
          <p:nvPr/>
        </p:nvSpPr>
        <p:spPr>
          <a:xfrm>
            <a:off x="8134502" y="1828800"/>
            <a:ext cx="1627632" cy="2103120"/>
          </a:xfrm>
          <a:prstGeom prst="rect">
            <a:avLst/>
          </a:prstGeom>
          <a:solidFill>
            <a:srgbClr val="12161A"/>
          </a:solidFill>
          <a:ln w="12700">
            <a:solidFill>
              <a:srgbClr val="232A31"/>
            </a:solidFill>
            <a:prstDash val="solid"/>
          </a:ln>
        </p:spPr>
      </p:sp>
      <p:sp>
        <p:nvSpPr>
          <p:cNvPr id="34" name="icon-box"/>
          <p:cNvSpPr/>
          <p:nvPr/>
        </p:nvSpPr>
        <p:spPr>
          <a:xfrm>
            <a:off x="8317382" y="2011680"/>
            <a:ext cx="566928" cy="566928"/>
          </a:xfrm>
          <a:prstGeom prst="rect">
            <a:avLst/>
          </a:prstGeom>
          <a:solidFill>
            <a:srgbClr val="181D22"/>
          </a:solidFill>
          <a:ln w="12700">
            <a:solidFill>
              <a:srgbClr val="2F3943"/>
            </a:solidFill>
            <a:prstDash val="solid"/>
          </a:ln>
        </p:spPr>
      </p:sp>
      <p:pic>
        <p:nvPicPr>
          <p:cNvPr id="35" name="Image 4" descr="icon">    </p:cNvPr>
          <p:cNvPicPr>
            <a:picLocks noChangeAspect="1"/>
          </p:cNvPicPr>
          <p:nvPr/>
        </p:nvPicPr>
        <p:blipFill>
          <a:blip r:embed="rId5"/>
          <a:stretch>
            <a:fillRect/>
          </a:stretch>
        </p:blipFill>
        <p:spPr>
          <a:xfrm>
            <a:off x="8470453" y="2164751"/>
            <a:ext cx="260787" cy="260787"/>
          </a:xfrm>
          <a:prstGeom prst="rect">
            <a:avLst/>
          </a:prstGeom>
        </p:spPr>
      </p:pic>
      <p:sp>
        <p:nvSpPr>
          <p:cNvPr id="36" name="Text 28"/>
          <p:cNvSpPr txBox="1"/>
          <p:nvPr/>
        </p:nvSpPr>
        <p:spPr>
          <a:xfrm>
            <a:off x="9304934"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5</a:t>
            </a:r>
            <a:endParaRPr lang="en-US" sz="1400" dirty="0"/>
          </a:p>
        </p:txBody>
      </p:sp>
      <p:sp>
        <p:nvSpPr>
          <p:cNvPr id="37" name="Text 29"/>
          <p:cNvSpPr txBox="1"/>
          <p:nvPr/>
        </p:nvSpPr>
        <p:spPr>
          <a:xfrm>
            <a:off x="8317382"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Explain</a:t>
            </a:r>
            <a:endParaRPr lang="en-US" sz="1800" dirty="0"/>
          </a:p>
        </p:txBody>
      </p:sp>
      <p:sp>
        <p:nvSpPr>
          <p:cNvPr id="38" name="Text 30"/>
          <p:cNvSpPr txBox="1"/>
          <p:nvPr/>
        </p:nvSpPr>
        <p:spPr>
          <a:xfrm>
            <a:off x="8317382"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plain English:</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templates or local LLM</a:t>
            </a:r>
            <a:endParaRPr lang="en-US" sz="1250" dirty="0"/>
          </a:p>
        </p:txBody>
      </p:sp>
      <p:sp>
        <p:nvSpPr>
          <p:cNvPr id="39" name="arrow"/>
          <p:cNvSpPr/>
          <p:nvPr/>
        </p:nvSpPr>
        <p:spPr>
          <a:xfrm>
            <a:off x="9789566" y="2990088"/>
            <a:ext cx="213970" cy="0"/>
          </a:xfrm>
          <a:prstGeom prst="line">
            <a:avLst/>
          </a:prstGeom>
          <a:noFill/>
          <a:ln w="25400">
            <a:solidFill>
              <a:srgbClr val="4D5762"/>
            </a:solidFill>
            <a:prstDash val="solid"/>
            <a:tailEnd type="triangle"/>
          </a:ln>
        </p:spPr>
      </p:sp>
      <p:sp>
        <p:nvSpPr>
          <p:cNvPr id="40" name="step"/>
          <p:cNvSpPr/>
          <p:nvPr/>
        </p:nvSpPr>
        <p:spPr>
          <a:xfrm>
            <a:off x="10030968" y="1828800"/>
            <a:ext cx="1627632" cy="2103120"/>
          </a:xfrm>
          <a:prstGeom prst="rect">
            <a:avLst/>
          </a:prstGeom>
          <a:solidFill>
            <a:srgbClr val="12161A"/>
          </a:solidFill>
          <a:ln w="12700">
            <a:solidFill>
              <a:srgbClr val="232A31"/>
            </a:solidFill>
            <a:prstDash val="solid"/>
          </a:ln>
        </p:spPr>
      </p:sp>
      <p:sp>
        <p:nvSpPr>
          <p:cNvPr id="41" name="icon-box"/>
          <p:cNvSpPr/>
          <p:nvPr/>
        </p:nvSpPr>
        <p:spPr>
          <a:xfrm>
            <a:off x="10213848" y="2011680"/>
            <a:ext cx="566928" cy="566928"/>
          </a:xfrm>
          <a:prstGeom prst="rect">
            <a:avLst/>
          </a:prstGeom>
          <a:solidFill>
            <a:srgbClr val="181D22"/>
          </a:solidFill>
          <a:ln w="12700">
            <a:solidFill>
              <a:srgbClr val="2F3943"/>
            </a:solidFill>
            <a:prstDash val="solid"/>
          </a:ln>
        </p:spPr>
      </p:sp>
      <p:pic>
        <p:nvPicPr>
          <p:cNvPr id="42" name="Image 5" descr="icon">    </p:cNvPr>
          <p:cNvPicPr>
            <a:picLocks noChangeAspect="1"/>
          </p:cNvPicPr>
          <p:nvPr/>
        </p:nvPicPr>
        <p:blipFill>
          <a:blip r:embed="rId6"/>
          <a:stretch>
            <a:fillRect/>
          </a:stretch>
        </p:blipFill>
        <p:spPr>
          <a:xfrm>
            <a:off x="10366919" y="2164751"/>
            <a:ext cx="260787" cy="260787"/>
          </a:xfrm>
          <a:prstGeom prst="rect">
            <a:avLst/>
          </a:prstGeom>
        </p:spPr>
      </p:pic>
      <p:sp>
        <p:nvSpPr>
          <p:cNvPr id="43" name="Text 34"/>
          <p:cNvSpPr txBox="1"/>
          <p:nvPr/>
        </p:nvSpPr>
        <p:spPr>
          <a:xfrm>
            <a:off x="11201400"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6</a:t>
            </a:r>
            <a:endParaRPr lang="en-US" sz="1400" dirty="0"/>
          </a:p>
        </p:txBody>
      </p:sp>
      <p:sp>
        <p:nvSpPr>
          <p:cNvPr id="44" name="Text 35"/>
          <p:cNvSpPr txBox="1"/>
          <p:nvPr/>
        </p:nvSpPr>
        <p:spPr>
          <a:xfrm>
            <a:off x="10213848"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Deliver</a:t>
            </a:r>
            <a:endParaRPr lang="en-US" sz="1800" dirty="0"/>
          </a:p>
        </p:txBody>
      </p:sp>
      <p:sp>
        <p:nvSpPr>
          <p:cNvPr id="45" name="Text 36"/>
          <p:cNvSpPr txBox="1"/>
          <p:nvPr/>
        </p:nvSpPr>
        <p:spPr>
          <a:xfrm>
            <a:off x="10213848"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console, history,</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Slack/Discord/Telegram</a:t>
            </a:r>
            <a:endParaRPr lang="en-US" sz="1250" dirty="0"/>
          </a:p>
        </p:txBody>
      </p:sp>
      <p:sp>
        <p:nvSpPr>
          <p:cNvPr id="46" name="gate"/>
          <p:cNvSpPr/>
          <p:nvPr/>
        </p:nvSpPr>
        <p:spPr>
          <a:xfrm>
            <a:off x="548640" y="4526280"/>
            <a:ext cx="11109960" cy="685800"/>
          </a:xfrm>
          <a:prstGeom prst="rect">
            <a:avLst/>
          </a:prstGeom>
          <a:solidFill>
            <a:srgbClr val="181D22"/>
          </a:solidFill>
          <a:ln w="12700">
            <a:solidFill>
              <a:srgbClr val="2F3943"/>
            </a:solidFill>
            <a:prstDash val="solid"/>
          </a:ln>
        </p:spPr>
      </p:sp>
      <p:sp>
        <p:nvSpPr>
          <p:cNvPr id="47" name="gate-edge"/>
          <p:cNvSpPr/>
          <p:nvPr/>
        </p:nvSpPr>
        <p:spPr>
          <a:xfrm>
            <a:off x="548640" y="4526280"/>
            <a:ext cx="73152" cy="685800"/>
          </a:xfrm>
          <a:prstGeom prst="rect">
            <a:avLst/>
          </a:prstGeom>
          <a:solidFill>
            <a:srgbClr val="C9702D"/>
          </a:solidFill>
          <a:ln/>
        </p:spPr>
      </p:sp>
      <p:sp>
        <p:nvSpPr>
          <p:cNvPr id="48" name="Text 39"/>
          <p:cNvSpPr txBox="1"/>
          <p:nvPr/>
        </p:nvSpPr>
        <p:spPr>
          <a:xfrm>
            <a:off x="868680" y="4526280"/>
            <a:ext cx="10607040" cy="685800"/>
          </a:xfrm>
          <a:prstGeom prst="rect">
            <a:avLst/>
          </a:prstGeom>
          <a:noFill/>
          <a:ln/>
        </p:spPr>
        <p:txBody>
          <a:bodyPr wrap="square" lIns="0" tIns="0" rIns="0" bIns="0" rtlCol="0" anchor="ctr"/>
          <a:lstStyle/>
          <a:p>
            <a:pPr indent="0" marL="0">
              <a:buNone/>
            </a:pPr>
            <a:r>
              <a:rPr lang="en-US" sz="1400" b="1" dirty="0">
                <a:solidFill>
                  <a:srgbClr val="C9702D"/>
                </a:solidFill>
                <a:latin typeface="Calibri" pitchFamily="34" charset="0"/>
                <a:ea typeface="Calibri" pitchFamily="34" charset="-122"/>
                <a:cs typeface="Calibri" pitchFamily="34" charset="-120"/>
              </a:rPr>
              <a:t>Sanitiser gate:  </a:t>
            </a:r>
            <a:pPr indent="0" marL="0">
              <a:buNone/>
            </a:pPr>
            <a:r>
              <a:rPr lang="en-US" sz="1400" dirty="0">
                <a:solidFill>
                  <a:srgbClr val="CBD2D9"/>
                </a:solidFill>
                <a:latin typeface="Calibri" pitchFamily="34" charset="0"/>
                <a:ea typeface="Calibri" pitchFamily="34" charset="-122"/>
                <a:cs typeface="Calibri" pitchFamily="34" charset="-120"/>
              </a:rPr>
              <a:t>DNS names and hostnames come from the network, so they are treated as hostile. They are cleaned before any LLM, notification or screen sees them, and the console only ever shows them as plain text.</a:t>
            </a:r>
            <a:endParaRPr lang="en-US" sz="1400" dirty="0"/>
          </a:p>
        </p:txBody>
      </p:sp>
      <p:sp>
        <p:nvSpPr>
          <p:cNvPr id="49" name="gate2"/>
          <p:cNvSpPr/>
          <p:nvPr/>
        </p:nvSpPr>
        <p:spPr>
          <a:xfrm>
            <a:off x="548640" y="5440680"/>
            <a:ext cx="11109960" cy="685800"/>
          </a:xfrm>
          <a:prstGeom prst="rect">
            <a:avLst/>
          </a:prstGeom>
          <a:solidFill>
            <a:srgbClr val="181D22"/>
          </a:solidFill>
          <a:ln w="12700">
            <a:solidFill>
              <a:srgbClr val="2F3943"/>
            </a:solidFill>
            <a:prstDash val="solid"/>
          </a:ln>
        </p:spPr>
      </p:sp>
      <p:sp>
        <p:nvSpPr>
          <p:cNvPr id="50" name="gate2-edge"/>
          <p:cNvSpPr/>
          <p:nvPr/>
        </p:nvSpPr>
        <p:spPr>
          <a:xfrm>
            <a:off x="548640" y="5440680"/>
            <a:ext cx="73152" cy="685800"/>
          </a:xfrm>
          <a:prstGeom prst="rect">
            <a:avLst/>
          </a:prstGeom>
          <a:solidFill>
            <a:srgbClr val="5A9E84"/>
          </a:solidFill>
          <a:ln/>
        </p:spPr>
      </p:sp>
      <p:sp>
        <p:nvSpPr>
          <p:cNvPr id="51" name="Text 42"/>
          <p:cNvSpPr txBox="1"/>
          <p:nvPr/>
        </p:nvSpPr>
        <p:spPr>
          <a:xfrm>
            <a:off x="868680" y="5440680"/>
            <a:ext cx="10607040" cy="685800"/>
          </a:xfrm>
          <a:prstGeom prst="rect">
            <a:avLst/>
          </a:prstGeom>
          <a:noFill/>
          <a:ln/>
        </p:spPr>
        <p:txBody>
          <a:bodyPr wrap="square" lIns="0" tIns="0" rIns="0" bIns="0" rtlCol="0" anchor="ctr"/>
          <a:lstStyle/>
          <a:p>
            <a:pPr indent="0" marL="0">
              <a:buNone/>
            </a:pPr>
            <a:r>
              <a:rPr lang="en-US" sz="1400" b="1" dirty="0">
                <a:solidFill>
                  <a:srgbClr val="5A9E84"/>
                </a:solidFill>
                <a:latin typeface="Calibri" pitchFamily="34" charset="0"/>
                <a:ea typeface="Calibri" pitchFamily="34" charset="-122"/>
                <a:cs typeface="Calibri" pitchFamily="34" charset="-120"/>
              </a:rPr>
              <a:t>LLMs never decide:  </a:t>
            </a:r>
            <a:pPr indent="0" marL="0">
              <a:buNone/>
            </a:pPr>
            <a:r>
              <a:rPr lang="en-US" sz="1400" dirty="0">
                <a:solidFill>
                  <a:srgbClr val="CBD2D9"/>
                </a:solidFill>
                <a:latin typeface="Calibri" pitchFamily="34" charset="0"/>
                <a:ea typeface="Calibri" pitchFamily="34" charset="-122"/>
                <a:cs typeface="Calibri" pitchFamily="34" charset="-120"/>
              </a:rPr>
              <a:t>detection is rules and statistics. A local model, if you turn one on, only rewrites the wording, and its output is fact-checked against the evidence.</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Five detectors, each tied to an ATT&amp;CK technique</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03  /  WHAT IT DETECTS</a:t>
            </a:r>
            <a:endParaRPr lang="en-US" sz="1100" dirty="0"/>
          </a:p>
        </p:txBody>
      </p:sp>
      <p:sp>
        <p:nvSpPr>
          <p:cNvPr id="5" name="card"/>
          <p:cNvSpPr/>
          <p:nvPr/>
        </p:nvSpPr>
        <p:spPr>
          <a:xfrm>
            <a:off x="548640" y="1645920"/>
            <a:ext cx="3611880" cy="2148840"/>
          </a:xfrm>
          <a:prstGeom prst="rect">
            <a:avLst/>
          </a:prstGeom>
          <a:solidFill>
            <a:srgbClr val="12161A"/>
          </a:solidFill>
          <a:ln w="12700">
            <a:solidFill>
              <a:srgbClr val="232A31"/>
            </a:solidFill>
            <a:prstDash val="solid"/>
          </a:ln>
        </p:spPr>
      </p:sp>
      <p:sp>
        <p:nvSpPr>
          <p:cNvPr id="6" name="card-top"/>
          <p:cNvSpPr/>
          <p:nvPr/>
        </p:nvSpPr>
        <p:spPr>
          <a:xfrm>
            <a:off x="548640" y="1645920"/>
            <a:ext cx="3611880" cy="64008"/>
          </a:xfrm>
          <a:prstGeom prst="rect">
            <a:avLst/>
          </a:prstGeom>
          <a:solidFill>
            <a:srgbClr val="C4403F"/>
          </a:solidFill>
          <a:ln/>
        </p:spPr>
      </p:sp>
      <p:sp>
        <p:nvSpPr>
          <p:cNvPr id="7" name="Text 4"/>
          <p:cNvSpPr txBox="1"/>
          <p:nvPr/>
        </p:nvSpPr>
        <p:spPr>
          <a:xfrm>
            <a:off x="77724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Port scan</a:t>
            </a:r>
            <a:endParaRPr lang="en-US" sz="1900" dirty="0"/>
          </a:p>
        </p:txBody>
      </p:sp>
      <p:sp>
        <p:nvSpPr>
          <p:cNvPr id="8" name="chip"/>
          <p:cNvSpPr/>
          <p:nvPr/>
        </p:nvSpPr>
        <p:spPr>
          <a:xfrm>
            <a:off x="2926080" y="1920240"/>
            <a:ext cx="1051560" cy="274320"/>
          </a:xfrm>
          <a:prstGeom prst="rect">
            <a:avLst/>
          </a:prstGeom>
          <a:ln w="12700">
            <a:solidFill>
              <a:srgbClr val="7B8794"/>
            </a:solidFill>
            <a:prstDash val="solid"/>
          </a:ln>
        </p:spPr>
      </p:sp>
      <p:sp>
        <p:nvSpPr>
          <p:cNvPr id="9" name="Text 6"/>
          <p:cNvSpPr txBox="1"/>
          <p:nvPr/>
        </p:nvSpPr>
        <p:spPr>
          <a:xfrm>
            <a:off x="292608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T1046</a:t>
            </a:r>
            <a:endParaRPr lang="en-US" sz="1000" dirty="0"/>
          </a:p>
        </p:txBody>
      </p:sp>
      <p:sp>
        <p:nvSpPr>
          <p:cNvPr id="10" name="Text 7"/>
          <p:cNvSpPr txBox="1"/>
          <p:nvPr/>
        </p:nvSpPr>
        <p:spPr>
          <a:xfrm>
            <a:off x="77724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One device probing many ports or hosts, fast or slow.</a:t>
            </a:r>
            <a:endParaRPr lang="en-US" sz="1300" dirty="0"/>
          </a:p>
        </p:txBody>
      </p:sp>
      <p:sp>
        <p:nvSpPr>
          <p:cNvPr id="11" name="rule"/>
          <p:cNvSpPr/>
          <p:nvPr/>
        </p:nvSpPr>
        <p:spPr>
          <a:xfrm>
            <a:off x="777240" y="3182112"/>
            <a:ext cx="3154680" cy="0"/>
          </a:xfrm>
          <a:prstGeom prst="line">
            <a:avLst/>
          </a:prstGeom>
          <a:noFill/>
          <a:ln w="12700">
            <a:solidFill>
              <a:srgbClr val="232A31"/>
            </a:solidFill>
            <a:prstDash val="solid"/>
          </a:ln>
        </p:spPr>
      </p:sp>
      <p:sp>
        <p:nvSpPr>
          <p:cNvPr id="12" name="Text 9"/>
          <p:cNvSpPr txBox="1"/>
          <p:nvPr/>
        </p:nvSpPr>
        <p:spPr>
          <a:xfrm>
            <a:off x="77724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400 ports in about 1 s, 99.75% failed</a:t>
            </a:r>
            <a:endParaRPr lang="en-US" sz="1100" dirty="0"/>
          </a:p>
        </p:txBody>
      </p:sp>
      <p:sp>
        <p:nvSpPr>
          <p:cNvPr id="13" name="card"/>
          <p:cNvSpPr/>
          <p:nvPr/>
        </p:nvSpPr>
        <p:spPr>
          <a:xfrm>
            <a:off x="4297680" y="1645920"/>
            <a:ext cx="3611880" cy="2148840"/>
          </a:xfrm>
          <a:prstGeom prst="rect">
            <a:avLst/>
          </a:prstGeom>
          <a:solidFill>
            <a:srgbClr val="12161A"/>
          </a:solidFill>
          <a:ln w="12700">
            <a:solidFill>
              <a:srgbClr val="232A31"/>
            </a:solidFill>
            <a:prstDash val="solid"/>
          </a:ln>
        </p:spPr>
      </p:sp>
      <p:sp>
        <p:nvSpPr>
          <p:cNvPr id="14" name="card-top"/>
          <p:cNvSpPr/>
          <p:nvPr/>
        </p:nvSpPr>
        <p:spPr>
          <a:xfrm>
            <a:off x="4297680" y="1645920"/>
            <a:ext cx="3611880" cy="64008"/>
          </a:xfrm>
          <a:prstGeom prst="rect">
            <a:avLst/>
          </a:prstGeom>
          <a:solidFill>
            <a:srgbClr val="C4403F"/>
          </a:solidFill>
          <a:ln/>
        </p:spPr>
      </p:sp>
      <p:sp>
        <p:nvSpPr>
          <p:cNvPr id="15" name="Text 12"/>
          <p:cNvSpPr txBox="1"/>
          <p:nvPr/>
        </p:nvSpPr>
        <p:spPr>
          <a:xfrm>
            <a:off x="452628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Brute force</a:t>
            </a:r>
            <a:endParaRPr lang="en-US" sz="1900" dirty="0"/>
          </a:p>
        </p:txBody>
      </p:sp>
      <p:sp>
        <p:nvSpPr>
          <p:cNvPr id="16" name="chip"/>
          <p:cNvSpPr/>
          <p:nvPr/>
        </p:nvSpPr>
        <p:spPr>
          <a:xfrm>
            <a:off x="6675120" y="1920240"/>
            <a:ext cx="1051560" cy="274320"/>
          </a:xfrm>
          <a:prstGeom prst="rect">
            <a:avLst/>
          </a:prstGeom>
          <a:ln w="12700">
            <a:solidFill>
              <a:srgbClr val="7B8794"/>
            </a:solidFill>
            <a:prstDash val="solid"/>
          </a:ln>
        </p:spPr>
      </p:sp>
      <p:sp>
        <p:nvSpPr>
          <p:cNvPr id="17" name="Text 14"/>
          <p:cNvSpPr txBox="1"/>
          <p:nvPr/>
        </p:nvSpPr>
        <p:spPr>
          <a:xfrm>
            <a:off x="667512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T1110</a:t>
            </a:r>
            <a:endParaRPr lang="en-US" sz="1000" dirty="0"/>
          </a:p>
        </p:txBody>
      </p:sp>
      <p:sp>
        <p:nvSpPr>
          <p:cNvPr id="18" name="Text 15"/>
          <p:cNvSpPr txBox="1"/>
          <p:nvPr/>
        </p:nvSpPr>
        <p:spPr>
          <a:xfrm>
            <a:off x="452628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Many connections to SSH, RDP, SMB or FTP that mostly complete.</a:t>
            </a:r>
            <a:endParaRPr lang="en-US" sz="1300" dirty="0"/>
          </a:p>
        </p:txBody>
      </p:sp>
      <p:sp>
        <p:nvSpPr>
          <p:cNvPr id="19" name="rule"/>
          <p:cNvSpPr/>
          <p:nvPr/>
        </p:nvSpPr>
        <p:spPr>
          <a:xfrm>
            <a:off x="4526280" y="3182112"/>
            <a:ext cx="3154680" cy="0"/>
          </a:xfrm>
          <a:prstGeom prst="line">
            <a:avLst/>
          </a:prstGeom>
          <a:noFill/>
          <a:ln w="12700">
            <a:solidFill>
              <a:srgbClr val="232A31"/>
            </a:solidFill>
            <a:prstDash val="solid"/>
          </a:ln>
        </p:spPr>
      </p:sp>
      <p:sp>
        <p:nvSpPr>
          <p:cNvPr id="20" name="Text 17"/>
          <p:cNvSpPr txBox="1"/>
          <p:nvPr/>
        </p:nvSpPr>
        <p:spPr>
          <a:xfrm>
            <a:off x="452628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21 logins to port 2222, all completed</a:t>
            </a:r>
            <a:endParaRPr lang="en-US" sz="1100" dirty="0"/>
          </a:p>
        </p:txBody>
      </p:sp>
      <p:sp>
        <p:nvSpPr>
          <p:cNvPr id="21" name="card"/>
          <p:cNvSpPr/>
          <p:nvPr/>
        </p:nvSpPr>
        <p:spPr>
          <a:xfrm>
            <a:off x="8046720" y="1645920"/>
            <a:ext cx="3611880" cy="2148840"/>
          </a:xfrm>
          <a:prstGeom prst="rect">
            <a:avLst/>
          </a:prstGeom>
          <a:solidFill>
            <a:srgbClr val="12161A"/>
          </a:solidFill>
          <a:ln w="12700">
            <a:solidFill>
              <a:srgbClr val="232A31"/>
            </a:solidFill>
            <a:prstDash val="solid"/>
          </a:ln>
        </p:spPr>
      </p:sp>
      <p:sp>
        <p:nvSpPr>
          <p:cNvPr id="22" name="card-top"/>
          <p:cNvSpPr/>
          <p:nvPr/>
        </p:nvSpPr>
        <p:spPr>
          <a:xfrm>
            <a:off x="8046720" y="1645920"/>
            <a:ext cx="3611880" cy="64008"/>
          </a:xfrm>
          <a:prstGeom prst="rect">
            <a:avLst/>
          </a:prstGeom>
          <a:solidFill>
            <a:srgbClr val="C4403F"/>
          </a:solidFill>
          <a:ln/>
        </p:spPr>
      </p:sp>
      <p:sp>
        <p:nvSpPr>
          <p:cNvPr id="23" name="Text 20"/>
          <p:cNvSpPr txBox="1"/>
          <p:nvPr/>
        </p:nvSpPr>
        <p:spPr>
          <a:xfrm>
            <a:off x="827532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Beaconing</a:t>
            </a:r>
            <a:endParaRPr lang="en-US" sz="1900" dirty="0"/>
          </a:p>
        </p:txBody>
      </p:sp>
      <p:sp>
        <p:nvSpPr>
          <p:cNvPr id="24" name="chip"/>
          <p:cNvSpPr/>
          <p:nvPr/>
        </p:nvSpPr>
        <p:spPr>
          <a:xfrm>
            <a:off x="10424160" y="1920240"/>
            <a:ext cx="1051560" cy="274320"/>
          </a:xfrm>
          <a:prstGeom prst="rect">
            <a:avLst/>
          </a:prstGeom>
          <a:ln w="12700">
            <a:solidFill>
              <a:srgbClr val="7B8794"/>
            </a:solidFill>
            <a:prstDash val="solid"/>
          </a:ln>
        </p:spPr>
      </p:sp>
      <p:sp>
        <p:nvSpPr>
          <p:cNvPr id="25" name="Text 22"/>
          <p:cNvSpPr txBox="1"/>
          <p:nvPr/>
        </p:nvSpPr>
        <p:spPr>
          <a:xfrm>
            <a:off x="1042416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T1071.001</a:t>
            </a:r>
            <a:endParaRPr lang="en-US" sz="1000" dirty="0"/>
          </a:p>
        </p:txBody>
      </p:sp>
      <p:sp>
        <p:nvSpPr>
          <p:cNvPr id="26" name="Text 23"/>
          <p:cNvSpPr txBox="1"/>
          <p:nvPr/>
        </p:nvSpPr>
        <p:spPr>
          <a:xfrm>
            <a:off x="827532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One server contacted at suspiciously regular intervals.</a:t>
            </a:r>
            <a:endParaRPr lang="en-US" sz="1300" dirty="0"/>
          </a:p>
        </p:txBody>
      </p:sp>
      <p:sp>
        <p:nvSpPr>
          <p:cNvPr id="27" name="rule"/>
          <p:cNvSpPr/>
          <p:nvPr/>
        </p:nvSpPr>
        <p:spPr>
          <a:xfrm>
            <a:off x="8275320" y="3182112"/>
            <a:ext cx="3154680" cy="0"/>
          </a:xfrm>
          <a:prstGeom prst="line">
            <a:avLst/>
          </a:prstGeom>
          <a:noFill/>
          <a:ln w="12700">
            <a:solidFill>
              <a:srgbClr val="232A31"/>
            </a:solidFill>
            <a:prstDash val="solid"/>
          </a:ln>
        </p:spPr>
      </p:sp>
      <p:sp>
        <p:nvSpPr>
          <p:cNvPr id="28" name="Text 25"/>
          <p:cNvSpPr txBox="1"/>
          <p:nvPr/>
        </p:nvSpPr>
        <p:spPr>
          <a:xfrm>
            <a:off x="827532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13 check-ins every 1.0003 s, jitter 0.2%</a:t>
            </a:r>
            <a:endParaRPr lang="en-US" sz="1100" dirty="0"/>
          </a:p>
        </p:txBody>
      </p:sp>
      <p:sp>
        <p:nvSpPr>
          <p:cNvPr id="29" name="card"/>
          <p:cNvSpPr/>
          <p:nvPr/>
        </p:nvSpPr>
        <p:spPr>
          <a:xfrm>
            <a:off x="548640" y="3977640"/>
            <a:ext cx="3611880" cy="2148840"/>
          </a:xfrm>
          <a:prstGeom prst="rect">
            <a:avLst/>
          </a:prstGeom>
          <a:solidFill>
            <a:srgbClr val="12161A"/>
          </a:solidFill>
          <a:ln w="12700">
            <a:solidFill>
              <a:srgbClr val="232A31"/>
            </a:solidFill>
            <a:prstDash val="solid"/>
          </a:ln>
        </p:spPr>
      </p:sp>
      <p:sp>
        <p:nvSpPr>
          <p:cNvPr id="30" name="card-top"/>
          <p:cNvSpPr/>
          <p:nvPr/>
        </p:nvSpPr>
        <p:spPr>
          <a:xfrm>
            <a:off x="548640" y="3977640"/>
            <a:ext cx="3611880" cy="64008"/>
          </a:xfrm>
          <a:prstGeom prst="rect">
            <a:avLst/>
          </a:prstGeom>
          <a:solidFill>
            <a:srgbClr val="C4403F"/>
          </a:solidFill>
          <a:ln/>
        </p:spPr>
      </p:sp>
      <p:sp>
        <p:nvSpPr>
          <p:cNvPr id="31" name="Text 28"/>
          <p:cNvSpPr txBox="1"/>
          <p:nvPr/>
        </p:nvSpPr>
        <p:spPr>
          <a:xfrm>
            <a:off x="777240" y="420624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DNS tunnelling</a:t>
            </a:r>
            <a:endParaRPr lang="en-US" sz="1900" dirty="0"/>
          </a:p>
        </p:txBody>
      </p:sp>
      <p:sp>
        <p:nvSpPr>
          <p:cNvPr id="32" name="chip"/>
          <p:cNvSpPr/>
          <p:nvPr/>
        </p:nvSpPr>
        <p:spPr>
          <a:xfrm>
            <a:off x="2926080" y="4251960"/>
            <a:ext cx="1051560" cy="274320"/>
          </a:xfrm>
          <a:prstGeom prst="rect">
            <a:avLst/>
          </a:prstGeom>
          <a:ln w="12700">
            <a:solidFill>
              <a:srgbClr val="7B8794"/>
            </a:solidFill>
            <a:prstDash val="solid"/>
          </a:ln>
        </p:spPr>
      </p:sp>
      <p:sp>
        <p:nvSpPr>
          <p:cNvPr id="33" name="Text 30"/>
          <p:cNvSpPr txBox="1"/>
          <p:nvPr/>
        </p:nvSpPr>
        <p:spPr>
          <a:xfrm>
            <a:off x="2926080" y="425196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T1071.004</a:t>
            </a:r>
            <a:endParaRPr lang="en-US" sz="1000" dirty="0"/>
          </a:p>
        </p:txBody>
      </p:sp>
      <p:sp>
        <p:nvSpPr>
          <p:cNvPr id="34" name="Text 31"/>
          <p:cNvSpPr txBox="1"/>
          <p:nvPr/>
        </p:nvSpPr>
        <p:spPr>
          <a:xfrm>
            <a:off x="777240" y="470916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Long, random-looking lookups under one domain. An n-gram model scores how random the names look.</a:t>
            </a:r>
            <a:endParaRPr lang="en-US" sz="1300" dirty="0"/>
          </a:p>
        </p:txBody>
      </p:sp>
      <p:sp>
        <p:nvSpPr>
          <p:cNvPr id="35" name="rule"/>
          <p:cNvSpPr/>
          <p:nvPr/>
        </p:nvSpPr>
        <p:spPr>
          <a:xfrm>
            <a:off x="777240" y="5513832"/>
            <a:ext cx="3154680" cy="0"/>
          </a:xfrm>
          <a:prstGeom prst="line">
            <a:avLst/>
          </a:prstGeom>
          <a:noFill/>
          <a:ln w="12700">
            <a:solidFill>
              <a:srgbClr val="232A31"/>
            </a:solidFill>
            <a:prstDash val="solid"/>
          </a:ln>
        </p:spPr>
      </p:sp>
      <p:sp>
        <p:nvSpPr>
          <p:cNvPr id="36" name="Text 33"/>
          <p:cNvSpPr txBox="1"/>
          <p:nvPr/>
        </p:nvSpPr>
        <p:spPr>
          <a:xfrm>
            <a:off x="777240" y="558698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14 TXT lookups, 67 characters, 4.5 bits/char</a:t>
            </a:r>
            <a:endParaRPr lang="en-US" sz="1100" dirty="0"/>
          </a:p>
        </p:txBody>
      </p:sp>
      <p:sp>
        <p:nvSpPr>
          <p:cNvPr id="37" name="card"/>
          <p:cNvSpPr/>
          <p:nvPr/>
        </p:nvSpPr>
        <p:spPr>
          <a:xfrm>
            <a:off x="4297680" y="3977640"/>
            <a:ext cx="3611880" cy="2148840"/>
          </a:xfrm>
          <a:prstGeom prst="rect">
            <a:avLst/>
          </a:prstGeom>
          <a:solidFill>
            <a:srgbClr val="12161A"/>
          </a:solidFill>
          <a:ln w="12700">
            <a:solidFill>
              <a:srgbClr val="232A31"/>
            </a:solidFill>
            <a:prstDash val="solid"/>
          </a:ln>
        </p:spPr>
      </p:sp>
      <p:sp>
        <p:nvSpPr>
          <p:cNvPr id="38" name="card-top"/>
          <p:cNvSpPr/>
          <p:nvPr/>
        </p:nvSpPr>
        <p:spPr>
          <a:xfrm>
            <a:off x="4297680" y="3977640"/>
            <a:ext cx="3611880" cy="64008"/>
          </a:xfrm>
          <a:prstGeom prst="rect">
            <a:avLst/>
          </a:prstGeom>
          <a:solidFill>
            <a:srgbClr val="B8993B"/>
          </a:solidFill>
          <a:ln/>
        </p:spPr>
      </p:sp>
      <p:sp>
        <p:nvSpPr>
          <p:cNvPr id="39" name="Text 36"/>
          <p:cNvSpPr txBox="1"/>
          <p:nvPr/>
        </p:nvSpPr>
        <p:spPr>
          <a:xfrm>
            <a:off x="4526280" y="420624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Unusual behaviour</a:t>
            </a:r>
            <a:endParaRPr lang="en-US" sz="1900" dirty="0"/>
          </a:p>
        </p:txBody>
      </p:sp>
      <p:sp>
        <p:nvSpPr>
          <p:cNvPr id="40" name="chip"/>
          <p:cNvSpPr/>
          <p:nvPr/>
        </p:nvSpPr>
        <p:spPr>
          <a:xfrm>
            <a:off x="6675120" y="4251960"/>
            <a:ext cx="1051560" cy="274320"/>
          </a:xfrm>
          <a:prstGeom prst="rect">
            <a:avLst/>
          </a:prstGeom>
          <a:ln w="12700">
            <a:solidFill>
              <a:srgbClr val="B8993B"/>
            </a:solidFill>
            <a:prstDash val="solid"/>
          </a:ln>
        </p:spPr>
      </p:sp>
      <p:sp>
        <p:nvSpPr>
          <p:cNvPr id="41" name="Text 38"/>
          <p:cNvSpPr txBox="1"/>
          <p:nvPr/>
        </p:nvSpPr>
        <p:spPr>
          <a:xfrm>
            <a:off x="6675120" y="4251960"/>
            <a:ext cx="1051560" cy="274320"/>
          </a:xfrm>
          <a:prstGeom prst="rect">
            <a:avLst/>
          </a:prstGeom>
          <a:noFill/>
          <a:ln/>
        </p:spPr>
        <p:txBody>
          <a:bodyPr wrap="square" lIns="0" tIns="0" rIns="0" bIns="0" rtlCol="0" anchor="ctr"/>
          <a:lstStyle/>
          <a:p>
            <a:pPr algn="ctr" indent="0" marL="0">
              <a:buNone/>
            </a:pPr>
            <a:r>
              <a:rPr lang="en-US" sz="1000" b="1" spc="100" kern="0" dirty="0">
                <a:solidFill>
                  <a:srgbClr val="B8993B"/>
                </a:solidFill>
                <a:latin typeface="Courier New" pitchFamily="34" charset="0"/>
                <a:ea typeface="Courier New" pitchFamily="34" charset="-122"/>
                <a:cs typeface="Courier New" pitchFamily="34" charset="-120"/>
              </a:rPr>
              <a:t>statistical</a:t>
            </a:r>
            <a:endParaRPr lang="en-US" sz="1000" dirty="0"/>
          </a:p>
        </p:txBody>
      </p:sp>
      <p:sp>
        <p:nvSpPr>
          <p:cNvPr id="42" name="Text 39"/>
          <p:cNvSpPr txBox="1"/>
          <p:nvPr/>
        </p:nvSpPr>
        <p:spPr>
          <a:xfrm>
            <a:off x="4526280" y="470916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An Isolation Forest learns your network's normal, then flags volume far beyond it.</a:t>
            </a:r>
            <a:endParaRPr lang="en-US" sz="1300" dirty="0"/>
          </a:p>
        </p:txBody>
      </p:sp>
      <p:sp>
        <p:nvSpPr>
          <p:cNvPr id="43" name="rule"/>
          <p:cNvSpPr/>
          <p:nvPr/>
        </p:nvSpPr>
        <p:spPr>
          <a:xfrm>
            <a:off x="4526280" y="5513832"/>
            <a:ext cx="3154680" cy="0"/>
          </a:xfrm>
          <a:prstGeom prst="line">
            <a:avLst/>
          </a:prstGeom>
          <a:noFill/>
          <a:ln w="12700">
            <a:solidFill>
              <a:srgbClr val="232A31"/>
            </a:solidFill>
            <a:prstDash val="solid"/>
          </a:ln>
        </p:spPr>
      </p:sp>
      <p:sp>
        <p:nvSpPr>
          <p:cNvPr id="44" name="Text 41"/>
          <p:cNvSpPr txBox="1"/>
          <p:nvPr/>
        </p:nvSpPr>
        <p:spPr>
          <a:xfrm>
            <a:off x="4526280" y="558698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bulk upload: bytes_out 263x the baseline</a:t>
            </a:r>
            <a:endParaRPr lang="en-US" sz="1100" dirty="0"/>
          </a:p>
        </p:txBody>
      </p:sp>
      <p:sp>
        <p:nvSpPr>
          <p:cNvPr id="45" name="note"/>
          <p:cNvSpPr/>
          <p:nvPr/>
        </p:nvSpPr>
        <p:spPr>
          <a:xfrm>
            <a:off x="8046720" y="3977640"/>
            <a:ext cx="3611880" cy="2148840"/>
          </a:xfrm>
          <a:prstGeom prst="rect">
            <a:avLst/>
          </a:prstGeom>
          <a:ln w="12700">
            <a:solidFill>
              <a:srgbClr val="2F3943"/>
            </a:solidFill>
            <a:prstDash val="solid"/>
          </a:ln>
        </p:spPr>
      </p:sp>
      <p:sp>
        <p:nvSpPr>
          <p:cNvPr id="46" name="Text 43"/>
          <p:cNvSpPr txBox="1"/>
          <p:nvPr/>
        </p:nvSpPr>
        <p:spPr>
          <a:xfrm>
            <a:off x="8275320" y="4160520"/>
            <a:ext cx="3200400" cy="228600"/>
          </a:xfrm>
          <a:prstGeom prst="rect">
            <a:avLst/>
          </a:prstGeom>
          <a:noFill/>
          <a:ln/>
        </p:spPr>
        <p:txBody>
          <a:bodyPr wrap="square" lIns="0" tIns="0" rIns="0" bIns="0" rtlCol="0" anchor="ctr"/>
          <a:lstStyle/>
          <a:p>
            <a:pPr indent="0" marL="0">
              <a:buNone/>
            </a:pPr>
            <a:r>
              <a:rPr lang="en-US" sz="1000" b="1" spc="300" kern="0" dirty="0">
                <a:solidFill>
                  <a:srgbClr val="B8993B"/>
                </a:solidFill>
                <a:latin typeface="Courier New" pitchFamily="34" charset="0"/>
                <a:ea typeface="Courier New" pitchFamily="34" charset="-122"/>
                <a:cs typeface="Courier New" pitchFamily="34" charset="-120"/>
              </a:rPr>
              <a:t>WHY THE STATISTICAL ONE IS CAPPED</a:t>
            </a:r>
            <a:endParaRPr lang="en-US" sz="1000" dirty="0"/>
          </a:p>
        </p:txBody>
      </p:sp>
      <p:sp>
        <p:nvSpPr>
          <p:cNvPr id="47" name="Text 44"/>
          <p:cNvSpPr txBox="1"/>
          <p:nvPr/>
        </p:nvSpPr>
        <p:spPr>
          <a:xfrm>
            <a:off x="8275320" y="4526280"/>
            <a:ext cx="3200400" cy="14630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It only knows "unusual", not "attack". Its alerts are capped at MEDIUM, carry no ATT&amp;CK technique, and are hidden while a named attack is already active on that device.</a:t>
            </a:r>
            <a:endParaRPr lang="en-US" sz="13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local console that shows what is happening, now</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04  /  THE LIVE CONSOLE</a:t>
            </a:r>
            <a:endParaRPr lang="en-US" sz="1100" dirty="0"/>
          </a:p>
        </p:txBody>
      </p:sp>
      <p:sp>
        <p:nvSpPr>
          <p:cNvPr id="5" name="frame"/>
          <p:cNvSpPr/>
          <p:nvPr/>
        </p:nvSpPr>
        <p:spPr>
          <a:xfrm>
            <a:off x="502920" y="1554480"/>
            <a:ext cx="7680960" cy="4360545"/>
          </a:xfrm>
          <a:prstGeom prst="rect">
            <a:avLst/>
          </a:prstGeom>
          <a:solidFill>
            <a:srgbClr val="12161A"/>
          </a:solidFill>
          <a:ln w="12700">
            <a:solidFill>
              <a:srgbClr val="2F3943"/>
            </a:solidFill>
            <a:prstDash val="solid"/>
          </a:ln>
        </p:spPr>
      </p:sp>
      <p:pic>
        <p:nvPicPr>
          <p:cNvPr id="6" name="Image 0" descr="Live tab of the Sentinel console">    </p:cNvPr>
          <p:cNvPicPr>
            <a:picLocks noChangeAspect="1"/>
          </p:cNvPicPr>
          <p:nvPr/>
        </p:nvPicPr>
        <p:blipFill>
          <a:blip r:embed="rId1"/>
          <a:stretch>
            <a:fillRect/>
          </a:stretch>
        </p:blipFill>
        <p:spPr>
          <a:xfrm>
            <a:off x="548640" y="1600200"/>
            <a:ext cx="7589520" cy="4269105"/>
          </a:xfrm>
          <a:prstGeom prst="rect">
            <a:avLst/>
          </a:prstGeom>
        </p:spPr>
      </p:pic>
      <p:sp>
        <p:nvSpPr>
          <p:cNvPr id="7" name="marker"/>
          <p:cNvSpPr/>
          <p:nvPr/>
        </p:nvSpPr>
        <p:spPr>
          <a:xfrm>
            <a:off x="2024939" y="1773473"/>
            <a:ext cx="310896" cy="310896"/>
          </a:xfrm>
          <a:prstGeom prst="rect">
            <a:avLst/>
          </a:prstGeom>
          <a:solidFill>
            <a:srgbClr val="C4403F"/>
          </a:solidFill>
          <a:ln w="12700">
            <a:solidFill>
              <a:srgbClr val="0D1013"/>
            </a:solidFill>
            <a:prstDash val="solid"/>
          </a:ln>
        </p:spPr>
      </p:sp>
      <p:sp>
        <p:nvSpPr>
          <p:cNvPr id="8" name="Text 4"/>
          <p:cNvSpPr txBox="1"/>
          <p:nvPr/>
        </p:nvSpPr>
        <p:spPr>
          <a:xfrm>
            <a:off x="2024939" y="177347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9" name="marker"/>
          <p:cNvSpPr/>
          <p:nvPr/>
        </p:nvSpPr>
        <p:spPr>
          <a:xfrm>
            <a:off x="7792974" y="1773473"/>
            <a:ext cx="310896" cy="310896"/>
          </a:xfrm>
          <a:prstGeom prst="rect">
            <a:avLst/>
          </a:prstGeom>
          <a:solidFill>
            <a:srgbClr val="C4403F"/>
          </a:solidFill>
          <a:ln w="12700">
            <a:solidFill>
              <a:srgbClr val="0D1013"/>
            </a:solidFill>
            <a:prstDash val="solid"/>
          </a:ln>
        </p:spPr>
      </p:sp>
      <p:sp>
        <p:nvSpPr>
          <p:cNvPr id="10" name="Text 6"/>
          <p:cNvSpPr txBox="1"/>
          <p:nvPr/>
        </p:nvSpPr>
        <p:spPr>
          <a:xfrm>
            <a:off x="7792974" y="177347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11" name="marker"/>
          <p:cNvSpPr/>
          <p:nvPr/>
        </p:nvSpPr>
        <p:spPr>
          <a:xfrm>
            <a:off x="7792974" y="3600650"/>
            <a:ext cx="310896" cy="310896"/>
          </a:xfrm>
          <a:prstGeom prst="rect">
            <a:avLst/>
          </a:prstGeom>
          <a:solidFill>
            <a:srgbClr val="C4403F"/>
          </a:solidFill>
          <a:ln w="12700">
            <a:solidFill>
              <a:srgbClr val="0D1013"/>
            </a:solidFill>
            <a:prstDash val="solid"/>
          </a:ln>
        </p:spPr>
      </p:sp>
      <p:sp>
        <p:nvSpPr>
          <p:cNvPr id="12" name="Text 8"/>
          <p:cNvSpPr txBox="1"/>
          <p:nvPr/>
        </p:nvSpPr>
        <p:spPr>
          <a:xfrm>
            <a:off x="7792974" y="360065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13" name="marker"/>
          <p:cNvSpPr/>
          <p:nvPr/>
        </p:nvSpPr>
        <p:spPr>
          <a:xfrm>
            <a:off x="1911096" y="5052146"/>
            <a:ext cx="310896" cy="310896"/>
          </a:xfrm>
          <a:prstGeom prst="rect">
            <a:avLst/>
          </a:prstGeom>
          <a:solidFill>
            <a:srgbClr val="C4403F"/>
          </a:solidFill>
          <a:ln w="12700">
            <a:solidFill>
              <a:srgbClr val="0D1013"/>
            </a:solidFill>
            <a:prstDash val="solid"/>
          </a:ln>
        </p:spPr>
      </p:sp>
      <p:sp>
        <p:nvSpPr>
          <p:cNvPr id="14" name="Text 10"/>
          <p:cNvSpPr txBox="1"/>
          <p:nvPr/>
        </p:nvSpPr>
        <p:spPr>
          <a:xfrm>
            <a:off x="1911096" y="505214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15" name="marker"/>
          <p:cNvSpPr/>
          <p:nvPr/>
        </p:nvSpPr>
        <p:spPr>
          <a:xfrm>
            <a:off x="8503920" y="1627632"/>
            <a:ext cx="310896" cy="310896"/>
          </a:xfrm>
          <a:prstGeom prst="rect">
            <a:avLst/>
          </a:prstGeom>
          <a:solidFill>
            <a:srgbClr val="C4403F"/>
          </a:solidFill>
          <a:ln/>
        </p:spPr>
      </p:sp>
      <p:sp>
        <p:nvSpPr>
          <p:cNvPr id="16" name="Text 12"/>
          <p:cNvSpPr txBox="1"/>
          <p:nvPr/>
        </p:nvSpPr>
        <p:spPr>
          <a:xfrm>
            <a:off x="8503920" y="1627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17" name="Text 13"/>
          <p:cNvSpPr txBox="1"/>
          <p:nvPr/>
        </p:nvSpPr>
        <p:spPr>
          <a:xfrm>
            <a:off x="8961120" y="1600200"/>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Packet monitor</a:t>
            </a:r>
            <a:endParaRPr lang="en-US" sz="1600" dirty="0"/>
          </a:p>
        </p:txBody>
      </p:sp>
      <p:sp>
        <p:nvSpPr>
          <p:cNvPr id="18" name="Text 14"/>
          <p:cNvSpPr txBox="1"/>
          <p:nvPr/>
        </p:nvSpPr>
        <p:spPr>
          <a:xfrm>
            <a:off x="8961120" y="1965960"/>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Every packet event, newest first, with a filter box. A flagged device shows red for a minute.</a:t>
            </a:r>
            <a:endParaRPr lang="en-US" sz="1200" dirty="0"/>
          </a:p>
        </p:txBody>
      </p:sp>
      <p:sp>
        <p:nvSpPr>
          <p:cNvPr id="19" name="marker"/>
          <p:cNvSpPr/>
          <p:nvPr/>
        </p:nvSpPr>
        <p:spPr>
          <a:xfrm>
            <a:off x="8503920" y="2706624"/>
            <a:ext cx="310896" cy="310896"/>
          </a:xfrm>
          <a:prstGeom prst="rect">
            <a:avLst/>
          </a:prstGeom>
          <a:solidFill>
            <a:srgbClr val="C4403F"/>
          </a:solidFill>
          <a:ln/>
        </p:spPr>
      </p:sp>
      <p:sp>
        <p:nvSpPr>
          <p:cNvPr id="20" name="Text 16"/>
          <p:cNvSpPr txBox="1"/>
          <p:nvPr/>
        </p:nvSpPr>
        <p:spPr>
          <a:xfrm>
            <a:off x="8503920" y="27066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21" name="Text 17"/>
          <p:cNvSpPr txBox="1"/>
          <p:nvPr/>
        </p:nvSpPr>
        <p:spPr>
          <a:xfrm>
            <a:off x="8961120" y="2679192"/>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Network topology</a:t>
            </a:r>
            <a:endParaRPr lang="en-US" sz="1600" dirty="0"/>
          </a:p>
        </p:txBody>
      </p:sp>
      <p:sp>
        <p:nvSpPr>
          <p:cNvPr id="22" name="Text 18"/>
          <p:cNvSpPr txBox="1"/>
          <p:nvPr/>
        </p:nvSpPr>
        <p:spPr>
          <a:xfrm>
            <a:off x="8961120" y="3044952"/>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This host in the middle, devices around it, service ports as small boxes. A scan lights up the ports.</a:t>
            </a:r>
            <a:endParaRPr lang="en-US" sz="1200" dirty="0"/>
          </a:p>
        </p:txBody>
      </p:sp>
      <p:sp>
        <p:nvSpPr>
          <p:cNvPr id="23" name="marker"/>
          <p:cNvSpPr/>
          <p:nvPr/>
        </p:nvSpPr>
        <p:spPr>
          <a:xfrm>
            <a:off x="8503920" y="3785616"/>
            <a:ext cx="310896" cy="310896"/>
          </a:xfrm>
          <a:prstGeom prst="rect">
            <a:avLst/>
          </a:prstGeom>
          <a:solidFill>
            <a:srgbClr val="C4403F"/>
          </a:solidFill>
          <a:ln/>
        </p:spPr>
      </p:sp>
      <p:sp>
        <p:nvSpPr>
          <p:cNvPr id="24" name="Text 20"/>
          <p:cNvSpPr txBox="1"/>
          <p:nvPr/>
        </p:nvSpPr>
        <p:spPr>
          <a:xfrm>
            <a:off x="8503920" y="3785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25" name="Text 21"/>
          <p:cNvSpPr txBox="1"/>
          <p:nvPr/>
        </p:nvSpPr>
        <p:spPr>
          <a:xfrm>
            <a:off x="8961120" y="3758184"/>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Alert stack</a:t>
            </a:r>
            <a:endParaRPr lang="en-US" sz="1600" dirty="0"/>
          </a:p>
        </p:txBody>
      </p:sp>
      <p:sp>
        <p:nvSpPr>
          <p:cNvPr id="26" name="Text 22"/>
          <p:cNvSpPr txBox="1"/>
          <p:nvPr/>
        </p:nvSpPr>
        <p:spPr>
          <a:xfrm>
            <a:off x="8961120" y="4123944"/>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Every CRITICAL stays on screen with its headline and ATT&amp;CK chain.</a:t>
            </a:r>
            <a:endParaRPr lang="en-US" sz="1200" dirty="0"/>
          </a:p>
        </p:txBody>
      </p:sp>
      <p:sp>
        <p:nvSpPr>
          <p:cNvPr id="27" name="marker"/>
          <p:cNvSpPr/>
          <p:nvPr/>
        </p:nvSpPr>
        <p:spPr>
          <a:xfrm>
            <a:off x="8503920" y="4864608"/>
            <a:ext cx="310896" cy="310896"/>
          </a:xfrm>
          <a:prstGeom prst="rect">
            <a:avLst/>
          </a:prstGeom>
          <a:solidFill>
            <a:srgbClr val="C4403F"/>
          </a:solidFill>
          <a:ln/>
        </p:spPr>
      </p:sp>
      <p:sp>
        <p:nvSpPr>
          <p:cNvPr id="28" name="Text 24"/>
          <p:cNvSpPr txBox="1"/>
          <p:nvPr/>
        </p:nvSpPr>
        <p:spPr>
          <a:xfrm>
            <a:off x="8503920" y="48646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29" name="Text 25"/>
          <p:cNvSpPr txBox="1"/>
          <p:nvPr/>
        </p:nvSpPr>
        <p:spPr>
          <a:xfrm>
            <a:off x="8961120" y="4837176"/>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Packets per second</a:t>
            </a:r>
            <a:endParaRPr lang="en-US" sz="1600" dirty="0"/>
          </a:p>
        </p:txBody>
      </p:sp>
      <p:sp>
        <p:nvSpPr>
          <p:cNvPr id="30" name="Text 26"/>
          <p:cNvSpPr txBox="1"/>
          <p:nvPr/>
        </p:nvSpPr>
        <p:spPr>
          <a:xfrm>
            <a:off x="8961120" y="5202936"/>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The last 60 seconds, so a burst stands out.</a:t>
            </a:r>
            <a:endParaRPr lang="en-US" sz="1200" dirty="0"/>
          </a:p>
        </p:txBody>
      </p:sp>
      <p:sp>
        <p:nvSpPr>
          <p:cNvPr id="31" name="Text 27"/>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4D5762"/>
                </a:solidFill>
                <a:latin typeface="Courier New" pitchFamily="34" charset="0"/>
                <a:ea typeface="Courier New" pitchFamily="34" charset="-122"/>
                <a:cs typeface="Courier New" pitchFamily="34" charset="-120"/>
              </a:rPr>
              <a:t>Listens on 127.0.0.1 only. Token needed once. Strict content-security policy.</a:t>
            </a:r>
            <a:endParaRPr lang="en-US" sz="11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permanent history you can search, export and clean up</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05  /  THE HISTORY</a:t>
            </a:r>
            <a:endParaRPr lang="en-US" sz="1100" dirty="0"/>
          </a:p>
        </p:txBody>
      </p:sp>
      <p:sp>
        <p:nvSpPr>
          <p:cNvPr id="5" name="frame"/>
          <p:cNvSpPr/>
          <p:nvPr/>
        </p:nvSpPr>
        <p:spPr>
          <a:xfrm>
            <a:off x="502920" y="1554480"/>
            <a:ext cx="7680960" cy="4202430"/>
          </a:xfrm>
          <a:prstGeom prst="rect">
            <a:avLst/>
          </a:prstGeom>
          <a:solidFill>
            <a:srgbClr val="12161A"/>
          </a:solidFill>
          <a:ln w="12700">
            <a:solidFill>
              <a:srgbClr val="2F3943"/>
            </a:solidFill>
            <a:prstDash val="solid"/>
          </a:ln>
        </p:spPr>
      </p:sp>
      <p:pic>
        <p:nvPicPr>
          <p:cNvPr id="6" name="Image 0" descr="History tab with four CRITICAL detections and the detail pane open on a beaconing alert">    </p:cNvPr>
          <p:cNvPicPr>
            <a:picLocks noChangeAspect="1"/>
          </p:cNvPicPr>
          <p:nvPr/>
        </p:nvPicPr>
        <p:blipFill>
          <a:blip r:embed="rId1"/>
          <a:stretch>
            <a:fillRect/>
          </a:stretch>
        </p:blipFill>
        <p:spPr>
          <a:xfrm>
            <a:off x="548640" y="1600200"/>
            <a:ext cx="7589520" cy="4110990"/>
          </a:xfrm>
          <a:prstGeom prst="rect">
            <a:avLst/>
          </a:prstGeom>
        </p:spPr>
      </p:pic>
      <p:sp>
        <p:nvSpPr>
          <p:cNvPr id="7" name="rule"/>
          <p:cNvSpPr/>
          <p:nvPr/>
        </p:nvSpPr>
        <p:spPr>
          <a:xfrm>
            <a:off x="8549640" y="1554480"/>
            <a:ext cx="0" cy="731520"/>
          </a:xfrm>
          <a:prstGeom prst="line">
            <a:avLst/>
          </a:prstGeom>
          <a:noFill/>
          <a:ln w="25400">
            <a:solidFill>
              <a:srgbClr val="C4403F"/>
            </a:solidFill>
            <a:prstDash val="solid"/>
          </a:ln>
        </p:spPr>
      </p:sp>
      <p:sp>
        <p:nvSpPr>
          <p:cNvPr id="8" name="Text 4"/>
          <p:cNvSpPr txBox="1"/>
          <p:nvPr/>
        </p:nvSpPr>
        <p:spPr>
          <a:xfrm>
            <a:off x="8778240" y="1554480"/>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Survives restarts</a:t>
            </a:r>
            <a:endParaRPr lang="en-US" sz="1500" dirty="0"/>
          </a:p>
        </p:txBody>
      </p:sp>
      <p:sp>
        <p:nvSpPr>
          <p:cNvPr id="9" name="Text 5"/>
          <p:cNvSpPr txBox="1"/>
          <p:nvPr/>
        </p:nvSpPr>
        <p:spPr>
          <a:xfrm>
            <a:off x="8778240" y="1874520"/>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SQLite in ~/.sentinel. The same history from any folder.</a:t>
            </a:r>
            <a:endParaRPr lang="en-US" sz="1150" dirty="0"/>
          </a:p>
        </p:txBody>
      </p:sp>
      <p:sp>
        <p:nvSpPr>
          <p:cNvPr id="10" name="rule"/>
          <p:cNvSpPr/>
          <p:nvPr/>
        </p:nvSpPr>
        <p:spPr>
          <a:xfrm>
            <a:off x="8549640" y="2450592"/>
            <a:ext cx="0" cy="731520"/>
          </a:xfrm>
          <a:prstGeom prst="line">
            <a:avLst/>
          </a:prstGeom>
          <a:noFill/>
          <a:ln w="25400">
            <a:solidFill>
              <a:srgbClr val="C4403F"/>
            </a:solidFill>
            <a:prstDash val="solid"/>
          </a:ln>
        </p:spPr>
      </p:sp>
      <p:sp>
        <p:nvSpPr>
          <p:cNvPr id="11" name="Text 7"/>
          <p:cNvSpPr txBox="1"/>
          <p:nvPr/>
        </p:nvSpPr>
        <p:spPr>
          <a:xfrm>
            <a:off x="8778240" y="2450592"/>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Find anything</a:t>
            </a:r>
            <a:endParaRPr lang="en-US" sz="1500" dirty="0"/>
          </a:p>
        </p:txBody>
      </p:sp>
      <p:sp>
        <p:nvSpPr>
          <p:cNvPr id="12" name="Text 8"/>
          <p:cNvSpPr txBox="1"/>
          <p:nvPr/>
        </p:nvSpPr>
        <p:spPr>
          <a:xfrm>
            <a:off x="8778240" y="2770632"/>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Filter by severity, time, source. Search headline, IP, technique or incident.</a:t>
            </a:r>
            <a:endParaRPr lang="en-US" sz="1150" dirty="0"/>
          </a:p>
        </p:txBody>
      </p:sp>
      <p:sp>
        <p:nvSpPr>
          <p:cNvPr id="13" name="rule"/>
          <p:cNvSpPr/>
          <p:nvPr/>
        </p:nvSpPr>
        <p:spPr>
          <a:xfrm>
            <a:off x="8549640" y="3346704"/>
            <a:ext cx="0" cy="731520"/>
          </a:xfrm>
          <a:prstGeom prst="line">
            <a:avLst/>
          </a:prstGeom>
          <a:noFill/>
          <a:ln w="25400">
            <a:solidFill>
              <a:srgbClr val="C4403F"/>
            </a:solidFill>
            <a:prstDash val="solid"/>
          </a:ln>
        </p:spPr>
      </p:sp>
      <p:sp>
        <p:nvSpPr>
          <p:cNvPr id="14" name="Text 10"/>
          <p:cNvSpPr txBox="1"/>
          <p:nvPr/>
        </p:nvSpPr>
        <p:spPr>
          <a:xfrm>
            <a:off x="8778240" y="3346704"/>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See why</a:t>
            </a:r>
            <a:endParaRPr lang="en-US" sz="1500" dirty="0"/>
          </a:p>
        </p:txBody>
      </p:sp>
      <p:sp>
        <p:nvSpPr>
          <p:cNvPr id="15" name="Text 11"/>
          <p:cNvSpPr txBox="1"/>
          <p:nvPr/>
        </p:nvSpPr>
        <p:spPr>
          <a:xfrm>
            <a:off x="8778240" y="3666744"/>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Plain-English explanation plus the numbers that triggered it.</a:t>
            </a:r>
            <a:endParaRPr lang="en-US" sz="1150" dirty="0"/>
          </a:p>
        </p:txBody>
      </p:sp>
      <p:sp>
        <p:nvSpPr>
          <p:cNvPr id="16" name="rule"/>
          <p:cNvSpPr/>
          <p:nvPr/>
        </p:nvSpPr>
        <p:spPr>
          <a:xfrm>
            <a:off x="8549640" y="4242816"/>
            <a:ext cx="0" cy="731520"/>
          </a:xfrm>
          <a:prstGeom prst="line">
            <a:avLst/>
          </a:prstGeom>
          <a:noFill/>
          <a:ln w="25400">
            <a:solidFill>
              <a:srgbClr val="C4403F"/>
            </a:solidFill>
            <a:prstDash val="solid"/>
          </a:ln>
        </p:spPr>
      </p:sp>
      <p:sp>
        <p:nvSpPr>
          <p:cNvPr id="17" name="Text 13"/>
          <p:cNvSpPr txBox="1"/>
          <p:nvPr/>
        </p:nvSpPr>
        <p:spPr>
          <a:xfrm>
            <a:off x="8778240" y="4242816"/>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Take it with you</a:t>
            </a:r>
            <a:endParaRPr lang="en-US" sz="1500" dirty="0"/>
          </a:p>
        </p:txBody>
      </p:sp>
      <p:sp>
        <p:nvSpPr>
          <p:cNvPr id="18" name="Text 14"/>
          <p:cNvSpPr txBox="1"/>
          <p:nvPr/>
        </p:nvSpPr>
        <p:spPr>
          <a:xfrm>
            <a:off x="8778240" y="4562856"/>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CSV export, or sentinel history --json for scripts.</a:t>
            </a:r>
            <a:endParaRPr lang="en-US" sz="1150" dirty="0"/>
          </a:p>
        </p:txBody>
      </p:sp>
      <p:sp>
        <p:nvSpPr>
          <p:cNvPr id="19" name="rule"/>
          <p:cNvSpPr/>
          <p:nvPr/>
        </p:nvSpPr>
        <p:spPr>
          <a:xfrm>
            <a:off x="8549640" y="5138928"/>
            <a:ext cx="0" cy="731520"/>
          </a:xfrm>
          <a:prstGeom prst="line">
            <a:avLst/>
          </a:prstGeom>
          <a:noFill/>
          <a:ln w="25400">
            <a:solidFill>
              <a:srgbClr val="C4403F"/>
            </a:solidFill>
            <a:prstDash val="solid"/>
          </a:ln>
        </p:spPr>
      </p:sp>
      <p:sp>
        <p:nvSpPr>
          <p:cNvPr id="20" name="Text 16"/>
          <p:cNvSpPr txBox="1"/>
          <p:nvPr/>
        </p:nvSpPr>
        <p:spPr>
          <a:xfrm>
            <a:off x="8778240" y="5138928"/>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Stay in control</a:t>
            </a:r>
            <a:endParaRPr lang="en-US" sz="1500" dirty="0"/>
          </a:p>
        </p:txBody>
      </p:sp>
      <p:sp>
        <p:nvSpPr>
          <p:cNvPr id="21" name="Text 17"/>
          <p:cNvSpPr txBox="1"/>
          <p:nvPr/>
        </p:nvSpPr>
        <p:spPr>
          <a:xfrm>
            <a:off x="8778240" y="5458968"/>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Delete chosen entries; every deletion is audited.</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Fast attacks and slow ones: three clocks, not one</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06  /  MULTI-TIMESCALE WINDOWS</a:t>
            </a:r>
            <a:endParaRPr lang="en-US" sz="1100" dirty="0"/>
          </a:p>
        </p:txBody>
      </p:sp>
      <p:sp>
        <p:nvSpPr>
          <p:cNvPr id="5" name="Text 2"/>
          <p:cNvSpPr txBox="1"/>
          <p:nvPr/>
        </p:nvSpPr>
        <p:spPr>
          <a:xfrm>
            <a:off x="548640" y="1645920"/>
            <a:ext cx="10972800" cy="274320"/>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SLOWEST PORT SCAN EACH CLOCK STILL CATCHES  (default thresholds, probes per minute)</a:t>
            </a:r>
            <a:endParaRPr lang="en-US" sz="1100" dirty="0"/>
          </a:p>
        </p:txBody>
      </p:sp>
      <p:sp>
        <p:nvSpPr>
          <p:cNvPr id="6" name="Text 3"/>
          <p:cNvSpPr txBox="1"/>
          <p:nvPr/>
        </p:nvSpPr>
        <p:spPr>
          <a:xfrm>
            <a:off x="548640" y="214884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10 s window</a:t>
            </a:r>
            <a:endParaRPr lang="en-US" sz="1800" dirty="0"/>
          </a:p>
        </p:txBody>
      </p:sp>
      <p:sp>
        <p:nvSpPr>
          <p:cNvPr id="7" name="Text 4"/>
          <p:cNvSpPr txBox="1"/>
          <p:nvPr/>
        </p:nvSpPr>
        <p:spPr>
          <a:xfrm>
            <a:off x="548640" y="253288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20 ports in 10 s</a:t>
            </a:r>
            <a:endParaRPr lang="en-US" sz="1100" dirty="0"/>
          </a:p>
        </p:txBody>
      </p:sp>
      <p:sp>
        <p:nvSpPr>
          <p:cNvPr id="8" name="track"/>
          <p:cNvSpPr/>
          <p:nvPr/>
        </p:nvSpPr>
        <p:spPr>
          <a:xfrm>
            <a:off x="2926080" y="2194560"/>
            <a:ext cx="6766560" cy="566928"/>
          </a:xfrm>
          <a:prstGeom prst="rect">
            <a:avLst/>
          </a:prstGeom>
          <a:solidFill>
            <a:srgbClr val="12161A"/>
          </a:solidFill>
          <a:ln w="12700">
            <a:solidFill>
              <a:srgbClr val="232A31"/>
            </a:solidFill>
            <a:prstDash val="solid"/>
          </a:ln>
        </p:spPr>
      </p:sp>
      <p:sp>
        <p:nvSpPr>
          <p:cNvPr id="9" name="bar"/>
          <p:cNvSpPr/>
          <p:nvPr/>
        </p:nvSpPr>
        <p:spPr>
          <a:xfrm>
            <a:off x="2926080" y="2194560"/>
            <a:ext cx="6766560" cy="566928"/>
          </a:xfrm>
          <a:prstGeom prst="rect">
            <a:avLst/>
          </a:prstGeom>
          <a:solidFill>
            <a:srgbClr val="C4403F"/>
          </a:solidFill>
          <a:ln/>
        </p:spPr>
      </p:sp>
      <p:sp>
        <p:nvSpPr>
          <p:cNvPr id="10" name="Text 7"/>
          <p:cNvSpPr txBox="1"/>
          <p:nvPr/>
        </p:nvSpPr>
        <p:spPr>
          <a:xfrm>
            <a:off x="9829800" y="219456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120 / min</a:t>
            </a:r>
            <a:endParaRPr lang="en-US" sz="1600" dirty="0"/>
          </a:p>
        </p:txBody>
      </p:sp>
      <p:sp>
        <p:nvSpPr>
          <p:cNvPr id="11" name="Text 8"/>
          <p:cNvSpPr txBox="1"/>
          <p:nvPr/>
        </p:nvSpPr>
        <p:spPr>
          <a:xfrm>
            <a:off x="2926080" y="280720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fast scan: CRITICAL in the live test</a:t>
            </a:r>
            <a:endParaRPr lang="en-US" sz="1200" dirty="0"/>
          </a:p>
        </p:txBody>
      </p:sp>
      <p:sp>
        <p:nvSpPr>
          <p:cNvPr id="12" name="Text 9"/>
          <p:cNvSpPr txBox="1"/>
          <p:nvPr/>
        </p:nvSpPr>
        <p:spPr>
          <a:xfrm>
            <a:off x="548640" y="333756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5 min window</a:t>
            </a:r>
            <a:endParaRPr lang="en-US" sz="1800" dirty="0"/>
          </a:p>
        </p:txBody>
      </p:sp>
      <p:sp>
        <p:nvSpPr>
          <p:cNvPr id="13" name="Text 10"/>
          <p:cNvSpPr txBox="1"/>
          <p:nvPr/>
        </p:nvSpPr>
        <p:spPr>
          <a:xfrm>
            <a:off x="548640" y="372160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15 ports in 5 min</a:t>
            </a:r>
            <a:endParaRPr lang="en-US" sz="1100" dirty="0"/>
          </a:p>
        </p:txBody>
      </p:sp>
      <p:sp>
        <p:nvSpPr>
          <p:cNvPr id="14" name="track"/>
          <p:cNvSpPr/>
          <p:nvPr/>
        </p:nvSpPr>
        <p:spPr>
          <a:xfrm>
            <a:off x="2926080" y="3383280"/>
            <a:ext cx="6766560" cy="566928"/>
          </a:xfrm>
          <a:prstGeom prst="rect">
            <a:avLst/>
          </a:prstGeom>
          <a:solidFill>
            <a:srgbClr val="12161A"/>
          </a:solidFill>
          <a:ln w="12700">
            <a:solidFill>
              <a:srgbClr val="232A31"/>
            </a:solidFill>
            <a:prstDash val="solid"/>
          </a:ln>
        </p:spPr>
      </p:sp>
      <p:sp>
        <p:nvSpPr>
          <p:cNvPr id="15" name="bar"/>
          <p:cNvSpPr/>
          <p:nvPr/>
        </p:nvSpPr>
        <p:spPr>
          <a:xfrm>
            <a:off x="2926080" y="3383280"/>
            <a:ext cx="1069887" cy="566928"/>
          </a:xfrm>
          <a:prstGeom prst="rect">
            <a:avLst/>
          </a:prstGeom>
          <a:solidFill>
            <a:srgbClr val="C9702D"/>
          </a:solidFill>
          <a:ln/>
        </p:spPr>
      </p:sp>
      <p:sp>
        <p:nvSpPr>
          <p:cNvPr id="16" name="Text 13"/>
          <p:cNvSpPr txBox="1"/>
          <p:nvPr/>
        </p:nvSpPr>
        <p:spPr>
          <a:xfrm>
            <a:off x="4133127" y="338328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3 / min</a:t>
            </a:r>
            <a:endParaRPr lang="en-US" sz="1600" dirty="0"/>
          </a:p>
        </p:txBody>
      </p:sp>
      <p:sp>
        <p:nvSpPr>
          <p:cNvPr id="17" name="Text 14"/>
          <p:cNvSpPr txBox="1"/>
          <p:nvPr/>
        </p:nvSpPr>
        <p:spPr>
          <a:xfrm>
            <a:off x="2926080" y="399592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slow scan, 1 probe/s: HIGH in the live test</a:t>
            </a:r>
            <a:endParaRPr lang="en-US" sz="1200" dirty="0"/>
          </a:p>
        </p:txBody>
      </p:sp>
      <p:sp>
        <p:nvSpPr>
          <p:cNvPr id="18" name="Text 15"/>
          <p:cNvSpPr txBox="1"/>
          <p:nvPr/>
        </p:nvSpPr>
        <p:spPr>
          <a:xfrm>
            <a:off x="548640" y="452628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1 hour window</a:t>
            </a:r>
            <a:endParaRPr lang="en-US" sz="1800" dirty="0"/>
          </a:p>
        </p:txBody>
      </p:sp>
      <p:sp>
        <p:nvSpPr>
          <p:cNvPr id="19" name="Text 16"/>
          <p:cNvSpPr txBox="1"/>
          <p:nvPr/>
        </p:nvSpPr>
        <p:spPr>
          <a:xfrm>
            <a:off x="548640" y="491032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60 ports in 1 hour</a:t>
            </a:r>
            <a:endParaRPr lang="en-US" sz="1100" dirty="0"/>
          </a:p>
        </p:txBody>
      </p:sp>
      <p:sp>
        <p:nvSpPr>
          <p:cNvPr id="20" name="track"/>
          <p:cNvSpPr/>
          <p:nvPr/>
        </p:nvSpPr>
        <p:spPr>
          <a:xfrm>
            <a:off x="2926080" y="4572000"/>
            <a:ext cx="6766560" cy="566928"/>
          </a:xfrm>
          <a:prstGeom prst="rect">
            <a:avLst/>
          </a:prstGeom>
          <a:solidFill>
            <a:srgbClr val="12161A"/>
          </a:solidFill>
          <a:ln w="12700">
            <a:solidFill>
              <a:srgbClr val="232A31"/>
            </a:solidFill>
            <a:prstDash val="solid"/>
          </a:ln>
        </p:spPr>
      </p:sp>
      <p:sp>
        <p:nvSpPr>
          <p:cNvPr id="21" name="bar"/>
          <p:cNvSpPr/>
          <p:nvPr/>
        </p:nvSpPr>
        <p:spPr>
          <a:xfrm>
            <a:off x="2926080" y="4572000"/>
            <a:ext cx="617700" cy="566928"/>
          </a:xfrm>
          <a:prstGeom prst="rect">
            <a:avLst/>
          </a:prstGeom>
          <a:solidFill>
            <a:srgbClr val="B8993B"/>
          </a:solidFill>
          <a:ln/>
        </p:spPr>
      </p:sp>
      <p:sp>
        <p:nvSpPr>
          <p:cNvPr id="22" name="Text 19"/>
          <p:cNvSpPr txBox="1"/>
          <p:nvPr/>
        </p:nvSpPr>
        <p:spPr>
          <a:xfrm>
            <a:off x="3680940" y="457200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1 / min</a:t>
            </a:r>
            <a:endParaRPr lang="en-US" sz="1600" dirty="0"/>
          </a:p>
        </p:txBody>
      </p:sp>
      <p:sp>
        <p:nvSpPr>
          <p:cNvPr id="23" name="Text 20"/>
          <p:cNvSpPr txBox="1"/>
          <p:nvPr/>
        </p:nvSpPr>
        <p:spPr>
          <a:xfrm>
            <a:off x="2926080" y="518464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low-and-slow: one probe a minute</a:t>
            </a:r>
            <a:endParaRPr lang="en-US" sz="1200" dirty="0"/>
          </a:p>
        </p:txBody>
      </p:sp>
      <p:sp>
        <p:nvSpPr>
          <p:cNvPr id="24" name="Text 21"/>
          <p:cNvSpPr txBox="1"/>
          <p:nvPr/>
        </p:nvSpPr>
        <p:spPr>
          <a:xfrm>
            <a:off x="548640" y="5669280"/>
            <a:ext cx="5486400" cy="228600"/>
          </a:xfrm>
          <a:prstGeom prst="rect">
            <a:avLst/>
          </a:prstGeom>
          <a:noFill/>
          <a:ln/>
        </p:spPr>
        <p:txBody>
          <a:bodyPr wrap="square" lIns="0" tIns="0" rIns="0" bIns="0" rtlCol="0" anchor="ctr"/>
          <a:lstStyle/>
          <a:p>
            <a:pPr indent="0" marL="0">
              <a:buNone/>
            </a:pPr>
            <a:r>
              <a:rPr lang="en-US" sz="900" dirty="0">
                <a:solidFill>
                  <a:srgbClr val="4D5762"/>
                </a:solidFill>
                <a:latin typeface="Courier New" pitchFamily="34" charset="0"/>
                <a:ea typeface="Courier New" pitchFamily="34" charset="-122"/>
                <a:cs typeface="Courier New" pitchFamily="34" charset="-120"/>
              </a:rPr>
              <a:t>bar length uses a square-root scale</a:t>
            </a:r>
            <a:endParaRPr lang="en-US" sz="900" dirty="0"/>
          </a:p>
        </p:txBody>
      </p:sp>
      <p:sp>
        <p:nvSpPr>
          <p:cNvPr id="25" name="callout"/>
          <p:cNvSpPr/>
          <p:nvPr/>
        </p:nvSpPr>
        <p:spPr>
          <a:xfrm>
            <a:off x="548640" y="5897880"/>
            <a:ext cx="11109960" cy="457200"/>
          </a:xfrm>
          <a:prstGeom prst="rect">
            <a:avLst/>
          </a:prstGeom>
          <a:solidFill>
            <a:srgbClr val="181D22"/>
          </a:solidFill>
          <a:ln w="12700">
            <a:solidFill>
              <a:srgbClr val="2F3943"/>
            </a:solidFill>
            <a:prstDash val="solid"/>
          </a:ln>
        </p:spPr>
      </p:sp>
      <p:sp>
        <p:nvSpPr>
          <p:cNvPr id="26" name="Text 23"/>
          <p:cNvSpPr txBox="1"/>
          <p:nvPr/>
        </p:nvSpPr>
        <p:spPr>
          <a:xfrm>
            <a:off x="777240" y="5897880"/>
            <a:ext cx="10698480" cy="457200"/>
          </a:xfrm>
          <a:prstGeom prst="rect">
            <a:avLst/>
          </a:prstGeom>
          <a:noFill/>
          <a:ln/>
        </p:spPr>
        <p:txBody>
          <a:bodyPr wrap="square" lIns="0" tIns="0" rIns="0" bIns="0" rtlCol="0" anchor="ctr"/>
          <a:lstStyle/>
          <a:p>
            <a:pPr indent="0" marL="0">
              <a:buNone/>
            </a:pPr>
            <a:r>
              <a:rPr lang="en-US" sz="1400" dirty="0">
                <a:solidFill>
                  <a:srgbClr val="E6EAEE"/>
                </a:solidFill>
                <a:latin typeface="Calibri" pitchFamily="34" charset="0"/>
                <a:ea typeface="Calibri" pitchFamily="34" charset="-122"/>
                <a:cs typeface="Calibri" pitchFamily="34" charset="-120"/>
              </a:rPr>
              <a:t>One short window sees only the fast attacker. Three clocks also catch the patient one.</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Two statistical models catch what the rules miss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07  /  STATISTICAL DETECTORS</a:t>
            </a:r>
            <a:endParaRPr lang="en-US" sz="1100" dirty="0"/>
          </a:p>
        </p:txBody>
      </p:sp>
      <p:sp>
        <p:nvSpPr>
          <p:cNvPr id="5" name="panel-head"/>
          <p:cNvSpPr/>
          <p:nvPr/>
        </p:nvSpPr>
        <p:spPr>
          <a:xfrm>
            <a:off x="548640" y="1600200"/>
            <a:ext cx="5440680" cy="365760"/>
          </a:xfrm>
          <a:prstGeom prst="rect">
            <a:avLst/>
          </a:prstGeom>
          <a:solidFill>
            <a:srgbClr val="0A0C0F"/>
          </a:solidFill>
          <a:ln w="12700">
            <a:solidFill>
              <a:srgbClr val="232A31"/>
            </a:solidFill>
            <a:prstDash val="solid"/>
          </a:ln>
        </p:spPr>
      </p:sp>
      <p:sp>
        <p:nvSpPr>
          <p:cNvPr id="6" name="Text 3"/>
          <p:cNvSpPr txBox="1"/>
          <p:nvPr/>
        </p:nvSpPr>
        <p:spPr>
          <a:xfrm>
            <a:off x="685800" y="1673352"/>
            <a:ext cx="51663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DNS N-GRAM  /  HOW RANDOM DOES A NAME LOOK?</a:t>
            </a:r>
            <a:endParaRPr lang="en-US" sz="1000" dirty="0"/>
          </a:p>
        </p:txBody>
      </p:sp>
      <p:sp>
        <p:nvSpPr>
          <p:cNvPr id="7" name="panel"/>
          <p:cNvSpPr/>
          <p:nvPr/>
        </p:nvSpPr>
        <p:spPr>
          <a:xfrm>
            <a:off x="548640" y="1965960"/>
            <a:ext cx="5440680" cy="3246120"/>
          </a:xfrm>
          <a:prstGeom prst="rect">
            <a:avLst/>
          </a:prstGeom>
          <a:solidFill>
            <a:srgbClr val="12161A"/>
          </a:solidFill>
          <a:ln w="12700">
            <a:solidFill>
              <a:srgbClr val="232A31"/>
            </a:solidFill>
            <a:prstDash val="solid"/>
          </a:ln>
        </p:spPr>
      </p:sp>
      <p:sp>
        <p:nvSpPr>
          <p:cNvPr id="8" name="Text 5"/>
          <p:cNvSpPr txBox="1"/>
          <p:nvPr/>
        </p:nvSpPr>
        <p:spPr>
          <a:xfrm>
            <a:off x="914400" y="2103120"/>
            <a:ext cx="4663440" cy="2286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average bits per character (higher = more random)</a:t>
            </a:r>
            <a:endParaRPr lang="en-US" sz="1000" dirty="0"/>
          </a:p>
        </p:txBody>
      </p:sp>
      <p:sp>
        <p:nvSpPr>
          <p:cNvPr id="9" name="rule"/>
          <p:cNvSpPr/>
          <p:nvPr/>
        </p:nvSpPr>
        <p:spPr>
          <a:xfrm>
            <a:off x="914400" y="3703320"/>
            <a:ext cx="4663440" cy="0"/>
          </a:xfrm>
          <a:prstGeom prst="line">
            <a:avLst/>
          </a:prstGeom>
          <a:noFill/>
          <a:ln w="12700">
            <a:solidFill>
              <a:srgbClr val="2F3943"/>
            </a:solidFill>
            <a:prstDash val="solid"/>
          </a:ln>
        </p:spPr>
      </p:sp>
      <p:sp>
        <p:nvSpPr>
          <p:cNvPr id="10" name="Text 7"/>
          <p:cNvSpPr txBox="1"/>
          <p:nvPr/>
        </p:nvSpPr>
        <p:spPr>
          <a:xfrm>
            <a:off x="77724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2</a:t>
            </a:r>
            <a:endParaRPr lang="en-US" sz="1000" dirty="0"/>
          </a:p>
        </p:txBody>
      </p:sp>
      <p:sp>
        <p:nvSpPr>
          <p:cNvPr id="11" name="rule"/>
          <p:cNvSpPr/>
          <p:nvPr/>
        </p:nvSpPr>
        <p:spPr>
          <a:xfrm>
            <a:off x="914400" y="3639312"/>
            <a:ext cx="0" cy="64008"/>
          </a:xfrm>
          <a:prstGeom prst="line">
            <a:avLst/>
          </a:prstGeom>
          <a:noFill/>
          <a:ln w="12700">
            <a:solidFill>
              <a:srgbClr val="2F3943"/>
            </a:solidFill>
            <a:prstDash val="solid"/>
          </a:ln>
        </p:spPr>
      </p:sp>
      <p:sp>
        <p:nvSpPr>
          <p:cNvPr id="12" name="Text 9"/>
          <p:cNvSpPr txBox="1"/>
          <p:nvPr/>
        </p:nvSpPr>
        <p:spPr>
          <a:xfrm>
            <a:off x="181356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3</a:t>
            </a:r>
            <a:endParaRPr lang="en-US" sz="1000" dirty="0"/>
          </a:p>
        </p:txBody>
      </p:sp>
      <p:sp>
        <p:nvSpPr>
          <p:cNvPr id="13" name="rule"/>
          <p:cNvSpPr/>
          <p:nvPr/>
        </p:nvSpPr>
        <p:spPr>
          <a:xfrm>
            <a:off x="1950720" y="3639312"/>
            <a:ext cx="0" cy="64008"/>
          </a:xfrm>
          <a:prstGeom prst="line">
            <a:avLst/>
          </a:prstGeom>
          <a:noFill/>
          <a:ln w="12700">
            <a:solidFill>
              <a:srgbClr val="2F3943"/>
            </a:solidFill>
            <a:prstDash val="solid"/>
          </a:ln>
        </p:spPr>
      </p:sp>
      <p:sp>
        <p:nvSpPr>
          <p:cNvPr id="14" name="Text 11"/>
          <p:cNvSpPr txBox="1"/>
          <p:nvPr/>
        </p:nvSpPr>
        <p:spPr>
          <a:xfrm>
            <a:off x="284988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4</a:t>
            </a:r>
            <a:endParaRPr lang="en-US" sz="1000" dirty="0"/>
          </a:p>
        </p:txBody>
      </p:sp>
      <p:sp>
        <p:nvSpPr>
          <p:cNvPr id="15" name="rule"/>
          <p:cNvSpPr/>
          <p:nvPr/>
        </p:nvSpPr>
        <p:spPr>
          <a:xfrm>
            <a:off x="2987040" y="3639312"/>
            <a:ext cx="0" cy="64008"/>
          </a:xfrm>
          <a:prstGeom prst="line">
            <a:avLst/>
          </a:prstGeom>
          <a:noFill/>
          <a:ln w="12700">
            <a:solidFill>
              <a:srgbClr val="2F3943"/>
            </a:solidFill>
            <a:prstDash val="solid"/>
          </a:ln>
        </p:spPr>
      </p:sp>
      <p:sp>
        <p:nvSpPr>
          <p:cNvPr id="16" name="Text 13"/>
          <p:cNvSpPr txBox="1"/>
          <p:nvPr/>
        </p:nvSpPr>
        <p:spPr>
          <a:xfrm>
            <a:off x="388620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5</a:t>
            </a:r>
            <a:endParaRPr lang="en-US" sz="1000" dirty="0"/>
          </a:p>
        </p:txBody>
      </p:sp>
      <p:sp>
        <p:nvSpPr>
          <p:cNvPr id="17" name="rule"/>
          <p:cNvSpPr/>
          <p:nvPr/>
        </p:nvSpPr>
        <p:spPr>
          <a:xfrm>
            <a:off x="4023360" y="3639312"/>
            <a:ext cx="0" cy="64008"/>
          </a:xfrm>
          <a:prstGeom prst="line">
            <a:avLst/>
          </a:prstGeom>
          <a:noFill/>
          <a:ln w="12700">
            <a:solidFill>
              <a:srgbClr val="2F3943"/>
            </a:solidFill>
            <a:prstDash val="solid"/>
          </a:ln>
        </p:spPr>
      </p:sp>
      <p:sp>
        <p:nvSpPr>
          <p:cNvPr id="18" name="Text 15"/>
          <p:cNvSpPr txBox="1"/>
          <p:nvPr/>
        </p:nvSpPr>
        <p:spPr>
          <a:xfrm>
            <a:off x="492252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6</a:t>
            </a:r>
            <a:endParaRPr lang="en-US" sz="1000" dirty="0"/>
          </a:p>
        </p:txBody>
      </p:sp>
      <p:sp>
        <p:nvSpPr>
          <p:cNvPr id="19" name="rule"/>
          <p:cNvSpPr/>
          <p:nvPr/>
        </p:nvSpPr>
        <p:spPr>
          <a:xfrm>
            <a:off x="5059680" y="3639312"/>
            <a:ext cx="0" cy="64008"/>
          </a:xfrm>
          <a:prstGeom prst="line">
            <a:avLst/>
          </a:prstGeom>
          <a:noFill/>
          <a:ln w="12700">
            <a:solidFill>
              <a:srgbClr val="2F3943"/>
            </a:solidFill>
            <a:prstDash val="solid"/>
          </a:ln>
        </p:spPr>
      </p:sp>
      <p:sp>
        <p:nvSpPr>
          <p:cNvPr id="20" name="band-ok"/>
          <p:cNvSpPr/>
          <p:nvPr/>
        </p:nvSpPr>
        <p:spPr>
          <a:xfrm>
            <a:off x="1432560" y="2834640"/>
            <a:ext cx="1036320" cy="640080"/>
          </a:xfrm>
          <a:prstGeom prst="rect">
            <a:avLst/>
          </a:prstGeom>
          <a:solidFill>
            <a:srgbClr val="5A9E84"/>
          </a:solidFill>
          <a:ln/>
        </p:spPr>
      </p:sp>
      <p:sp>
        <p:nvSpPr>
          <p:cNvPr id="21" name="band-bad"/>
          <p:cNvSpPr/>
          <p:nvPr/>
        </p:nvSpPr>
        <p:spPr>
          <a:xfrm>
            <a:off x="4437888" y="2834640"/>
            <a:ext cx="621792" cy="640080"/>
          </a:xfrm>
          <a:prstGeom prst="rect">
            <a:avLst/>
          </a:prstGeom>
          <a:solidFill>
            <a:srgbClr val="C4403F"/>
          </a:solidFill>
          <a:ln/>
        </p:spPr>
      </p:sp>
      <p:sp>
        <p:nvSpPr>
          <p:cNvPr id="22" name="Text 19"/>
          <p:cNvSpPr txBox="1"/>
          <p:nvPr/>
        </p:nvSpPr>
        <p:spPr>
          <a:xfrm>
            <a:off x="1158240" y="2468880"/>
            <a:ext cx="1737360" cy="274320"/>
          </a:xfrm>
          <a:prstGeom prst="rect">
            <a:avLst/>
          </a:prstGeom>
          <a:noFill/>
          <a:ln/>
        </p:spPr>
        <p:txBody>
          <a:bodyPr wrap="square" lIns="0" tIns="0" rIns="0" bIns="0" rtlCol="0" anchor="ctr"/>
          <a:lstStyle/>
          <a:p>
            <a:pPr indent="0" marL="0">
              <a:buNone/>
            </a:pPr>
            <a:r>
              <a:rPr lang="en-US" sz="1200" b="1" dirty="0">
                <a:solidFill>
                  <a:srgbClr val="5A9E84"/>
                </a:solidFill>
                <a:latin typeface="Calibri" pitchFamily="34" charset="0"/>
                <a:ea typeface="Calibri" pitchFamily="34" charset="-122"/>
                <a:cs typeface="Calibri" pitchFamily="34" charset="-120"/>
              </a:rPr>
              <a:t>ordinary names</a:t>
            </a:r>
            <a:endParaRPr lang="en-US" sz="1200" dirty="0"/>
          </a:p>
        </p:txBody>
      </p:sp>
      <p:sp>
        <p:nvSpPr>
          <p:cNvPr id="23" name="Text 20"/>
          <p:cNvSpPr txBox="1"/>
          <p:nvPr/>
        </p:nvSpPr>
        <p:spPr>
          <a:xfrm>
            <a:off x="4392168" y="2468880"/>
            <a:ext cx="1371600" cy="274320"/>
          </a:xfrm>
          <a:prstGeom prst="rect">
            <a:avLst/>
          </a:prstGeom>
          <a:noFill/>
          <a:ln/>
        </p:spPr>
        <p:txBody>
          <a:bodyPr wrap="square" lIns="0" tIns="0" rIns="0" bIns="0" rtlCol="0" anchor="ctr"/>
          <a:lstStyle/>
          <a:p>
            <a:pPr indent="0" marL="0">
              <a:buNone/>
            </a:pPr>
            <a:r>
              <a:rPr lang="en-US" sz="1200" b="1" dirty="0">
                <a:solidFill>
                  <a:srgbClr val="C4403F"/>
                </a:solidFill>
                <a:latin typeface="Calibri" pitchFamily="34" charset="0"/>
                <a:ea typeface="Calibri" pitchFamily="34" charset="-122"/>
                <a:cs typeface="Calibri" pitchFamily="34" charset="-120"/>
              </a:rPr>
              <a:t>random names</a:t>
            </a:r>
            <a:endParaRPr lang="en-US" sz="1200" dirty="0"/>
          </a:p>
        </p:txBody>
      </p:sp>
      <p:sp>
        <p:nvSpPr>
          <p:cNvPr id="24" name="rule"/>
          <p:cNvSpPr/>
          <p:nvPr/>
        </p:nvSpPr>
        <p:spPr>
          <a:xfrm>
            <a:off x="3816096" y="2423160"/>
            <a:ext cx="0" cy="1280160"/>
          </a:xfrm>
          <a:prstGeom prst="line">
            <a:avLst/>
          </a:prstGeom>
          <a:noFill/>
          <a:ln w="25400">
            <a:solidFill>
              <a:srgbClr val="E6EAEE"/>
            </a:solidFill>
            <a:prstDash val="solid"/>
          </a:ln>
        </p:spPr>
      </p:sp>
      <p:sp>
        <p:nvSpPr>
          <p:cNvPr id="25" name="Text 22"/>
          <p:cNvSpPr txBox="1"/>
          <p:nvPr/>
        </p:nvSpPr>
        <p:spPr>
          <a:xfrm>
            <a:off x="3176016" y="4023360"/>
            <a:ext cx="1280160" cy="228600"/>
          </a:xfrm>
          <a:prstGeom prst="rect">
            <a:avLst/>
          </a:prstGeom>
          <a:noFill/>
          <a:ln/>
        </p:spPr>
        <p:txBody>
          <a:bodyPr wrap="square" lIns="0" tIns="0" rIns="0" bIns="0" rtlCol="0" anchor="ctr"/>
          <a:lstStyle/>
          <a:p>
            <a:pPr algn="ctr" indent="0" marL="0">
              <a:buNone/>
            </a:pPr>
            <a:r>
              <a:rPr lang="en-US" sz="1000" dirty="0">
                <a:solidFill>
                  <a:srgbClr val="E6EAEE"/>
                </a:solidFill>
                <a:latin typeface="Courier New" pitchFamily="34" charset="0"/>
                <a:ea typeface="Courier New" pitchFamily="34" charset="-122"/>
                <a:cs typeface="Courier New" pitchFamily="34" charset="-120"/>
              </a:rPr>
              <a:t>threshold 4.8</a:t>
            </a:r>
            <a:endParaRPr lang="en-US" sz="1000" dirty="0"/>
          </a:p>
        </p:txBody>
      </p:sp>
      <p:sp>
        <p:nvSpPr>
          <p:cNvPr id="26" name="rule"/>
          <p:cNvSpPr/>
          <p:nvPr/>
        </p:nvSpPr>
        <p:spPr>
          <a:xfrm>
            <a:off x="4738421" y="2743200"/>
            <a:ext cx="0" cy="822960"/>
          </a:xfrm>
          <a:prstGeom prst="line">
            <a:avLst/>
          </a:prstGeom>
          <a:noFill/>
          <a:ln w="25400">
            <a:solidFill>
              <a:srgbClr val="C9702D"/>
            </a:solidFill>
            <a:prstDash val="solid"/>
          </a:ln>
        </p:spPr>
      </p:sp>
      <p:sp>
        <p:nvSpPr>
          <p:cNvPr id="27" name="Text 24"/>
          <p:cNvSpPr txBox="1"/>
          <p:nvPr/>
        </p:nvSpPr>
        <p:spPr>
          <a:xfrm>
            <a:off x="3641141" y="4343400"/>
            <a:ext cx="1645920" cy="228600"/>
          </a:xfrm>
          <a:prstGeom prst="rect">
            <a:avLst/>
          </a:prstGeom>
          <a:noFill/>
          <a:ln/>
        </p:spPr>
        <p:txBody>
          <a:bodyPr wrap="square" lIns="0" tIns="0" rIns="0" bIns="0" rtlCol="0" anchor="ctr"/>
          <a:lstStyle/>
          <a:p>
            <a:pPr algn="ctr" indent="0" marL="0">
              <a:buNone/>
            </a:pPr>
            <a:r>
              <a:rPr lang="en-US" sz="1000" b="1" dirty="0">
                <a:solidFill>
                  <a:srgbClr val="C9702D"/>
                </a:solidFill>
                <a:latin typeface="Courier New" pitchFamily="34" charset="0"/>
                <a:ea typeface="Courier New" pitchFamily="34" charset="-122"/>
                <a:cs typeface="Courier New" pitchFamily="34" charset="-120"/>
              </a:rPr>
              <a:t>this tunnel: 5.69</a:t>
            </a:r>
            <a:endParaRPr lang="en-US" sz="1000" dirty="0"/>
          </a:p>
        </p:txBody>
      </p:sp>
      <p:sp>
        <p:nvSpPr>
          <p:cNvPr id="28" name="chip"/>
          <p:cNvSpPr/>
          <p:nvPr/>
        </p:nvSpPr>
        <p:spPr>
          <a:xfrm>
            <a:off x="777240" y="4709160"/>
            <a:ext cx="2103120" cy="310896"/>
          </a:xfrm>
          <a:prstGeom prst="rect">
            <a:avLst/>
          </a:prstGeom>
          <a:ln w="12700">
            <a:solidFill>
              <a:srgbClr val="C4403F"/>
            </a:solidFill>
            <a:prstDash val="solid"/>
          </a:ln>
        </p:spPr>
      </p:sp>
      <p:sp>
        <p:nvSpPr>
          <p:cNvPr id="29" name="Text 26"/>
          <p:cNvSpPr txBox="1"/>
          <p:nvPr/>
        </p:nvSpPr>
        <p:spPr>
          <a:xfrm>
            <a:off x="777240" y="4709160"/>
            <a:ext cx="2103120" cy="310896"/>
          </a:xfrm>
          <a:prstGeom prst="rect">
            <a:avLst/>
          </a:prstGeom>
          <a:noFill/>
          <a:ln/>
        </p:spPr>
        <p:txBody>
          <a:bodyPr wrap="square" lIns="0" tIns="0" rIns="0" bIns="0" rtlCol="0" anchor="ctr"/>
          <a:lstStyle/>
          <a:p>
            <a:pPr algn="ctr" indent="0" marL="0">
              <a:buNone/>
            </a:pPr>
            <a:r>
              <a:rPr lang="en-US" sz="1000" b="1" spc="100" kern="0" dirty="0">
                <a:solidFill>
                  <a:srgbClr val="C4403F"/>
                </a:solidFill>
                <a:latin typeface="Courier New" pitchFamily="34" charset="0"/>
                <a:ea typeface="Courier New" pitchFamily="34" charset="-122"/>
                <a:cs typeface="Courier New" pitchFamily="34" charset="-120"/>
              </a:rPr>
              <a:t>RULES ALONE: MISSED</a:t>
            </a:r>
            <a:endParaRPr lang="en-US" sz="1000" dirty="0"/>
          </a:p>
        </p:txBody>
      </p:sp>
      <p:sp>
        <p:nvSpPr>
          <p:cNvPr id="30" name="chip"/>
          <p:cNvSpPr/>
          <p:nvPr/>
        </p:nvSpPr>
        <p:spPr>
          <a:xfrm>
            <a:off x="3017520" y="4709160"/>
            <a:ext cx="2651760" cy="310896"/>
          </a:xfrm>
          <a:prstGeom prst="rect">
            <a:avLst/>
          </a:prstGeom>
          <a:ln w="12700">
            <a:solidFill>
              <a:srgbClr val="5A9E84"/>
            </a:solidFill>
            <a:prstDash val="solid"/>
          </a:ln>
        </p:spPr>
      </p:sp>
      <p:sp>
        <p:nvSpPr>
          <p:cNvPr id="31" name="Text 28"/>
          <p:cNvSpPr txBox="1"/>
          <p:nvPr/>
        </p:nvSpPr>
        <p:spPr>
          <a:xfrm>
            <a:off x="3017520" y="4709160"/>
            <a:ext cx="2651760" cy="310896"/>
          </a:xfrm>
          <a:prstGeom prst="rect">
            <a:avLst/>
          </a:prstGeom>
          <a:noFill/>
          <a:ln/>
        </p:spPr>
        <p:txBody>
          <a:bodyPr wrap="square" lIns="0" tIns="0" rIns="0" bIns="0" rtlCol="0" anchor="ctr"/>
          <a:lstStyle/>
          <a:p>
            <a:pPr algn="ctr" indent="0" marL="0">
              <a:buNone/>
            </a:pPr>
            <a:r>
              <a:rPr lang="en-US" sz="1000" b="1" spc="100" kern="0" dirty="0">
                <a:solidFill>
                  <a:srgbClr val="5A9E84"/>
                </a:solidFill>
                <a:latin typeface="Courier New" pitchFamily="34" charset="0"/>
                <a:ea typeface="Courier New" pitchFamily="34" charset="-122"/>
                <a:cs typeface="Courier New" pitchFamily="34" charset="-120"/>
              </a:rPr>
              <a:t>WITH N-GRAM: CAUGHT</a:t>
            </a:r>
            <a:endParaRPr lang="en-US" sz="1000" dirty="0"/>
          </a:p>
        </p:txBody>
      </p:sp>
      <p:sp>
        <p:nvSpPr>
          <p:cNvPr id="32" name="panel-head"/>
          <p:cNvSpPr/>
          <p:nvPr/>
        </p:nvSpPr>
        <p:spPr>
          <a:xfrm>
            <a:off x="6217920" y="1600200"/>
            <a:ext cx="5440680" cy="365760"/>
          </a:xfrm>
          <a:prstGeom prst="rect">
            <a:avLst/>
          </a:prstGeom>
          <a:solidFill>
            <a:srgbClr val="0A0C0F"/>
          </a:solidFill>
          <a:ln w="12700">
            <a:solidFill>
              <a:srgbClr val="232A31"/>
            </a:solidFill>
            <a:prstDash val="solid"/>
          </a:ln>
        </p:spPr>
      </p:sp>
      <p:sp>
        <p:nvSpPr>
          <p:cNvPr id="33" name="Text 30"/>
          <p:cNvSpPr txBox="1"/>
          <p:nvPr/>
        </p:nvSpPr>
        <p:spPr>
          <a:xfrm>
            <a:off x="6355080" y="1673352"/>
            <a:ext cx="51663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ISOLATION FOREST  /  IS THIS NORMAL?</a:t>
            </a:r>
            <a:endParaRPr lang="en-US" sz="1000" dirty="0"/>
          </a:p>
        </p:txBody>
      </p:sp>
      <p:sp>
        <p:nvSpPr>
          <p:cNvPr id="34" name="panel"/>
          <p:cNvSpPr/>
          <p:nvPr/>
        </p:nvSpPr>
        <p:spPr>
          <a:xfrm>
            <a:off x="6217920" y="1965960"/>
            <a:ext cx="5440680" cy="3246120"/>
          </a:xfrm>
          <a:prstGeom prst="rect">
            <a:avLst/>
          </a:prstGeom>
          <a:solidFill>
            <a:srgbClr val="12161A"/>
          </a:solidFill>
          <a:ln w="12700">
            <a:solidFill>
              <a:srgbClr val="232A31"/>
            </a:solidFill>
            <a:prstDash val="solid"/>
          </a:ln>
        </p:spPr>
      </p:sp>
      <p:sp>
        <p:nvSpPr>
          <p:cNvPr id="35" name="Text 32"/>
          <p:cNvSpPr txBox="1"/>
          <p:nvPr/>
        </p:nvSpPr>
        <p:spPr>
          <a:xfrm>
            <a:off x="6446520" y="2194560"/>
            <a:ext cx="1645920" cy="320040"/>
          </a:xfrm>
          <a:prstGeom prst="rect">
            <a:avLst/>
          </a:prstGeom>
          <a:noFill/>
          <a:ln/>
        </p:spPr>
        <p:txBody>
          <a:bodyPr wrap="square" lIns="0" tIns="0" rIns="0" bIns="0" rtlCol="0" anchor="ctr"/>
          <a:lstStyle/>
          <a:p>
            <a:pPr indent="0" marL="0">
              <a:buNone/>
            </a:pPr>
            <a:r>
              <a:rPr lang="en-US" sz="1500" b="1" dirty="0">
                <a:solidFill>
                  <a:srgbClr val="5B8DB8"/>
                </a:solidFill>
                <a:latin typeface="Courier New" pitchFamily="34" charset="0"/>
                <a:ea typeface="Courier New" pitchFamily="34" charset="-122"/>
                <a:cs typeface="Courier New" pitchFamily="34" charset="-120"/>
              </a:rPr>
              <a:t>40 min</a:t>
            </a:r>
            <a:endParaRPr lang="en-US" sz="1500" dirty="0"/>
          </a:p>
        </p:txBody>
      </p:sp>
      <p:sp>
        <p:nvSpPr>
          <p:cNvPr id="36" name="Text 33"/>
          <p:cNvSpPr txBox="1"/>
          <p:nvPr/>
        </p:nvSpPr>
        <p:spPr>
          <a:xfrm>
            <a:off x="644652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of normal browsing</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by 3 devices</a:t>
            </a:r>
            <a:endParaRPr lang="en-US" sz="1150" dirty="0"/>
          </a:p>
        </p:txBody>
      </p:sp>
      <p:sp>
        <p:nvSpPr>
          <p:cNvPr id="37" name="arrow"/>
          <p:cNvSpPr/>
          <p:nvPr/>
        </p:nvSpPr>
        <p:spPr>
          <a:xfrm>
            <a:off x="7863840" y="2359152"/>
            <a:ext cx="320040" cy="0"/>
          </a:xfrm>
          <a:prstGeom prst="line">
            <a:avLst/>
          </a:prstGeom>
          <a:noFill/>
          <a:ln w="25400">
            <a:solidFill>
              <a:srgbClr val="4D5762"/>
            </a:solidFill>
            <a:prstDash val="solid"/>
            <a:tailEnd type="triangle"/>
          </a:ln>
        </p:spPr>
      </p:sp>
      <p:sp>
        <p:nvSpPr>
          <p:cNvPr id="38" name="Text 35"/>
          <p:cNvSpPr txBox="1"/>
          <p:nvPr/>
        </p:nvSpPr>
        <p:spPr>
          <a:xfrm>
            <a:off x="8229600" y="2194560"/>
            <a:ext cx="1645920" cy="320040"/>
          </a:xfrm>
          <a:prstGeom prst="rect">
            <a:avLst/>
          </a:prstGeom>
          <a:noFill/>
          <a:ln/>
        </p:spPr>
        <p:txBody>
          <a:bodyPr wrap="square" lIns="0" tIns="0" rIns="0" bIns="0" rtlCol="0" anchor="ctr"/>
          <a:lstStyle/>
          <a:p>
            <a:pPr indent="0" marL="0">
              <a:buNone/>
            </a:pPr>
            <a:r>
              <a:rPr lang="en-US" sz="1500" b="1" dirty="0">
                <a:solidFill>
                  <a:srgbClr val="5B8DB8"/>
                </a:solidFill>
                <a:latin typeface="Courier New" pitchFamily="34" charset="0"/>
                <a:ea typeface="Courier New" pitchFamily="34" charset="-122"/>
                <a:cs typeface="Courier New" pitchFamily="34" charset="-120"/>
              </a:rPr>
              <a:t>learns</a:t>
            </a:r>
            <a:endParaRPr lang="en-US" sz="1500" dirty="0"/>
          </a:p>
        </p:txBody>
      </p:sp>
      <p:sp>
        <p:nvSpPr>
          <p:cNvPr id="39" name="Text 36"/>
          <p:cNvSpPr txBox="1"/>
          <p:nvPr/>
        </p:nvSpPr>
        <p:spPr>
          <a:xfrm>
            <a:off x="822960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what normal looks like</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on this network</a:t>
            </a:r>
            <a:endParaRPr lang="en-US" sz="1150" dirty="0"/>
          </a:p>
        </p:txBody>
      </p:sp>
      <p:sp>
        <p:nvSpPr>
          <p:cNvPr id="40" name="arrow"/>
          <p:cNvSpPr/>
          <p:nvPr/>
        </p:nvSpPr>
        <p:spPr>
          <a:xfrm>
            <a:off x="9646920" y="2359152"/>
            <a:ext cx="320040" cy="0"/>
          </a:xfrm>
          <a:prstGeom prst="line">
            <a:avLst/>
          </a:prstGeom>
          <a:noFill/>
          <a:ln w="25400">
            <a:solidFill>
              <a:srgbClr val="4D5762"/>
            </a:solidFill>
            <a:prstDash val="solid"/>
            <a:tailEnd type="triangle"/>
          </a:ln>
        </p:spPr>
      </p:sp>
      <p:sp>
        <p:nvSpPr>
          <p:cNvPr id="41" name="Text 38"/>
          <p:cNvSpPr txBox="1"/>
          <p:nvPr/>
        </p:nvSpPr>
        <p:spPr>
          <a:xfrm>
            <a:off x="10012680" y="2194560"/>
            <a:ext cx="1645920" cy="320040"/>
          </a:xfrm>
          <a:prstGeom prst="rect">
            <a:avLst/>
          </a:prstGeom>
          <a:noFill/>
          <a:ln/>
        </p:spPr>
        <p:txBody>
          <a:bodyPr wrap="square" lIns="0" tIns="0" rIns="0" bIns="0" rtlCol="0" anchor="ctr"/>
          <a:lstStyle/>
          <a:p>
            <a:pPr indent="0" marL="0">
              <a:buNone/>
            </a:pPr>
            <a:r>
              <a:rPr lang="en-US" sz="1500" b="1" dirty="0">
                <a:solidFill>
                  <a:srgbClr val="C9702D"/>
                </a:solidFill>
                <a:latin typeface="Courier New" pitchFamily="34" charset="0"/>
                <a:ea typeface="Courier New" pitchFamily="34" charset="-122"/>
                <a:cs typeface="Courier New" pitchFamily="34" charset="-120"/>
              </a:rPr>
              <a:t>20 s upload</a:t>
            </a:r>
            <a:endParaRPr lang="en-US" sz="1500" dirty="0"/>
          </a:p>
        </p:txBody>
      </p:sp>
      <p:sp>
        <p:nvSpPr>
          <p:cNvPr id="42" name="Text 39"/>
          <p:cNvSpPr txBox="1"/>
          <p:nvPr/>
        </p:nvSpPr>
        <p:spPr>
          <a:xfrm>
            <a:off x="1001268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864 KB per 10 s,</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one long connection</a:t>
            </a:r>
            <a:endParaRPr lang="en-US" sz="1150" dirty="0"/>
          </a:p>
        </p:txBody>
      </p:sp>
      <p:sp>
        <p:nvSpPr>
          <p:cNvPr id="43" name="rule"/>
          <p:cNvSpPr/>
          <p:nvPr/>
        </p:nvSpPr>
        <p:spPr>
          <a:xfrm>
            <a:off x="6446520" y="3429000"/>
            <a:ext cx="4983480" cy="0"/>
          </a:xfrm>
          <a:prstGeom prst="line">
            <a:avLst/>
          </a:prstGeom>
          <a:noFill/>
          <a:ln w="12700">
            <a:solidFill>
              <a:srgbClr val="232A31"/>
            </a:solidFill>
            <a:prstDash val="solid"/>
          </a:ln>
        </p:spPr>
      </p:sp>
      <p:sp>
        <p:nvSpPr>
          <p:cNvPr id="44" name="Text 41"/>
          <p:cNvSpPr txBox="1"/>
          <p:nvPr/>
        </p:nvSpPr>
        <p:spPr>
          <a:xfrm>
            <a:off x="6446520" y="3520440"/>
            <a:ext cx="4572000" cy="2286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bytes out in one 10 s window</a:t>
            </a:r>
            <a:endParaRPr lang="en-US" sz="1000" dirty="0"/>
          </a:p>
        </p:txBody>
      </p:sp>
      <p:sp>
        <p:nvSpPr>
          <p:cNvPr id="45" name="bar-normal"/>
          <p:cNvSpPr/>
          <p:nvPr/>
        </p:nvSpPr>
        <p:spPr>
          <a:xfrm>
            <a:off x="6446520" y="3840480"/>
            <a:ext cx="146304" cy="310896"/>
          </a:xfrm>
          <a:prstGeom prst="rect">
            <a:avLst/>
          </a:prstGeom>
          <a:solidFill>
            <a:srgbClr val="5B8DB8"/>
          </a:solidFill>
          <a:ln/>
        </p:spPr>
      </p:sp>
      <p:sp>
        <p:nvSpPr>
          <p:cNvPr id="46" name="Text 43"/>
          <p:cNvSpPr txBox="1"/>
          <p:nvPr/>
        </p:nvSpPr>
        <p:spPr>
          <a:xfrm>
            <a:off x="6720840" y="3840480"/>
            <a:ext cx="4572000" cy="310896"/>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largest ever seen: about 3,300 B</a:t>
            </a:r>
            <a:endParaRPr lang="en-US" sz="1100" dirty="0"/>
          </a:p>
        </p:txBody>
      </p:sp>
      <p:sp>
        <p:nvSpPr>
          <p:cNvPr id="47" name="bar-upload"/>
          <p:cNvSpPr/>
          <p:nvPr/>
        </p:nvSpPr>
        <p:spPr>
          <a:xfrm>
            <a:off x="6446520" y="4251960"/>
            <a:ext cx="4983480" cy="310896"/>
          </a:xfrm>
          <a:prstGeom prst="rect">
            <a:avLst/>
          </a:prstGeom>
          <a:solidFill>
            <a:srgbClr val="C9702D"/>
          </a:solidFill>
          <a:ln/>
        </p:spPr>
      </p:sp>
      <p:sp>
        <p:nvSpPr>
          <p:cNvPr id="48" name="Text 45"/>
          <p:cNvSpPr txBox="1"/>
          <p:nvPr/>
        </p:nvSpPr>
        <p:spPr>
          <a:xfrm>
            <a:off x="6537960" y="4251960"/>
            <a:ext cx="4754880" cy="310896"/>
          </a:xfrm>
          <a:prstGeom prst="rect">
            <a:avLst/>
          </a:prstGeom>
          <a:noFill/>
          <a:ln/>
        </p:spPr>
        <p:txBody>
          <a:bodyPr wrap="square" lIns="0" tIns="0" rIns="0" bIns="0" rtlCol="0" anchor="ctr"/>
          <a:lstStyle/>
          <a:p>
            <a:pPr indent="0" marL="0">
              <a:buNone/>
            </a:pPr>
            <a:r>
              <a:rPr lang="en-US" sz="1100" b="1" dirty="0">
                <a:solidFill>
                  <a:srgbClr val="0D1013"/>
                </a:solidFill>
                <a:latin typeface="Courier New" pitchFamily="34" charset="0"/>
                <a:ea typeface="Courier New" pitchFamily="34" charset="-122"/>
                <a:cs typeface="Courier New" pitchFamily="34" charset="-120"/>
              </a:rPr>
              <a:t>the upload: 863,784 B  =  263x</a:t>
            </a:r>
            <a:endParaRPr lang="en-US" sz="1100" dirty="0"/>
          </a:p>
        </p:txBody>
      </p:sp>
      <p:sp>
        <p:nvSpPr>
          <p:cNvPr id="49" name="chip"/>
          <p:cNvSpPr/>
          <p:nvPr/>
        </p:nvSpPr>
        <p:spPr>
          <a:xfrm>
            <a:off x="6446520" y="4709160"/>
            <a:ext cx="2103120" cy="310896"/>
          </a:xfrm>
          <a:prstGeom prst="rect">
            <a:avLst/>
          </a:prstGeom>
          <a:ln w="12700">
            <a:solidFill>
              <a:srgbClr val="C4403F"/>
            </a:solidFill>
            <a:prstDash val="solid"/>
          </a:ln>
        </p:spPr>
      </p:sp>
      <p:sp>
        <p:nvSpPr>
          <p:cNvPr id="50" name="Text 47"/>
          <p:cNvSpPr txBox="1"/>
          <p:nvPr/>
        </p:nvSpPr>
        <p:spPr>
          <a:xfrm>
            <a:off x="6446520" y="4709160"/>
            <a:ext cx="2103120" cy="310896"/>
          </a:xfrm>
          <a:prstGeom prst="rect">
            <a:avLst/>
          </a:prstGeom>
          <a:noFill/>
          <a:ln/>
        </p:spPr>
        <p:txBody>
          <a:bodyPr wrap="square" lIns="0" tIns="0" rIns="0" bIns="0" rtlCol="0" anchor="ctr"/>
          <a:lstStyle/>
          <a:p>
            <a:pPr algn="ctr" indent="0" marL="0">
              <a:buNone/>
            </a:pPr>
            <a:r>
              <a:rPr lang="en-US" sz="1000" b="1" spc="100" kern="0" dirty="0">
                <a:solidFill>
                  <a:srgbClr val="C4403F"/>
                </a:solidFill>
                <a:latin typeface="Courier New" pitchFamily="34" charset="0"/>
                <a:ea typeface="Courier New" pitchFamily="34" charset="-122"/>
                <a:cs typeface="Courier New" pitchFamily="34" charset="-120"/>
              </a:rPr>
              <a:t>RULES ALONE: MISSED</a:t>
            </a:r>
            <a:endParaRPr lang="en-US" sz="1000" dirty="0"/>
          </a:p>
        </p:txBody>
      </p:sp>
      <p:sp>
        <p:nvSpPr>
          <p:cNvPr id="51" name="chip"/>
          <p:cNvSpPr/>
          <p:nvPr/>
        </p:nvSpPr>
        <p:spPr>
          <a:xfrm>
            <a:off x="8686800" y="4709160"/>
            <a:ext cx="2651760" cy="310896"/>
          </a:xfrm>
          <a:prstGeom prst="rect">
            <a:avLst/>
          </a:prstGeom>
          <a:ln w="12700">
            <a:solidFill>
              <a:srgbClr val="5A9E84"/>
            </a:solidFill>
            <a:prstDash val="solid"/>
          </a:ln>
        </p:spPr>
      </p:sp>
      <p:sp>
        <p:nvSpPr>
          <p:cNvPr id="52" name="Text 49"/>
          <p:cNvSpPr txBox="1"/>
          <p:nvPr/>
        </p:nvSpPr>
        <p:spPr>
          <a:xfrm>
            <a:off x="8686800" y="4709160"/>
            <a:ext cx="2651760" cy="310896"/>
          </a:xfrm>
          <a:prstGeom prst="rect">
            <a:avLst/>
          </a:prstGeom>
          <a:noFill/>
          <a:ln/>
        </p:spPr>
        <p:txBody>
          <a:bodyPr wrap="square" lIns="0" tIns="0" rIns="0" bIns="0" rtlCol="0" anchor="ctr"/>
          <a:lstStyle/>
          <a:p>
            <a:pPr algn="ctr" indent="0" marL="0">
              <a:buNone/>
            </a:pPr>
            <a:r>
              <a:rPr lang="en-US" sz="1000" b="1" spc="100" kern="0" dirty="0">
                <a:solidFill>
                  <a:srgbClr val="5A9E84"/>
                </a:solidFill>
                <a:latin typeface="Courier New" pitchFamily="34" charset="0"/>
                <a:ea typeface="Courier New" pitchFamily="34" charset="-122"/>
                <a:cs typeface="Courier New" pitchFamily="34" charset="-120"/>
              </a:rPr>
              <a:t>WITH FOREST: CAUGHT</a:t>
            </a:r>
            <a:endParaRPr lang="en-US" sz="1000" dirty="0"/>
          </a:p>
        </p:txBody>
      </p:sp>
      <p:sp>
        <p:nvSpPr>
          <p:cNvPr id="53" name="honest"/>
          <p:cNvSpPr/>
          <p:nvPr/>
        </p:nvSpPr>
        <p:spPr>
          <a:xfrm>
            <a:off x="548640" y="5440680"/>
            <a:ext cx="11109960" cy="731520"/>
          </a:xfrm>
          <a:prstGeom prst="rect">
            <a:avLst/>
          </a:prstGeom>
          <a:solidFill>
            <a:srgbClr val="181D22"/>
          </a:solidFill>
          <a:ln w="12700">
            <a:solidFill>
              <a:srgbClr val="2F3943"/>
            </a:solidFill>
            <a:prstDash val="solid"/>
          </a:ln>
        </p:spPr>
      </p:sp>
      <p:sp>
        <p:nvSpPr>
          <p:cNvPr id="54" name="honest-edge"/>
          <p:cNvSpPr/>
          <p:nvPr/>
        </p:nvSpPr>
        <p:spPr>
          <a:xfrm>
            <a:off x="548640" y="5440680"/>
            <a:ext cx="73152" cy="731520"/>
          </a:xfrm>
          <a:prstGeom prst="rect">
            <a:avLst/>
          </a:prstGeom>
          <a:solidFill>
            <a:srgbClr val="B8993B"/>
          </a:solidFill>
          <a:ln/>
        </p:spPr>
      </p:sp>
      <p:sp>
        <p:nvSpPr>
          <p:cNvPr id="55" name="Text 52"/>
          <p:cNvSpPr txBox="1"/>
          <p:nvPr/>
        </p:nvSpPr>
        <p:spPr>
          <a:xfrm>
            <a:off x="868680" y="5440680"/>
            <a:ext cx="10607040" cy="731520"/>
          </a:xfrm>
          <a:prstGeom prst="rect">
            <a:avLst/>
          </a:prstGeom>
          <a:noFill/>
          <a:ln/>
        </p:spPr>
        <p:txBody>
          <a:bodyPr wrap="square" lIns="0" tIns="0" rIns="0" bIns="0" rtlCol="0" anchor="ctr"/>
          <a:lstStyle/>
          <a:p>
            <a:pPr indent="0" marL="0">
              <a:buNone/>
            </a:pPr>
            <a:r>
              <a:rPr lang="en-US" sz="1350" b="1" dirty="0">
                <a:solidFill>
                  <a:srgbClr val="B8993B"/>
                </a:solidFill>
                <a:latin typeface="Calibri" pitchFamily="34" charset="0"/>
                <a:ea typeface="Calibri" pitchFamily="34" charset="-122"/>
                <a:cs typeface="Calibri" pitchFamily="34" charset="-120"/>
              </a:rPr>
              <a:t>Measured on synthetic traffic only. </a:t>
            </a:r>
            <a:pPr indent="0" marL="0">
              <a:buNone/>
            </a:pPr>
            <a:r>
              <a:rPr lang="en-US" sz="1350" dirty="0">
                <a:solidFill>
                  <a:srgbClr val="CBD2D9"/>
                </a:solidFill>
                <a:latin typeface="Calibri" pitchFamily="34" charset="0"/>
                <a:ea typeface="Calibri" pitchFamily="34" charset="-122"/>
                <a:cs typeface="Calibri" pitchFamily="34" charset="-120"/>
              </a:rPr>
              <a:t>Both are on by default and switchable. Normal traffic raised nothing in the 12-network benign test; the false-alarm rate on a real network is not yet known.</a:t>
            </a:r>
            <a:endParaRPr lang="en-US" sz="13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Tested live: all four attacks caught, the control stayed quiet</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08  /  MEASURED, NOT CLAIMED</a:t>
            </a:r>
            <a:endParaRPr lang="en-US" sz="1100" dirty="0"/>
          </a:p>
        </p:txBody>
      </p:sp>
      <p:sp>
        <p:nvSpPr>
          <p:cNvPr id="5" name="Text 2"/>
          <p:cNvSpPr txBox="1"/>
          <p:nvPr/>
        </p:nvSpPr>
        <p:spPr>
          <a:xfrm>
            <a:off x="548640" y="1645920"/>
            <a:ext cx="8229600" cy="274320"/>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SECONDS FROM ATTACK START TO ALERT  (live, loopback, 10 s window)</a:t>
            </a:r>
            <a:endParaRPr lang="en-US" sz="1100" dirty="0"/>
          </a:p>
        </p:txBody>
      </p:sp>
      <p:sp>
        <p:nvSpPr>
          <p:cNvPr id="6" name="Text 3"/>
          <p:cNvSpPr txBox="1"/>
          <p:nvPr/>
        </p:nvSpPr>
        <p:spPr>
          <a:xfrm>
            <a:off x="548640" y="210312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DNS tunnel</a:t>
            </a:r>
            <a:endParaRPr lang="en-US" sz="1700" dirty="0"/>
          </a:p>
        </p:txBody>
      </p:sp>
      <p:sp>
        <p:nvSpPr>
          <p:cNvPr id="7" name="track"/>
          <p:cNvSpPr/>
          <p:nvPr/>
        </p:nvSpPr>
        <p:spPr>
          <a:xfrm>
            <a:off x="2468880" y="2148840"/>
            <a:ext cx="5120640" cy="457200"/>
          </a:xfrm>
          <a:prstGeom prst="rect">
            <a:avLst/>
          </a:prstGeom>
          <a:solidFill>
            <a:srgbClr val="12161A"/>
          </a:solidFill>
          <a:ln w="12700">
            <a:solidFill>
              <a:srgbClr val="232A31"/>
            </a:solidFill>
            <a:prstDash val="solid"/>
          </a:ln>
        </p:spPr>
      </p:sp>
      <p:sp>
        <p:nvSpPr>
          <p:cNvPr id="8" name="bar"/>
          <p:cNvSpPr/>
          <p:nvPr/>
        </p:nvSpPr>
        <p:spPr>
          <a:xfrm>
            <a:off x="2468880" y="2148840"/>
            <a:ext cx="544068" cy="457200"/>
          </a:xfrm>
          <a:prstGeom prst="rect">
            <a:avLst/>
          </a:prstGeom>
          <a:solidFill>
            <a:srgbClr val="C4403F"/>
          </a:solidFill>
          <a:ln/>
        </p:spPr>
      </p:sp>
      <p:sp>
        <p:nvSpPr>
          <p:cNvPr id="9" name="Text 6"/>
          <p:cNvSpPr txBox="1"/>
          <p:nvPr/>
        </p:nvSpPr>
        <p:spPr>
          <a:xfrm>
            <a:off x="3122676" y="214884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1.7 s</a:t>
            </a:r>
            <a:endParaRPr lang="en-US" sz="1500" dirty="0"/>
          </a:p>
        </p:txBody>
      </p:sp>
      <p:sp>
        <p:nvSpPr>
          <p:cNvPr id="10" name="Text 7"/>
          <p:cNvSpPr txBox="1"/>
          <p:nvPr/>
        </p:nvSpPr>
        <p:spPr>
          <a:xfrm>
            <a:off x="548640" y="297180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Brute force</a:t>
            </a:r>
            <a:endParaRPr lang="en-US" sz="1700" dirty="0"/>
          </a:p>
        </p:txBody>
      </p:sp>
      <p:sp>
        <p:nvSpPr>
          <p:cNvPr id="11" name="track"/>
          <p:cNvSpPr/>
          <p:nvPr/>
        </p:nvSpPr>
        <p:spPr>
          <a:xfrm>
            <a:off x="2468880" y="3017520"/>
            <a:ext cx="5120640" cy="457200"/>
          </a:xfrm>
          <a:prstGeom prst="rect">
            <a:avLst/>
          </a:prstGeom>
          <a:solidFill>
            <a:srgbClr val="12161A"/>
          </a:solidFill>
          <a:ln w="12700">
            <a:solidFill>
              <a:srgbClr val="232A31"/>
            </a:solidFill>
            <a:prstDash val="solid"/>
          </a:ln>
        </p:spPr>
      </p:sp>
      <p:sp>
        <p:nvSpPr>
          <p:cNvPr id="12" name="bar"/>
          <p:cNvSpPr/>
          <p:nvPr/>
        </p:nvSpPr>
        <p:spPr>
          <a:xfrm>
            <a:off x="2468880" y="3017520"/>
            <a:ext cx="2720340" cy="457200"/>
          </a:xfrm>
          <a:prstGeom prst="rect">
            <a:avLst/>
          </a:prstGeom>
          <a:solidFill>
            <a:srgbClr val="C4403F"/>
          </a:solidFill>
          <a:ln/>
        </p:spPr>
      </p:sp>
      <p:sp>
        <p:nvSpPr>
          <p:cNvPr id="13" name="Text 10"/>
          <p:cNvSpPr txBox="1"/>
          <p:nvPr/>
        </p:nvSpPr>
        <p:spPr>
          <a:xfrm>
            <a:off x="5298948" y="301752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8.5 s</a:t>
            </a:r>
            <a:endParaRPr lang="en-US" sz="1500" dirty="0"/>
          </a:p>
        </p:txBody>
      </p:sp>
      <p:sp>
        <p:nvSpPr>
          <p:cNvPr id="14" name="Text 11"/>
          <p:cNvSpPr txBox="1"/>
          <p:nvPr/>
        </p:nvSpPr>
        <p:spPr>
          <a:xfrm>
            <a:off x="548640" y="384048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Port scan</a:t>
            </a:r>
            <a:endParaRPr lang="en-US" sz="1700" dirty="0"/>
          </a:p>
        </p:txBody>
      </p:sp>
      <p:sp>
        <p:nvSpPr>
          <p:cNvPr id="15" name="track"/>
          <p:cNvSpPr/>
          <p:nvPr/>
        </p:nvSpPr>
        <p:spPr>
          <a:xfrm>
            <a:off x="2468880" y="3886200"/>
            <a:ext cx="5120640" cy="457200"/>
          </a:xfrm>
          <a:prstGeom prst="rect">
            <a:avLst/>
          </a:prstGeom>
          <a:solidFill>
            <a:srgbClr val="12161A"/>
          </a:solidFill>
          <a:ln w="12700">
            <a:solidFill>
              <a:srgbClr val="232A31"/>
            </a:solidFill>
            <a:prstDash val="solid"/>
          </a:ln>
        </p:spPr>
      </p:sp>
      <p:sp>
        <p:nvSpPr>
          <p:cNvPr id="16" name="bar"/>
          <p:cNvSpPr/>
          <p:nvPr/>
        </p:nvSpPr>
        <p:spPr>
          <a:xfrm>
            <a:off x="2468880" y="3886200"/>
            <a:ext cx="2848356" cy="457200"/>
          </a:xfrm>
          <a:prstGeom prst="rect">
            <a:avLst/>
          </a:prstGeom>
          <a:solidFill>
            <a:srgbClr val="C4403F"/>
          </a:solidFill>
          <a:ln/>
        </p:spPr>
      </p:sp>
      <p:sp>
        <p:nvSpPr>
          <p:cNvPr id="17" name="Text 14"/>
          <p:cNvSpPr txBox="1"/>
          <p:nvPr/>
        </p:nvSpPr>
        <p:spPr>
          <a:xfrm>
            <a:off x="5426964" y="388620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8.9 s</a:t>
            </a:r>
            <a:endParaRPr lang="en-US" sz="1500" dirty="0"/>
          </a:p>
        </p:txBody>
      </p:sp>
      <p:sp>
        <p:nvSpPr>
          <p:cNvPr id="18" name="Text 15"/>
          <p:cNvSpPr txBox="1"/>
          <p:nvPr/>
        </p:nvSpPr>
        <p:spPr>
          <a:xfrm>
            <a:off x="548640" y="470916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Beaconing</a:t>
            </a:r>
            <a:endParaRPr lang="en-US" sz="1700" dirty="0"/>
          </a:p>
        </p:txBody>
      </p:sp>
      <p:sp>
        <p:nvSpPr>
          <p:cNvPr id="19" name="track"/>
          <p:cNvSpPr/>
          <p:nvPr/>
        </p:nvSpPr>
        <p:spPr>
          <a:xfrm>
            <a:off x="2468880" y="4754880"/>
            <a:ext cx="5120640" cy="457200"/>
          </a:xfrm>
          <a:prstGeom prst="rect">
            <a:avLst/>
          </a:prstGeom>
          <a:solidFill>
            <a:srgbClr val="12161A"/>
          </a:solidFill>
          <a:ln w="12700">
            <a:solidFill>
              <a:srgbClr val="232A31"/>
            </a:solidFill>
            <a:prstDash val="solid"/>
          </a:ln>
        </p:spPr>
      </p:sp>
      <p:sp>
        <p:nvSpPr>
          <p:cNvPr id="20" name="bar"/>
          <p:cNvSpPr/>
          <p:nvPr/>
        </p:nvSpPr>
        <p:spPr>
          <a:xfrm>
            <a:off x="2468880" y="4754880"/>
            <a:ext cx="3872484" cy="457200"/>
          </a:xfrm>
          <a:prstGeom prst="rect">
            <a:avLst/>
          </a:prstGeom>
          <a:solidFill>
            <a:srgbClr val="C4403F"/>
          </a:solidFill>
          <a:ln/>
        </p:spPr>
      </p:sp>
      <p:sp>
        <p:nvSpPr>
          <p:cNvPr id="21" name="Text 18"/>
          <p:cNvSpPr txBox="1"/>
          <p:nvPr/>
        </p:nvSpPr>
        <p:spPr>
          <a:xfrm>
            <a:off x="6451092" y="475488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12.1 s</a:t>
            </a:r>
            <a:endParaRPr lang="en-US" sz="1500" dirty="0"/>
          </a:p>
        </p:txBody>
      </p:sp>
      <p:sp>
        <p:nvSpPr>
          <p:cNvPr id="22" name="rule"/>
          <p:cNvSpPr/>
          <p:nvPr/>
        </p:nvSpPr>
        <p:spPr>
          <a:xfrm>
            <a:off x="2468880" y="5623560"/>
            <a:ext cx="5120640" cy="0"/>
          </a:xfrm>
          <a:prstGeom prst="line">
            <a:avLst/>
          </a:prstGeom>
          <a:noFill/>
          <a:ln w="12700">
            <a:solidFill>
              <a:srgbClr val="2F3943"/>
            </a:solidFill>
            <a:prstDash val="solid"/>
          </a:ln>
        </p:spPr>
      </p:sp>
      <p:sp>
        <p:nvSpPr>
          <p:cNvPr id="23" name="Text 20"/>
          <p:cNvSpPr txBox="1"/>
          <p:nvPr/>
        </p:nvSpPr>
        <p:spPr>
          <a:xfrm>
            <a:off x="22860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0</a:t>
            </a:r>
            <a:endParaRPr lang="en-US" sz="1000" dirty="0"/>
          </a:p>
        </p:txBody>
      </p:sp>
      <p:sp>
        <p:nvSpPr>
          <p:cNvPr id="24" name="Text 21"/>
          <p:cNvSpPr txBox="1"/>
          <p:nvPr/>
        </p:nvSpPr>
        <p:spPr>
          <a:xfrm>
            <a:off x="38862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5</a:t>
            </a:r>
            <a:endParaRPr lang="en-US" sz="1000" dirty="0"/>
          </a:p>
        </p:txBody>
      </p:sp>
      <p:sp>
        <p:nvSpPr>
          <p:cNvPr id="25" name="Text 22"/>
          <p:cNvSpPr txBox="1"/>
          <p:nvPr/>
        </p:nvSpPr>
        <p:spPr>
          <a:xfrm>
            <a:off x="54864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10</a:t>
            </a:r>
            <a:endParaRPr lang="en-US" sz="1000" dirty="0"/>
          </a:p>
        </p:txBody>
      </p:sp>
      <p:sp>
        <p:nvSpPr>
          <p:cNvPr id="26" name="stat"/>
          <p:cNvSpPr/>
          <p:nvPr/>
        </p:nvSpPr>
        <p:spPr>
          <a:xfrm>
            <a:off x="8321040" y="2103120"/>
            <a:ext cx="3337560" cy="1508760"/>
          </a:xfrm>
          <a:prstGeom prst="rect">
            <a:avLst/>
          </a:prstGeom>
          <a:solidFill>
            <a:srgbClr val="12161A"/>
          </a:solidFill>
          <a:ln w="12700">
            <a:solidFill>
              <a:srgbClr val="232A31"/>
            </a:solidFill>
            <a:prstDash val="solid"/>
          </a:ln>
        </p:spPr>
      </p:sp>
      <p:sp>
        <p:nvSpPr>
          <p:cNvPr id="27" name="Text 24"/>
          <p:cNvSpPr txBox="1"/>
          <p:nvPr/>
        </p:nvSpPr>
        <p:spPr>
          <a:xfrm>
            <a:off x="8549640" y="2194560"/>
            <a:ext cx="1371600" cy="822960"/>
          </a:xfrm>
          <a:prstGeom prst="rect">
            <a:avLst/>
          </a:prstGeom>
          <a:noFill/>
          <a:ln/>
        </p:spPr>
        <p:txBody>
          <a:bodyPr wrap="square" lIns="0" tIns="0" rIns="0" bIns="0" rtlCol="0" anchor="ctr"/>
          <a:lstStyle/>
          <a:p>
            <a:pPr indent="0" marL="0">
              <a:buNone/>
            </a:pPr>
            <a:r>
              <a:rPr lang="en-US" sz="4800" b="1" dirty="0">
                <a:solidFill>
                  <a:srgbClr val="5A9E84"/>
                </a:solidFill>
                <a:latin typeface="Courier New" pitchFamily="34" charset="0"/>
                <a:ea typeface="Courier New" pitchFamily="34" charset="-122"/>
                <a:cs typeface="Courier New" pitchFamily="34" charset="-120"/>
              </a:rPr>
              <a:t>0</a:t>
            </a:r>
            <a:endParaRPr lang="en-US" sz="4800" dirty="0"/>
          </a:p>
        </p:txBody>
      </p:sp>
      <p:sp>
        <p:nvSpPr>
          <p:cNvPr id="28" name="Text 25"/>
          <p:cNvSpPr txBox="1"/>
          <p:nvPr/>
        </p:nvSpPr>
        <p:spPr>
          <a:xfrm>
            <a:off x="8549640" y="2971800"/>
            <a:ext cx="292608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alerts from the control:</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ordinary web browsing</a:t>
            </a:r>
            <a:endParaRPr lang="en-US" sz="1250" dirty="0"/>
          </a:p>
        </p:txBody>
      </p:sp>
      <p:sp>
        <p:nvSpPr>
          <p:cNvPr id="29" name="stat"/>
          <p:cNvSpPr/>
          <p:nvPr/>
        </p:nvSpPr>
        <p:spPr>
          <a:xfrm>
            <a:off x="8321040" y="3794760"/>
            <a:ext cx="3337560" cy="1508760"/>
          </a:xfrm>
          <a:prstGeom prst="rect">
            <a:avLst/>
          </a:prstGeom>
          <a:solidFill>
            <a:srgbClr val="12161A"/>
          </a:solidFill>
          <a:ln w="12700">
            <a:solidFill>
              <a:srgbClr val="232A31"/>
            </a:solidFill>
            <a:prstDash val="solid"/>
          </a:ln>
        </p:spPr>
      </p:sp>
      <p:sp>
        <p:nvSpPr>
          <p:cNvPr id="30" name="Text 27"/>
          <p:cNvSpPr txBox="1"/>
          <p:nvPr/>
        </p:nvSpPr>
        <p:spPr>
          <a:xfrm>
            <a:off x="8549640" y="3886200"/>
            <a:ext cx="2743200" cy="822960"/>
          </a:xfrm>
          <a:prstGeom prst="rect">
            <a:avLst/>
          </a:prstGeom>
          <a:noFill/>
          <a:ln/>
        </p:spPr>
        <p:txBody>
          <a:bodyPr wrap="square" lIns="0" tIns="0" rIns="0" bIns="0" rtlCol="0" anchor="ctr"/>
          <a:lstStyle/>
          <a:p>
            <a:pPr indent="0" marL="0">
              <a:buNone/>
            </a:pPr>
            <a:r>
              <a:rPr lang="en-US" sz="4000" b="1" dirty="0">
                <a:solidFill>
                  <a:srgbClr val="E6EAEE"/>
                </a:solidFill>
                <a:latin typeface="Courier New" pitchFamily="34" charset="0"/>
                <a:ea typeface="Courier New" pitchFamily="34" charset="-122"/>
                <a:cs typeface="Courier New" pitchFamily="34" charset="-120"/>
              </a:rPr>
              <a:t>4 / 4</a:t>
            </a:r>
            <a:endParaRPr lang="en-US" sz="4000" dirty="0"/>
          </a:p>
        </p:txBody>
      </p:sp>
      <p:sp>
        <p:nvSpPr>
          <p:cNvPr id="31" name="Text 28"/>
          <p:cNvSpPr txBox="1"/>
          <p:nvPr/>
        </p:nvSpPr>
        <p:spPr>
          <a:xfrm>
            <a:off x="8549640" y="4663440"/>
            <a:ext cx="292608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beacon runs caught once the</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capture was confirmed running</a:t>
            </a:r>
            <a:endParaRPr lang="en-US" sz="1250" dirty="0"/>
          </a:p>
        </p:txBody>
      </p:sp>
      <p:sp>
        <p:nvSpPr>
          <p:cNvPr id="32" name="Text 29"/>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000" dirty="0">
                <a:solidFill>
                  <a:srgbClr val="4D5762"/>
                </a:solidFill>
                <a:latin typeface="Courier New" pitchFamily="34" charset="0"/>
                <a:ea typeface="Courier New" pitchFamily="34" charset="-122"/>
                <a:cs typeface="Courier New" pitchFamily="34" charset="-120"/>
              </a:rPr>
              <a:t>Detectors run on a 10 s grid, so an alert lands within one grid step of the threshold being crossed.</a:t>
            </a:r>
            <a:endParaRPr lang="en-US" sz="10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Quiet by design: false alarms are what make people stop reading alerts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09  /  FALSE-ALARM CONTROL</a:t>
            </a:r>
            <a:endParaRPr lang="en-US" sz="1100" dirty="0"/>
          </a:p>
        </p:txBody>
      </p:sp>
      <p:sp>
        <p:nvSpPr>
          <p:cNvPr id="5" name="icon-box"/>
          <p:cNvSpPr/>
          <p:nvPr/>
        </p:nvSpPr>
        <p:spPr>
          <a:xfrm>
            <a:off x="548640" y="1645920"/>
            <a:ext cx="603504" cy="603504"/>
          </a:xfrm>
          <a:prstGeom prst="rect">
            <a:avLst/>
          </a:prstGeom>
          <a:solidFill>
            <a:srgbClr val="181D22"/>
          </a:solidFill>
          <a:ln w="12700">
            <a:solidFill>
              <a:srgbClr val="2F3943"/>
            </a:solidFill>
            <a:prstDash val="solid"/>
          </a:ln>
        </p:spPr>
      </p:sp>
      <p:pic>
        <p:nvPicPr>
          <p:cNvPr id="6" name="Image 0" descr="icon">    </p:cNvPr>
          <p:cNvPicPr>
            <a:picLocks noChangeAspect="1"/>
          </p:cNvPicPr>
          <p:nvPr/>
        </p:nvPicPr>
        <p:blipFill>
          <a:blip r:embed="rId1"/>
          <a:stretch>
            <a:fillRect/>
          </a:stretch>
        </p:blipFill>
        <p:spPr>
          <a:xfrm>
            <a:off x="711586" y="1808866"/>
            <a:ext cx="277612" cy="277612"/>
          </a:xfrm>
          <a:prstGeom prst="rect">
            <a:avLst/>
          </a:prstGeom>
        </p:spPr>
      </p:pic>
      <p:sp>
        <p:nvSpPr>
          <p:cNvPr id="7" name="Text 3"/>
          <p:cNvSpPr txBox="1"/>
          <p:nvPr/>
        </p:nvSpPr>
        <p:spPr>
          <a:xfrm>
            <a:off x="1371600" y="1627632"/>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Two signals, not one</a:t>
            </a:r>
            <a:endParaRPr lang="en-US" sz="1600" dirty="0"/>
          </a:p>
        </p:txBody>
      </p:sp>
      <p:sp>
        <p:nvSpPr>
          <p:cNvPr id="8" name="Text 4"/>
          <p:cNvSpPr txBox="1"/>
          <p:nvPr/>
        </p:nvSpPr>
        <p:spPr>
          <a:xfrm>
            <a:off x="1371600" y="1947672"/>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DNS tunnelling needs two independent signals to agree.</a:t>
            </a:r>
            <a:endParaRPr lang="en-US" sz="1200" dirty="0"/>
          </a:p>
        </p:txBody>
      </p:sp>
      <p:sp>
        <p:nvSpPr>
          <p:cNvPr id="9" name="icon-box"/>
          <p:cNvSpPr/>
          <p:nvPr/>
        </p:nvSpPr>
        <p:spPr>
          <a:xfrm>
            <a:off x="548640" y="2542032"/>
            <a:ext cx="603504" cy="603504"/>
          </a:xfrm>
          <a:prstGeom prst="rect">
            <a:avLst/>
          </a:prstGeom>
          <a:solidFill>
            <a:srgbClr val="181D22"/>
          </a:solidFill>
          <a:ln w="12700">
            <a:solidFill>
              <a:srgbClr val="2F3943"/>
            </a:solidFill>
            <a:prstDash val="solid"/>
          </a:ln>
        </p:spPr>
      </p:sp>
      <p:pic>
        <p:nvPicPr>
          <p:cNvPr id="10" name="Image 1" descr="icon">    </p:cNvPr>
          <p:cNvPicPr>
            <a:picLocks noChangeAspect="1"/>
          </p:cNvPicPr>
          <p:nvPr/>
        </p:nvPicPr>
        <p:blipFill>
          <a:blip r:embed="rId2"/>
          <a:stretch>
            <a:fillRect/>
          </a:stretch>
        </p:blipFill>
        <p:spPr>
          <a:xfrm>
            <a:off x="711586" y="2704978"/>
            <a:ext cx="277612" cy="277612"/>
          </a:xfrm>
          <a:prstGeom prst="rect">
            <a:avLst/>
          </a:prstGeom>
        </p:spPr>
      </p:pic>
      <p:sp>
        <p:nvSpPr>
          <p:cNvPr id="11" name="Text 6"/>
          <p:cNvSpPr txBox="1"/>
          <p:nvPr/>
        </p:nvSpPr>
        <p:spPr>
          <a:xfrm>
            <a:off x="1371600" y="2523744"/>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Shared services are not C2</a:t>
            </a:r>
            <a:endParaRPr lang="en-US" sz="1600" dirty="0"/>
          </a:p>
        </p:txBody>
      </p:sp>
      <p:sp>
        <p:nvSpPr>
          <p:cNvPr id="12" name="Text 7"/>
          <p:cNvSpPr txBox="1"/>
          <p:nvPr/>
        </p:nvSpPr>
        <p:spPr>
          <a:xfrm>
            <a:off x="1371600" y="2843784"/>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A destination or domain that 3+ devices use is treated as a shared service.</a:t>
            </a:r>
            <a:endParaRPr lang="en-US" sz="1200" dirty="0"/>
          </a:p>
        </p:txBody>
      </p:sp>
      <p:sp>
        <p:nvSpPr>
          <p:cNvPr id="13" name="icon-box"/>
          <p:cNvSpPr/>
          <p:nvPr/>
        </p:nvSpPr>
        <p:spPr>
          <a:xfrm>
            <a:off x="548640" y="3438144"/>
            <a:ext cx="603504" cy="603504"/>
          </a:xfrm>
          <a:prstGeom prst="rect">
            <a:avLst/>
          </a:prstGeom>
          <a:solidFill>
            <a:srgbClr val="181D22"/>
          </a:solidFill>
          <a:ln w="12700">
            <a:solidFill>
              <a:srgbClr val="2F3943"/>
            </a:solidFill>
            <a:prstDash val="solid"/>
          </a:ln>
        </p:spPr>
      </p:sp>
      <p:pic>
        <p:nvPicPr>
          <p:cNvPr id="14" name="Image 2" descr="icon">    </p:cNvPr>
          <p:cNvPicPr>
            <a:picLocks noChangeAspect="1"/>
          </p:cNvPicPr>
          <p:nvPr/>
        </p:nvPicPr>
        <p:blipFill>
          <a:blip r:embed="rId3"/>
          <a:stretch>
            <a:fillRect/>
          </a:stretch>
        </p:blipFill>
        <p:spPr>
          <a:xfrm>
            <a:off x="711586" y="3601090"/>
            <a:ext cx="277612" cy="277612"/>
          </a:xfrm>
          <a:prstGeom prst="rect">
            <a:avLst/>
          </a:prstGeom>
        </p:spPr>
      </p:pic>
      <p:sp>
        <p:nvSpPr>
          <p:cNvPr id="15" name="Text 9"/>
          <p:cNvSpPr txBox="1"/>
          <p:nvPr/>
        </p:nvSpPr>
        <p:spPr>
          <a:xfrm>
            <a:off x="1371600" y="3419856"/>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Cooldown</a:t>
            </a:r>
            <a:endParaRPr lang="en-US" sz="1600" dirty="0"/>
          </a:p>
        </p:txBody>
      </p:sp>
      <p:sp>
        <p:nvSpPr>
          <p:cNvPr id="16" name="Text 10"/>
          <p:cNvSpPr txBox="1"/>
          <p:nvPr/>
        </p:nvSpPr>
        <p:spPr>
          <a:xfrm>
            <a:off x="1371600" y="3739896"/>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Once a detector fires for a device it stays quiet for 5 minutes. No alert storms.</a:t>
            </a:r>
            <a:endParaRPr lang="en-US" sz="1200" dirty="0"/>
          </a:p>
        </p:txBody>
      </p:sp>
      <p:sp>
        <p:nvSpPr>
          <p:cNvPr id="17" name="icon-box"/>
          <p:cNvSpPr/>
          <p:nvPr/>
        </p:nvSpPr>
        <p:spPr>
          <a:xfrm>
            <a:off x="548640" y="4334256"/>
            <a:ext cx="603504" cy="603504"/>
          </a:xfrm>
          <a:prstGeom prst="rect">
            <a:avLst/>
          </a:prstGeom>
          <a:solidFill>
            <a:srgbClr val="181D22"/>
          </a:solidFill>
          <a:ln w="12700">
            <a:solidFill>
              <a:srgbClr val="2F3943"/>
            </a:solidFill>
            <a:prstDash val="solid"/>
          </a:ln>
        </p:spPr>
      </p:sp>
      <p:pic>
        <p:nvPicPr>
          <p:cNvPr id="18" name="Image 3" descr="icon">    </p:cNvPr>
          <p:cNvPicPr>
            <a:picLocks noChangeAspect="1"/>
          </p:cNvPicPr>
          <p:nvPr/>
        </p:nvPicPr>
        <p:blipFill>
          <a:blip r:embed="rId4"/>
          <a:stretch>
            <a:fillRect/>
          </a:stretch>
        </p:blipFill>
        <p:spPr>
          <a:xfrm>
            <a:off x="711586" y="4497202"/>
            <a:ext cx="277612" cy="277612"/>
          </a:xfrm>
          <a:prstGeom prst="rect">
            <a:avLst/>
          </a:prstGeom>
        </p:spPr>
      </p:pic>
      <p:sp>
        <p:nvSpPr>
          <p:cNvPr id="19" name="Text 12"/>
          <p:cNvSpPr txBox="1"/>
          <p:nvPr/>
        </p:nvSpPr>
        <p:spPr>
          <a:xfrm>
            <a:off x="1371600" y="4315968"/>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Statistical guard</a:t>
            </a:r>
            <a:endParaRPr lang="en-US" sz="1600" dirty="0"/>
          </a:p>
        </p:txBody>
      </p:sp>
      <p:sp>
        <p:nvSpPr>
          <p:cNvPr id="20" name="Text 13"/>
          <p:cNvSpPr txBox="1"/>
          <p:nvPr/>
        </p:nvSpPr>
        <p:spPr>
          <a:xfrm>
            <a:off x="1371600" y="4636008"/>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The forest only fires when a value is over 2x anything in its baseline.</a:t>
            </a:r>
            <a:endParaRPr lang="en-US" sz="1200" dirty="0"/>
          </a:p>
        </p:txBody>
      </p:sp>
      <p:sp>
        <p:nvSpPr>
          <p:cNvPr id="21" name="icon-box"/>
          <p:cNvSpPr/>
          <p:nvPr/>
        </p:nvSpPr>
        <p:spPr>
          <a:xfrm>
            <a:off x="548640" y="5230368"/>
            <a:ext cx="603504" cy="603504"/>
          </a:xfrm>
          <a:prstGeom prst="rect">
            <a:avLst/>
          </a:prstGeom>
          <a:solidFill>
            <a:srgbClr val="181D22"/>
          </a:solidFill>
          <a:ln w="12700">
            <a:solidFill>
              <a:srgbClr val="2F3943"/>
            </a:solidFill>
            <a:prstDash val="solid"/>
          </a:ln>
        </p:spPr>
      </p:sp>
      <p:pic>
        <p:nvPicPr>
          <p:cNvPr id="22" name="Image 4" descr="icon">    </p:cNvPr>
          <p:cNvPicPr>
            <a:picLocks noChangeAspect="1"/>
          </p:cNvPicPr>
          <p:nvPr/>
        </p:nvPicPr>
        <p:blipFill>
          <a:blip r:embed="rId5"/>
          <a:stretch>
            <a:fillRect/>
          </a:stretch>
        </p:blipFill>
        <p:spPr>
          <a:xfrm>
            <a:off x="711586" y="5393314"/>
            <a:ext cx="277612" cy="277612"/>
          </a:xfrm>
          <a:prstGeom prst="rect">
            <a:avLst/>
          </a:prstGeom>
        </p:spPr>
      </p:pic>
      <p:sp>
        <p:nvSpPr>
          <p:cNvPr id="23" name="Text 15"/>
          <p:cNvSpPr txBox="1"/>
          <p:nvPr/>
        </p:nvSpPr>
        <p:spPr>
          <a:xfrm>
            <a:off x="1371600" y="5212080"/>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Your allow-lists</a:t>
            </a:r>
            <a:endParaRPr lang="en-US" sz="1600" dirty="0"/>
          </a:p>
        </p:txBody>
      </p:sp>
      <p:sp>
        <p:nvSpPr>
          <p:cNvPr id="24" name="Text 16"/>
          <p:cNvSpPr txBox="1"/>
          <p:nvPr/>
        </p:nvSpPr>
        <p:spPr>
          <a:xfrm>
            <a:off x="1371600" y="5532120"/>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trusted_ips, allowed destinations and ignored domains, in one config file.</a:t>
            </a:r>
            <a:endParaRPr lang="en-US" sz="1200" dirty="0"/>
          </a:p>
        </p:txBody>
      </p:sp>
      <p:sp>
        <p:nvSpPr>
          <p:cNvPr id="25" name="stat-panel"/>
          <p:cNvSpPr/>
          <p:nvPr/>
        </p:nvSpPr>
        <p:spPr>
          <a:xfrm>
            <a:off x="6309360" y="1645920"/>
            <a:ext cx="5349240" cy="4389120"/>
          </a:xfrm>
          <a:prstGeom prst="rect">
            <a:avLst/>
          </a:prstGeom>
          <a:solidFill>
            <a:srgbClr val="12161A"/>
          </a:solidFill>
          <a:ln w="12700">
            <a:solidFill>
              <a:srgbClr val="232A31"/>
            </a:solidFill>
            <a:prstDash val="solid"/>
          </a:ln>
        </p:spPr>
      </p:sp>
      <p:sp>
        <p:nvSpPr>
          <p:cNvPr id="26" name="Text 18"/>
          <p:cNvSpPr txBox="1"/>
          <p:nvPr/>
        </p:nvSpPr>
        <p:spPr>
          <a:xfrm>
            <a:off x="6583680" y="1828800"/>
            <a:ext cx="484632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BENIGN TEST SUITE (SYNTHETIC)</a:t>
            </a:r>
            <a:endParaRPr lang="en-US" sz="1000" dirty="0"/>
          </a:p>
        </p:txBody>
      </p:sp>
      <p:sp>
        <p:nvSpPr>
          <p:cNvPr id="27" name="Text 19"/>
          <p:cNvSpPr txBox="1"/>
          <p:nvPr/>
        </p:nvSpPr>
        <p:spPr>
          <a:xfrm>
            <a:off x="6583680" y="2148840"/>
            <a:ext cx="2011680" cy="1280160"/>
          </a:xfrm>
          <a:prstGeom prst="rect">
            <a:avLst/>
          </a:prstGeom>
          <a:noFill/>
          <a:ln/>
        </p:spPr>
        <p:txBody>
          <a:bodyPr wrap="square" lIns="0" tIns="0" rIns="0" bIns="0" rtlCol="0" anchor="ctr"/>
          <a:lstStyle/>
          <a:p>
            <a:pPr indent="0" marL="0">
              <a:buNone/>
            </a:pPr>
            <a:r>
              <a:rPr lang="en-US" sz="9000" b="1" dirty="0">
                <a:solidFill>
                  <a:srgbClr val="5A9E84"/>
                </a:solidFill>
                <a:latin typeface="Courier New" pitchFamily="34" charset="0"/>
                <a:ea typeface="Courier New" pitchFamily="34" charset="-122"/>
                <a:cs typeface="Courier New" pitchFamily="34" charset="-120"/>
              </a:rPr>
              <a:t>0</a:t>
            </a:r>
            <a:endParaRPr lang="en-US" sz="9000" dirty="0"/>
          </a:p>
        </p:txBody>
      </p:sp>
      <p:sp>
        <p:nvSpPr>
          <p:cNvPr id="28" name="Text 20"/>
          <p:cNvSpPr txBox="1"/>
          <p:nvPr/>
        </p:nvSpPr>
        <p:spPr>
          <a:xfrm>
            <a:off x="8549640" y="2834640"/>
            <a:ext cx="1828800" cy="457200"/>
          </a:xfrm>
          <a:prstGeom prst="rect">
            <a:avLst/>
          </a:prstGeom>
          <a:noFill/>
          <a:ln/>
        </p:spPr>
        <p:txBody>
          <a:bodyPr wrap="square" lIns="0" tIns="0" rIns="0" bIns="0" rtlCol="0" anchor="ctr"/>
          <a:lstStyle/>
          <a:p>
            <a:pPr indent="0" marL="0">
              <a:buNone/>
            </a:pPr>
            <a:r>
              <a:rPr lang="en-US" sz="2200" dirty="0">
                <a:solidFill>
                  <a:srgbClr val="E6EAEE"/>
                </a:solidFill>
                <a:latin typeface="Calibri" pitchFamily="34" charset="0"/>
                <a:ea typeface="Calibri" pitchFamily="34" charset="-122"/>
                <a:cs typeface="Calibri" pitchFamily="34" charset="-120"/>
              </a:rPr>
              <a:t>alerts</a:t>
            </a:r>
            <a:endParaRPr lang="en-US" sz="2200" dirty="0"/>
          </a:p>
        </p:txBody>
      </p:sp>
      <p:sp>
        <p:nvSpPr>
          <p:cNvPr id="29" name="rule"/>
          <p:cNvSpPr/>
          <p:nvPr/>
        </p:nvSpPr>
        <p:spPr>
          <a:xfrm>
            <a:off x="6583680" y="3657600"/>
            <a:ext cx="4800600" cy="0"/>
          </a:xfrm>
          <a:prstGeom prst="line">
            <a:avLst/>
          </a:prstGeom>
          <a:noFill/>
          <a:ln w="12700">
            <a:solidFill>
              <a:srgbClr val="232A31"/>
            </a:solidFill>
            <a:prstDash val="solid"/>
          </a:ln>
        </p:spPr>
      </p:sp>
      <p:sp>
        <p:nvSpPr>
          <p:cNvPr id="30" name="Text 22"/>
          <p:cNvSpPr txBox="1"/>
          <p:nvPr/>
        </p:nvSpPr>
        <p:spPr>
          <a:xfrm>
            <a:off x="6583680" y="3794760"/>
            <a:ext cx="4800600" cy="1097280"/>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12 seeded networks, 8 devices each, 40 minutes of browsing, shared-service polling, refused connections and hashed CDN names. All with both statistical models on.</a:t>
            </a:r>
            <a:endParaRPr lang="en-US" sz="1350" dirty="0"/>
          </a:p>
        </p:txBody>
      </p:sp>
      <p:sp>
        <p:nvSpPr>
          <p:cNvPr id="31" name="honest"/>
          <p:cNvSpPr/>
          <p:nvPr/>
        </p:nvSpPr>
        <p:spPr>
          <a:xfrm>
            <a:off x="6583680" y="5074920"/>
            <a:ext cx="4800600" cy="731520"/>
          </a:xfrm>
          <a:prstGeom prst="rect">
            <a:avLst/>
          </a:prstGeom>
          <a:solidFill>
            <a:srgbClr val="181D22"/>
          </a:solidFill>
          <a:ln w="12700">
            <a:solidFill>
              <a:srgbClr val="2F3943"/>
            </a:solidFill>
            <a:prstDash val="solid"/>
          </a:ln>
        </p:spPr>
      </p:sp>
      <p:sp>
        <p:nvSpPr>
          <p:cNvPr id="32" name="Text 24"/>
          <p:cNvSpPr txBox="1"/>
          <p:nvPr/>
        </p:nvSpPr>
        <p:spPr>
          <a:xfrm>
            <a:off x="6766560" y="5074920"/>
            <a:ext cx="4480560" cy="731520"/>
          </a:xfrm>
          <a:prstGeom prst="rect">
            <a:avLst/>
          </a:prstGeom>
          <a:noFill/>
          <a:ln/>
        </p:spPr>
        <p:txBody>
          <a:bodyPr wrap="square" lIns="0" tIns="0" rIns="0" bIns="0" rtlCol="0" anchor="ctr"/>
          <a:lstStyle/>
          <a:p>
            <a:pPr indent="0" marL="0">
              <a:buNone/>
            </a:pPr>
            <a:r>
              <a:rPr lang="en-US" sz="1200" dirty="0">
                <a:solidFill>
                  <a:srgbClr val="B8993B"/>
                </a:solidFill>
                <a:latin typeface="Calibri" pitchFamily="34" charset="0"/>
                <a:ea typeface="Calibri" pitchFamily="34" charset="-122"/>
                <a:cs typeface="Calibri" pitchFamily="34" charset="-120"/>
              </a:rPr>
              <a:t>Real-network false-alarm rate: not yet measured. A one-day check is on the verification list.</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Alerts an admin can act on, not raw numbers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10  /  EXPLANATIONS</a:t>
            </a:r>
            <a:endParaRPr lang="en-US" sz="1100" dirty="0"/>
          </a:p>
        </p:txBody>
      </p:sp>
      <p:sp>
        <p:nvSpPr>
          <p:cNvPr id="5" name="panel-head"/>
          <p:cNvSpPr/>
          <p:nvPr/>
        </p:nvSpPr>
        <p:spPr>
          <a:xfrm>
            <a:off x="548640" y="1645920"/>
            <a:ext cx="4754880" cy="365760"/>
          </a:xfrm>
          <a:prstGeom prst="rect">
            <a:avLst/>
          </a:prstGeom>
          <a:solidFill>
            <a:srgbClr val="0A0C0F"/>
          </a:solidFill>
          <a:ln w="12700">
            <a:solidFill>
              <a:srgbClr val="232A31"/>
            </a:solidFill>
            <a:prstDash val="solid"/>
          </a:ln>
        </p:spPr>
      </p:sp>
      <p:sp>
        <p:nvSpPr>
          <p:cNvPr id="6" name="Text 3"/>
          <p:cNvSpPr txBox="1"/>
          <p:nvPr/>
        </p:nvSpPr>
        <p:spPr>
          <a:xfrm>
            <a:off x="685800" y="1719072"/>
            <a:ext cx="44805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THE DETECTOR RECORDED</a:t>
            </a:r>
            <a:endParaRPr lang="en-US" sz="1000" dirty="0"/>
          </a:p>
        </p:txBody>
      </p:sp>
      <p:sp>
        <p:nvSpPr>
          <p:cNvPr id="7" name="panel"/>
          <p:cNvSpPr/>
          <p:nvPr/>
        </p:nvSpPr>
        <p:spPr>
          <a:xfrm>
            <a:off x="548640" y="2011680"/>
            <a:ext cx="4754880" cy="2743200"/>
          </a:xfrm>
          <a:prstGeom prst="rect">
            <a:avLst/>
          </a:prstGeom>
          <a:solidFill>
            <a:srgbClr val="12161A"/>
          </a:solidFill>
          <a:ln w="12700">
            <a:solidFill>
              <a:srgbClr val="232A31"/>
            </a:solidFill>
            <a:prstDash val="solid"/>
          </a:ln>
        </p:spPr>
      </p:sp>
      <p:sp>
        <p:nvSpPr>
          <p:cNvPr id="8" name="Text 5"/>
          <p:cNvSpPr txBox="1"/>
          <p:nvPr/>
        </p:nvSpPr>
        <p:spPr>
          <a:xfrm>
            <a:off x="777240" y="2194560"/>
            <a:ext cx="4389120" cy="2377440"/>
          </a:xfrm>
          <a:prstGeom prst="rect">
            <a:avLst/>
          </a:prstGeom>
          <a:noFill/>
          <a:ln/>
        </p:spPr>
        <p:txBody>
          <a:bodyPr wrap="square" lIns="0" tIns="0" rIns="0" bIns="0" rtlCol="0" anchor="t"/>
          <a:lstStyle/>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detector      beaconing</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technique     T1071.001</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dst_port      8080</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count         16</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mean_interval  1.0003 s</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interval_cv   0.0023</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mean_bytes    ~1 KB</a:t>
            </a:r>
            <a:endParaRPr lang="en-US" sz="1300" dirty="0"/>
          </a:p>
        </p:txBody>
      </p:sp>
      <p:sp>
        <p:nvSpPr>
          <p:cNvPr id="9" name="arrow"/>
          <p:cNvSpPr/>
          <p:nvPr/>
        </p:nvSpPr>
        <p:spPr>
          <a:xfrm>
            <a:off x="5440680" y="3383280"/>
            <a:ext cx="548640" cy="0"/>
          </a:xfrm>
          <a:prstGeom prst="line">
            <a:avLst/>
          </a:prstGeom>
          <a:noFill/>
          <a:ln w="25400">
            <a:solidFill>
              <a:srgbClr val="C4403F"/>
            </a:solidFill>
            <a:prstDash val="solid"/>
            <a:tailEnd type="triangle"/>
          </a:ln>
        </p:spPr>
      </p:sp>
      <p:sp>
        <p:nvSpPr>
          <p:cNvPr id="10" name="panel-head"/>
          <p:cNvSpPr/>
          <p:nvPr/>
        </p:nvSpPr>
        <p:spPr>
          <a:xfrm>
            <a:off x="6126480" y="1645920"/>
            <a:ext cx="5532120" cy="365760"/>
          </a:xfrm>
          <a:prstGeom prst="rect">
            <a:avLst/>
          </a:prstGeom>
          <a:solidFill>
            <a:srgbClr val="0A0C0F"/>
          </a:solidFill>
          <a:ln w="12700">
            <a:solidFill>
              <a:srgbClr val="232A31"/>
            </a:solidFill>
            <a:prstDash val="solid"/>
          </a:ln>
        </p:spPr>
      </p:sp>
      <p:sp>
        <p:nvSpPr>
          <p:cNvPr id="11" name="Text 8"/>
          <p:cNvSpPr txBox="1"/>
          <p:nvPr/>
        </p:nvSpPr>
        <p:spPr>
          <a:xfrm>
            <a:off x="6263640" y="1719072"/>
            <a:ext cx="52578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THE ADMIN READS</a:t>
            </a:r>
            <a:endParaRPr lang="en-US" sz="1000" dirty="0"/>
          </a:p>
        </p:txBody>
      </p:sp>
      <p:sp>
        <p:nvSpPr>
          <p:cNvPr id="12" name="panel"/>
          <p:cNvSpPr/>
          <p:nvPr/>
        </p:nvSpPr>
        <p:spPr>
          <a:xfrm>
            <a:off x="6126480" y="2011680"/>
            <a:ext cx="5532120" cy="2743200"/>
          </a:xfrm>
          <a:prstGeom prst="rect">
            <a:avLst/>
          </a:prstGeom>
          <a:solidFill>
            <a:srgbClr val="12161A"/>
          </a:solidFill>
          <a:ln w="12700">
            <a:solidFill>
              <a:srgbClr val="232A31"/>
            </a:solidFill>
            <a:prstDash val="solid"/>
          </a:ln>
        </p:spPr>
      </p:sp>
      <p:sp>
        <p:nvSpPr>
          <p:cNvPr id="13" name="sev"/>
          <p:cNvSpPr/>
          <p:nvPr/>
        </p:nvSpPr>
        <p:spPr>
          <a:xfrm>
            <a:off x="6355080" y="2194560"/>
            <a:ext cx="1051560" cy="274320"/>
          </a:xfrm>
          <a:prstGeom prst="rect">
            <a:avLst/>
          </a:prstGeom>
          <a:solidFill>
            <a:srgbClr val="C4403F"/>
          </a:solidFill>
          <a:ln/>
        </p:spPr>
      </p:sp>
      <p:sp>
        <p:nvSpPr>
          <p:cNvPr id="14" name="Text 11"/>
          <p:cNvSpPr txBox="1"/>
          <p:nvPr/>
        </p:nvSpPr>
        <p:spPr>
          <a:xfrm>
            <a:off x="6355080" y="2194560"/>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CRITICAL</a:t>
            </a:r>
            <a:endParaRPr lang="en-US" sz="1100" dirty="0"/>
          </a:p>
        </p:txBody>
      </p:sp>
      <p:sp>
        <p:nvSpPr>
          <p:cNvPr id="15" name="Text 12"/>
          <p:cNvSpPr txBox="1"/>
          <p:nvPr/>
        </p:nvSpPr>
        <p:spPr>
          <a:xfrm>
            <a:off x="6355080" y="2560320"/>
            <a:ext cx="512064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Device contacts one server at fixed intervals</a:t>
            </a:r>
            <a:endParaRPr lang="en-US" sz="1700" dirty="0"/>
          </a:p>
        </p:txBody>
      </p:sp>
      <p:sp>
        <p:nvSpPr>
          <p:cNvPr id="16" name="Text 13"/>
          <p:cNvSpPr txBox="1"/>
          <p:nvPr/>
        </p:nvSpPr>
        <p:spPr>
          <a:xfrm>
            <a:off x="6355080" y="3017520"/>
            <a:ext cx="5120640" cy="1645920"/>
          </a:xfrm>
          <a:prstGeom prst="rect">
            <a:avLst/>
          </a:prstGeom>
          <a:noFill/>
          <a:ln/>
        </p:spPr>
        <p:txBody>
          <a:bodyPr wrap="square" lIns="0" tIns="0" rIns="0" bIns="0" rtlCol="0" anchor="t"/>
          <a:lstStyle/>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What happened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The device connected to the same server 16 times, about every 1.0 seconds, with very little variation.</a:t>
            </a:r>
            <a:endParaRPr lang="en-US" sz="1250" dirty="0"/>
          </a:p>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Likely cause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Regular small connections can be malware checking in, or a legitimate sync tool.</a:t>
            </a:r>
            <a:endParaRPr lang="en-US" sz="1250" dirty="0"/>
          </a:p>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Suggested action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Check what this device is running and whether it should be doing this.</a:t>
            </a:r>
            <a:endParaRPr lang="en-US" sz="1250" dirty="0"/>
          </a:p>
        </p:txBody>
      </p:sp>
      <p:sp>
        <p:nvSpPr>
          <p:cNvPr id="17" name="icon-box"/>
          <p:cNvSpPr/>
          <p:nvPr/>
        </p:nvSpPr>
        <p:spPr>
          <a:xfrm>
            <a:off x="548640" y="5074920"/>
            <a:ext cx="548640" cy="548640"/>
          </a:xfrm>
          <a:prstGeom prst="rect">
            <a:avLst/>
          </a:prstGeom>
          <a:solidFill>
            <a:srgbClr val="181D22"/>
          </a:solidFill>
          <a:ln w="12700">
            <a:solidFill>
              <a:srgbClr val="2F3943"/>
            </a:solidFill>
            <a:prstDash val="solid"/>
          </a:ln>
        </p:spPr>
      </p:sp>
      <p:pic>
        <p:nvPicPr>
          <p:cNvPr id="18" name="Image 0" descr="icon">    </p:cNvPr>
          <p:cNvPicPr>
            <a:picLocks noChangeAspect="1"/>
          </p:cNvPicPr>
          <p:nvPr/>
        </p:nvPicPr>
        <p:blipFill>
          <a:blip r:embed="rId1"/>
          <a:stretch>
            <a:fillRect/>
          </a:stretch>
        </p:blipFill>
        <p:spPr>
          <a:xfrm>
            <a:off x="696773" y="5223053"/>
            <a:ext cx="252374" cy="252374"/>
          </a:xfrm>
          <a:prstGeom prst="rect">
            <a:avLst/>
          </a:prstGeom>
        </p:spPr>
      </p:pic>
      <p:sp>
        <p:nvSpPr>
          <p:cNvPr id="19" name="Text 15"/>
          <p:cNvSpPr txBox="1"/>
          <p:nvPr/>
        </p:nvSpPr>
        <p:spPr>
          <a:xfrm>
            <a:off x="128016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Templates first</a:t>
            </a:r>
            <a:endParaRPr lang="en-US" sz="1500" dirty="0"/>
          </a:p>
        </p:txBody>
      </p:sp>
      <p:sp>
        <p:nvSpPr>
          <p:cNvPr id="20" name="Text 16"/>
          <p:cNvSpPr txBox="1"/>
          <p:nvPr/>
        </p:nvSpPr>
        <p:spPr>
          <a:xfrm>
            <a:off x="128016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Always available, always matches the evidence.</a:t>
            </a:r>
            <a:endParaRPr lang="en-US" sz="1200" dirty="0"/>
          </a:p>
        </p:txBody>
      </p:sp>
      <p:sp>
        <p:nvSpPr>
          <p:cNvPr id="21" name="icon-box"/>
          <p:cNvSpPr/>
          <p:nvPr/>
        </p:nvSpPr>
        <p:spPr>
          <a:xfrm>
            <a:off x="4297680" y="5074920"/>
            <a:ext cx="548640" cy="548640"/>
          </a:xfrm>
          <a:prstGeom prst="rect">
            <a:avLst/>
          </a:prstGeom>
          <a:solidFill>
            <a:srgbClr val="181D22"/>
          </a:solidFill>
          <a:ln w="12700">
            <a:solidFill>
              <a:srgbClr val="2F3943"/>
            </a:solidFill>
            <a:prstDash val="solid"/>
          </a:ln>
        </p:spPr>
      </p:sp>
      <p:pic>
        <p:nvPicPr>
          <p:cNvPr id="22" name="Image 1" descr="icon">    </p:cNvPr>
          <p:cNvPicPr>
            <a:picLocks noChangeAspect="1"/>
          </p:cNvPicPr>
          <p:nvPr/>
        </p:nvPicPr>
        <p:blipFill>
          <a:blip r:embed="rId2"/>
          <a:stretch>
            <a:fillRect/>
          </a:stretch>
        </p:blipFill>
        <p:spPr>
          <a:xfrm>
            <a:off x="4445813" y="5223053"/>
            <a:ext cx="252374" cy="252374"/>
          </a:xfrm>
          <a:prstGeom prst="rect">
            <a:avLst/>
          </a:prstGeom>
        </p:spPr>
      </p:pic>
      <p:sp>
        <p:nvSpPr>
          <p:cNvPr id="23" name="Text 18"/>
          <p:cNvSpPr txBox="1"/>
          <p:nvPr/>
        </p:nvSpPr>
        <p:spPr>
          <a:xfrm>
            <a:off x="502920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Optional local LLM</a:t>
            </a:r>
            <a:endParaRPr lang="en-US" sz="1500" dirty="0"/>
          </a:p>
        </p:txBody>
      </p:sp>
      <p:sp>
        <p:nvSpPr>
          <p:cNvPr id="24" name="Text 19"/>
          <p:cNvSpPr txBox="1"/>
          <p:nvPr/>
        </p:nvSpPr>
        <p:spPr>
          <a:xfrm>
            <a:off x="502920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Ollama or llama.cpp, on your machine.</a:t>
            </a:r>
            <a:endParaRPr lang="en-US" sz="1200" dirty="0"/>
          </a:p>
        </p:txBody>
      </p:sp>
      <p:sp>
        <p:nvSpPr>
          <p:cNvPr id="25" name="icon-box"/>
          <p:cNvSpPr/>
          <p:nvPr/>
        </p:nvSpPr>
        <p:spPr>
          <a:xfrm>
            <a:off x="8046720" y="5074920"/>
            <a:ext cx="548640" cy="548640"/>
          </a:xfrm>
          <a:prstGeom prst="rect">
            <a:avLst/>
          </a:prstGeom>
          <a:solidFill>
            <a:srgbClr val="181D22"/>
          </a:solidFill>
          <a:ln w="12700">
            <a:solidFill>
              <a:srgbClr val="2F3943"/>
            </a:solidFill>
            <a:prstDash val="solid"/>
          </a:ln>
        </p:spPr>
      </p:sp>
      <p:pic>
        <p:nvPicPr>
          <p:cNvPr id="26" name="Image 2" descr="icon">    </p:cNvPr>
          <p:cNvPicPr>
            <a:picLocks noChangeAspect="1"/>
          </p:cNvPicPr>
          <p:nvPr/>
        </p:nvPicPr>
        <p:blipFill>
          <a:blip r:embed="rId3"/>
          <a:stretch>
            <a:fillRect/>
          </a:stretch>
        </p:blipFill>
        <p:spPr>
          <a:xfrm>
            <a:off x="8194853" y="5223053"/>
            <a:ext cx="252374" cy="252374"/>
          </a:xfrm>
          <a:prstGeom prst="rect">
            <a:avLst/>
          </a:prstGeom>
        </p:spPr>
      </p:pic>
      <p:sp>
        <p:nvSpPr>
          <p:cNvPr id="27" name="Text 21"/>
          <p:cNvSpPr txBox="1"/>
          <p:nvPr/>
        </p:nvSpPr>
        <p:spPr>
          <a:xfrm>
            <a:off x="877824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Fact-checked</a:t>
            </a:r>
            <a:endParaRPr lang="en-US" sz="1500" dirty="0"/>
          </a:p>
        </p:txBody>
      </p:sp>
      <p:sp>
        <p:nvSpPr>
          <p:cNvPr id="28" name="Text 22"/>
          <p:cNvSpPr txBox="1"/>
          <p:nvPr/>
        </p:nvSpPr>
        <p:spPr>
          <a:xfrm>
            <a:off x="877824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Invented facts are rejected; the template is used instead.</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Alerts where the admin already is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11  /  NOTIFICATIONS</a:t>
            </a:r>
            <a:endParaRPr lang="en-US" sz="1100" dirty="0"/>
          </a:p>
        </p:txBody>
      </p:sp>
      <p:sp>
        <p:nvSpPr>
          <p:cNvPr id="5" name="card"/>
          <p:cNvSpPr/>
          <p:nvPr/>
        </p:nvSpPr>
        <p:spPr>
          <a:xfrm>
            <a:off x="548640" y="1691640"/>
            <a:ext cx="1737360" cy="1920240"/>
          </a:xfrm>
          <a:prstGeom prst="rect">
            <a:avLst/>
          </a:prstGeom>
          <a:solidFill>
            <a:srgbClr val="12161A"/>
          </a:solidFill>
          <a:ln w="12700">
            <a:solidFill>
              <a:srgbClr val="232A31"/>
            </a:solidFill>
            <a:prstDash val="solid"/>
          </a:ln>
        </p:spPr>
      </p:sp>
      <p:pic>
        <p:nvPicPr>
          <p:cNvPr id="6" name="Image 0" descr="Slack">    </p:cNvPr>
          <p:cNvPicPr>
            <a:picLocks noChangeAspect="1"/>
          </p:cNvPicPr>
          <p:nvPr/>
        </p:nvPicPr>
        <p:blipFill>
          <a:blip r:embed="rId1"/>
          <a:stretch>
            <a:fillRect/>
          </a:stretch>
        </p:blipFill>
        <p:spPr>
          <a:xfrm>
            <a:off x="1097280" y="1920240"/>
            <a:ext cx="640080" cy="640080"/>
          </a:xfrm>
          <a:prstGeom prst="rect">
            <a:avLst/>
          </a:prstGeom>
        </p:spPr>
      </p:pic>
      <p:sp>
        <p:nvSpPr>
          <p:cNvPr id="7" name="Text 3"/>
          <p:cNvSpPr txBox="1"/>
          <p:nvPr/>
        </p:nvSpPr>
        <p:spPr>
          <a:xfrm>
            <a:off x="54864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Slack</a:t>
            </a:r>
            <a:endParaRPr lang="en-US" sz="1700" dirty="0"/>
          </a:p>
        </p:txBody>
      </p:sp>
      <p:sp>
        <p:nvSpPr>
          <p:cNvPr id="8" name="Text 4"/>
          <p:cNvSpPr txBox="1"/>
          <p:nvPr/>
        </p:nvSpPr>
        <p:spPr>
          <a:xfrm>
            <a:off x="54864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incoming webhook</a:t>
            </a:r>
            <a:endParaRPr lang="en-US" sz="1000" dirty="0"/>
          </a:p>
        </p:txBody>
      </p:sp>
      <p:sp>
        <p:nvSpPr>
          <p:cNvPr id="9" name="card"/>
          <p:cNvSpPr/>
          <p:nvPr/>
        </p:nvSpPr>
        <p:spPr>
          <a:xfrm>
            <a:off x="2468880" y="1691640"/>
            <a:ext cx="1737360" cy="1920240"/>
          </a:xfrm>
          <a:prstGeom prst="rect">
            <a:avLst/>
          </a:prstGeom>
          <a:solidFill>
            <a:srgbClr val="12161A"/>
          </a:solidFill>
          <a:ln w="12700">
            <a:solidFill>
              <a:srgbClr val="232A31"/>
            </a:solidFill>
            <a:prstDash val="solid"/>
          </a:ln>
        </p:spPr>
      </p:sp>
      <p:pic>
        <p:nvPicPr>
          <p:cNvPr id="10" name="Image 1" descr="Discord">    </p:cNvPr>
          <p:cNvPicPr>
            <a:picLocks noChangeAspect="1"/>
          </p:cNvPicPr>
          <p:nvPr/>
        </p:nvPicPr>
        <p:blipFill>
          <a:blip r:embed="rId2"/>
          <a:stretch>
            <a:fillRect/>
          </a:stretch>
        </p:blipFill>
        <p:spPr>
          <a:xfrm>
            <a:off x="3017520" y="1920240"/>
            <a:ext cx="640080" cy="640080"/>
          </a:xfrm>
          <a:prstGeom prst="rect">
            <a:avLst/>
          </a:prstGeom>
        </p:spPr>
      </p:pic>
      <p:sp>
        <p:nvSpPr>
          <p:cNvPr id="11" name="Text 6"/>
          <p:cNvSpPr txBox="1"/>
          <p:nvPr/>
        </p:nvSpPr>
        <p:spPr>
          <a:xfrm>
            <a:off x="246888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Discord</a:t>
            </a:r>
            <a:endParaRPr lang="en-US" sz="1700" dirty="0"/>
          </a:p>
        </p:txBody>
      </p:sp>
      <p:sp>
        <p:nvSpPr>
          <p:cNvPr id="12" name="Text 7"/>
          <p:cNvSpPr txBox="1"/>
          <p:nvPr/>
        </p:nvSpPr>
        <p:spPr>
          <a:xfrm>
            <a:off x="246888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webhook</a:t>
            </a:r>
            <a:endParaRPr lang="en-US" sz="1000" dirty="0"/>
          </a:p>
        </p:txBody>
      </p:sp>
      <p:sp>
        <p:nvSpPr>
          <p:cNvPr id="13" name="card"/>
          <p:cNvSpPr/>
          <p:nvPr/>
        </p:nvSpPr>
        <p:spPr>
          <a:xfrm>
            <a:off x="4389120" y="1691640"/>
            <a:ext cx="1737360" cy="1920240"/>
          </a:xfrm>
          <a:prstGeom prst="rect">
            <a:avLst/>
          </a:prstGeom>
          <a:solidFill>
            <a:srgbClr val="12161A"/>
          </a:solidFill>
          <a:ln w="12700">
            <a:solidFill>
              <a:srgbClr val="232A31"/>
            </a:solidFill>
            <a:prstDash val="solid"/>
          </a:ln>
        </p:spPr>
      </p:sp>
      <p:pic>
        <p:nvPicPr>
          <p:cNvPr id="14" name="Image 2" descr="Telegram">    </p:cNvPr>
          <p:cNvPicPr>
            <a:picLocks noChangeAspect="1"/>
          </p:cNvPicPr>
          <p:nvPr/>
        </p:nvPicPr>
        <p:blipFill>
          <a:blip r:embed="rId3"/>
          <a:stretch>
            <a:fillRect/>
          </a:stretch>
        </p:blipFill>
        <p:spPr>
          <a:xfrm>
            <a:off x="4937760" y="1920240"/>
            <a:ext cx="640080" cy="640080"/>
          </a:xfrm>
          <a:prstGeom prst="rect">
            <a:avLst/>
          </a:prstGeom>
        </p:spPr>
      </p:pic>
      <p:sp>
        <p:nvSpPr>
          <p:cNvPr id="15" name="Text 9"/>
          <p:cNvSpPr txBox="1"/>
          <p:nvPr/>
        </p:nvSpPr>
        <p:spPr>
          <a:xfrm>
            <a:off x="438912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Telegram</a:t>
            </a:r>
            <a:endParaRPr lang="en-US" sz="1700" dirty="0"/>
          </a:p>
        </p:txBody>
      </p:sp>
      <p:sp>
        <p:nvSpPr>
          <p:cNvPr id="16" name="Text 10"/>
          <p:cNvSpPr txBox="1"/>
          <p:nvPr/>
        </p:nvSpPr>
        <p:spPr>
          <a:xfrm>
            <a:off x="438912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bot token + chat id</a:t>
            </a:r>
            <a:endParaRPr lang="en-US" sz="1000" dirty="0"/>
          </a:p>
        </p:txBody>
      </p:sp>
      <p:sp>
        <p:nvSpPr>
          <p:cNvPr id="17" name="panel-head"/>
          <p:cNvSpPr/>
          <p:nvPr/>
        </p:nvSpPr>
        <p:spPr>
          <a:xfrm>
            <a:off x="6492240" y="1691640"/>
            <a:ext cx="5166360" cy="365760"/>
          </a:xfrm>
          <a:prstGeom prst="rect">
            <a:avLst/>
          </a:prstGeom>
          <a:solidFill>
            <a:srgbClr val="0A0C0F"/>
          </a:solidFill>
          <a:ln w="12700">
            <a:solidFill>
              <a:srgbClr val="232A31"/>
            </a:solidFill>
            <a:prstDash val="solid"/>
          </a:ln>
        </p:spPr>
      </p:sp>
      <p:sp>
        <p:nvSpPr>
          <p:cNvPr id="18" name="Text 12"/>
          <p:cNvSpPr txBox="1"/>
          <p:nvPr/>
        </p:nvSpPr>
        <p:spPr>
          <a:xfrm>
            <a:off x="6629400" y="1764792"/>
            <a:ext cx="489204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ARRIVES</a:t>
            </a:r>
            <a:endParaRPr lang="en-US" sz="1000" dirty="0"/>
          </a:p>
        </p:txBody>
      </p:sp>
      <p:sp>
        <p:nvSpPr>
          <p:cNvPr id="19" name="panel"/>
          <p:cNvSpPr/>
          <p:nvPr/>
        </p:nvSpPr>
        <p:spPr>
          <a:xfrm>
            <a:off x="6492240" y="2057400"/>
            <a:ext cx="5166360" cy="1554480"/>
          </a:xfrm>
          <a:prstGeom prst="rect">
            <a:avLst/>
          </a:prstGeom>
          <a:solidFill>
            <a:srgbClr val="12161A"/>
          </a:solidFill>
          <a:ln w="12700">
            <a:solidFill>
              <a:srgbClr val="232A31"/>
            </a:solidFill>
            <a:prstDash val="solid"/>
          </a:ln>
        </p:spPr>
      </p:sp>
      <p:sp>
        <p:nvSpPr>
          <p:cNvPr id="20" name="Text 14"/>
          <p:cNvSpPr txBox="1"/>
          <p:nvPr/>
        </p:nvSpPr>
        <p:spPr>
          <a:xfrm>
            <a:off x="6675120" y="2194560"/>
            <a:ext cx="4846320" cy="274320"/>
          </a:xfrm>
          <a:prstGeom prst="rect">
            <a:avLst/>
          </a:prstGeom>
          <a:noFill/>
          <a:ln/>
        </p:spPr>
        <p:txBody>
          <a:bodyPr wrap="square" lIns="0" tIns="0" rIns="0" bIns="0" rtlCol="0" anchor="ctr"/>
          <a:lstStyle/>
          <a:p>
            <a:pPr indent="0" marL="0">
              <a:buNone/>
            </a:pPr>
            <a:r>
              <a:rPr lang="en-US" sz="1200" b="1" dirty="0">
                <a:solidFill>
                  <a:srgbClr val="C4403F"/>
                </a:solidFill>
                <a:latin typeface="Courier New" pitchFamily="34" charset="0"/>
                <a:ea typeface="Courier New" pitchFamily="34" charset="-122"/>
                <a:cs typeface="Courier New" pitchFamily="34" charset="-120"/>
              </a:rPr>
              <a:t>[CRITICAL] Device is probing many network ports</a:t>
            </a:r>
            <a:endParaRPr lang="en-US" sz="1200" dirty="0"/>
          </a:p>
        </p:txBody>
      </p:sp>
      <p:sp>
        <p:nvSpPr>
          <p:cNvPr id="21" name="Text 15"/>
          <p:cNvSpPr txBox="1"/>
          <p:nvPr/>
        </p:nvSpPr>
        <p:spPr>
          <a:xfrm>
            <a:off x="6675120" y="2542032"/>
            <a:ext cx="4846320" cy="1005840"/>
          </a:xfrm>
          <a:prstGeom prst="rect">
            <a:avLst/>
          </a:prstGeom>
          <a:noFill/>
          <a:ln/>
        </p:spPr>
        <p:txBody>
          <a:bodyPr wrap="square" lIns="0" tIns="0" rIns="0" bIns="0" rtlCol="0" anchor="t"/>
          <a:lstStyle/>
          <a:p>
            <a:pPr indent="0" marL="0">
              <a:buNone/>
            </a:pPr>
            <a:r>
              <a:rPr lang="en-US" sz="1200" dirty="0">
                <a:solidFill>
                  <a:srgbClr val="CBD2D9"/>
                </a:solidFill>
                <a:latin typeface="Calibri" pitchFamily="34" charset="0"/>
                <a:ea typeface="Calibri" pitchFamily="34" charset="-122"/>
                <a:cs typeface="Calibri" pitchFamily="34" charset="-120"/>
              </a:rPr>
              <a:t>Device 192.168.2.30 tried 400 different ports on 192.168.2.20 within 10 seconds, and 99% of the attempts failed. Check what this device is running, or disconnect it if you do not recognise this.</a:t>
            </a:r>
            <a:endParaRPr lang="en-US" sz="1200" dirty="0"/>
          </a:p>
        </p:txBody>
      </p:sp>
      <p:sp>
        <p:nvSpPr>
          <p:cNvPr id="22" name="Text 16"/>
          <p:cNvSpPr txBox="1"/>
          <p:nvPr/>
        </p:nvSpPr>
        <p:spPr>
          <a:xfrm>
            <a:off x="548640" y="3977640"/>
            <a:ext cx="73152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POLICIES THAT PREVENT ALERT FATIGUE</a:t>
            </a:r>
            <a:endParaRPr lang="en-US" sz="1000" dirty="0"/>
          </a:p>
        </p:txBody>
      </p:sp>
      <p:sp>
        <p:nvSpPr>
          <p:cNvPr id="23" name="policy"/>
          <p:cNvSpPr/>
          <p:nvPr/>
        </p:nvSpPr>
        <p:spPr>
          <a:xfrm>
            <a:off x="548640" y="4343400"/>
            <a:ext cx="2103120" cy="914400"/>
          </a:xfrm>
          <a:prstGeom prst="rect">
            <a:avLst/>
          </a:prstGeom>
          <a:solidFill>
            <a:srgbClr val="12161A"/>
          </a:solidFill>
          <a:ln w="12700">
            <a:solidFill>
              <a:srgbClr val="232A31"/>
            </a:solidFill>
            <a:prstDash val="solid"/>
          </a:ln>
        </p:spPr>
      </p:sp>
      <p:sp>
        <p:nvSpPr>
          <p:cNvPr id="24" name="Text 18"/>
          <p:cNvSpPr txBox="1"/>
          <p:nvPr/>
        </p:nvSpPr>
        <p:spPr>
          <a:xfrm>
            <a:off x="71323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severity floor</a:t>
            </a:r>
            <a:endParaRPr lang="en-US" sz="1400" dirty="0"/>
          </a:p>
        </p:txBody>
      </p:sp>
      <p:sp>
        <p:nvSpPr>
          <p:cNvPr id="25" name="Text 19"/>
          <p:cNvSpPr txBox="1"/>
          <p:nvPr/>
        </p:nvSpPr>
        <p:spPr>
          <a:xfrm>
            <a:off x="71323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default 0.6</a:t>
            </a:r>
            <a:endParaRPr lang="en-US" sz="1050" dirty="0"/>
          </a:p>
        </p:txBody>
      </p:sp>
      <p:sp>
        <p:nvSpPr>
          <p:cNvPr id="26" name="policy"/>
          <p:cNvSpPr/>
          <p:nvPr/>
        </p:nvSpPr>
        <p:spPr>
          <a:xfrm>
            <a:off x="2788920" y="4343400"/>
            <a:ext cx="2103120" cy="914400"/>
          </a:xfrm>
          <a:prstGeom prst="rect">
            <a:avLst/>
          </a:prstGeom>
          <a:solidFill>
            <a:srgbClr val="12161A"/>
          </a:solidFill>
          <a:ln w="12700">
            <a:solidFill>
              <a:srgbClr val="232A31"/>
            </a:solidFill>
            <a:prstDash val="solid"/>
          </a:ln>
        </p:spPr>
      </p:sp>
      <p:sp>
        <p:nvSpPr>
          <p:cNvPr id="27" name="Text 21"/>
          <p:cNvSpPr txBox="1"/>
          <p:nvPr/>
        </p:nvSpPr>
        <p:spPr>
          <a:xfrm>
            <a:off x="295351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de-duplication</a:t>
            </a:r>
            <a:endParaRPr lang="en-US" sz="1400" dirty="0"/>
          </a:p>
        </p:txBody>
      </p:sp>
      <p:sp>
        <p:nvSpPr>
          <p:cNvPr id="28" name="Text 22"/>
          <p:cNvSpPr txBox="1"/>
          <p:nvPr/>
        </p:nvSpPr>
        <p:spPr>
          <a:xfrm>
            <a:off x="295351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one per chain step</a:t>
            </a:r>
            <a:endParaRPr lang="en-US" sz="1050" dirty="0"/>
          </a:p>
        </p:txBody>
      </p:sp>
      <p:sp>
        <p:nvSpPr>
          <p:cNvPr id="29" name="policy"/>
          <p:cNvSpPr/>
          <p:nvPr/>
        </p:nvSpPr>
        <p:spPr>
          <a:xfrm>
            <a:off x="5029200" y="4343400"/>
            <a:ext cx="2103120" cy="914400"/>
          </a:xfrm>
          <a:prstGeom prst="rect">
            <a:avLst/>
          </a:prstGeom>
          <a:solidFill>
            <a:srgbClr val="12161A"/>
          </a:solidFill>
          <a:ln w="12700">
            <a:solidFill>
              <a:srgbClr val="232A31"/>
            </a:solidFill>
            <a:prstDash val="solid"/>
          </a:ln>
        </p:spPr>
      </p:sp>
      <p:sp>
        <p:nvSpPr>
          <p:cNvPr id="30" name="Text 24"/>
          <p:cNvSpPr txBox="1"/>
          <p:nvPr/>
        </p:nvSpPr>
        <p:spPr>
          <a:xfrm>
            <a:off x="519379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rate limit</a:t>
            </a:r>
            <a:endParaRPr lang="en-US" sz="1400" dirty="0"/>
          </a:p>
        </p:txBody>
      </p:sp>
      <p:sp>
        <p:nvSpPr>
          <p:cNvPr id="31" name="Text 25"/>
          <p:cNvSpPr txBox="1"/>
          <p:nvPr/>
        </p:nvSpPr>
        <p:spPr>
          <a:xfrm>
            <a:off x="519379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10 / min / channel</a:t>
            </a:r>
            <a:endParaRPr lang="en-US" sz="1050" dirty="0"/>
          </a:p>
        </p:txBody>
      </p:sp>
      <p:sp>
        <p:nvSpPr>
          <p:cNvPr id="32" name="policy"/>
          <p:cNvSpPr/>
          <p:nvPr/>
        </p:nvSpPr>
        <p:spPr>
          <a:xfrm>
            <a:off x="7269480" y="4343400"/>
            <a:ext cx="2103120" cy="914400"/>
          </a:xfrm>
          <a:prstGeom prst="rect">
            <a:avLst/>
          </a:prstGeom>
          <a:solidFill>
            <a:srgbClr val="12161A"/>
          </a:solidFill>
          <a:ln w="12700">
            <a:solidFill>
              <a:srgbClr val="232A31"/>
            </a:solidFill>
            <a:prstDash val="solid"/>
          </a:ln>
        </p:spPr>
      </p:sp>
      <p:sp>
        <p:nvSpPr>
          <p:cNvPr id="33" name="Text 27"/>
          <p:cNvSpPr txBox="1"/>
          <p:nvPr/>
        </p:nvSpPr>
        <p:spPr>
          <a:xfrm>
            <a:off x="743407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retry + back-off</a:t>
            </a:r>
            <a:endParaRPr lang="en-US" sz="1400" dirty="0"/>
          </a:p>
        </p:txBody>
      </p:sp>
      <p:sp>
        <p:nvSpPr>
          <p:cNvPr id="34" name="Text 28"/>
          <p:cNvSpPr txBox="1"/>
          <p:nvPr/>
        </p:nvSpPr>
        <p:spPr>
          <a:xfrm>
            <a:off x="743407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2 retries</a:t>
            </a:r>
            <a:endParaRPr lang="en-US" sz="1050" dirty="0"/>
          </a:p>
        </p:txBody>
      </p:sp>
      <p:sp>
        <p:nvSpPr>
          <p:cNvPr id="35" name="policy"/>
          <p:cNvSpPr/>
          <p:nvPr/>
        </p:nvSpPr>
        <p:spPr>
          <a:xfrm>
            <a:off x="9509760" y="4343400"/>
            <a:ext cx="2103120" cy="914400"/>
          </a:xfrm>
          <a:prstGeom prst="rect">
            <a:avLst/>
          </a:prstGeom>
          <a:solidFill>
            <a:srgbClr val="12161A"/>
          </a:solidFill>
          <a:ln w="12700">
            <a:solidFill>
              <a:srgbClr val="232A31"/>
            </a:solidFill>
            <a:prstDash val="solid"/>
          </a:ln>
        </p:spPr>
      </p:sp>
      <p:sp>
        <p:nvSpPr>
          <p:cNvPr id="36" name="Text 30"/>
          <p:cNvSpPr txBox="1"/>
          <p:nvPr/>
        </p:nvSpPr>
        <p:spPr>
          <a:xfrm>
            <a:off x="967435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circuit breaker</a:t>
            </a:r>
            <a:endParaRPr lang="en-US" sz="1400" dirty="0"/>
          </a:p>
        </p:txBody>
      </p:sp>
      <p:sp>
        <p:nvSpPr>
          <p:cNvPr id="37" name="Text 31"/>
          <p:cNvSpPr txBox="1"/>
          <p:nvPr/>
        </p:nvSpPr>
        <p:spPr>
          <a:xfrm>
            <a:off x="967435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3 failures, 5 min off</a:t>
            </a:r>
            <a:endParaRPr lang="en-US" sz="1050" dirty="0"/>
          </a:p>
        </p:txBody>
      </p:sp>
      <p:sp>
        <p:nvSpPr>
          <p:cNvPr id="38" name="honest"/>
          <p:cNvSpPr/>
          <p:nvPr/>
        </p:nvSpPr>
        <p:spPr>
          <a:xfrm>
            <a:off x="548640" y="5532120"/>
            <a:ext cx="11109960" cy="594360"/>
          </a:xfrm>
          <a:prstGeom prst="rect">
            <a:avLst/>
          </a:prstGeom>
          <a:solidFill>
            <a:srgbClr val="181D22"/>
          </a:solidFill>
          <a:ln w="12700">
            <a:solidFill>
              <a:srgbClr val="2F3943"/>
            </a:solidFill>
            <a:prstDash val="solid"/>
          </a:ln>
        </p:spPr>
      </p:sp>
      <p:sp>
        <p:nvSpPr>
          <p:cNvPr id="39" name="honest-edge"/>
          <p:cNvSpPr/>
          <p:nvPr/>
        </p:nvSpPr>
        <p:spPr>
          <a:xfrm>
            <a:off x="548640" y="5532120"/>
            <a:ext cx="73152" cy="594360"/>
          </a:xfrm>
          <a:prstGeom prst="rect">
            <a:avLst/>
          </a:prstGeom>
          <a:solidFill>
            <a:srgbClr val="B8993B"/>
          </a:solidFill>
          <a:ln/>
        </p:spPr>
      </p:sp>
      <p:sp>
        <p:nvSpPr>
          <p:cNvPr id="40" name="Text 34"/>
          <p:cNvSpPr txBox="1"/>
          <p:nvPr/>
        </p:nvSpPr>
        <p:spPr>
          <a:xfrm>
            <a:off x="868680" y="5532120"/>
            <a:ext cx="10607040" cy="594360"/>
          </a:xfrm>
          <a:prstGeom prst="rect">
            <a:avLst/>
          </a:prstGeom>
          <a:noFill/>
          <a:ln/>
        </p:spPr>
        <p:txBody>
          <a:bodyPr wrap="square" lIns="0" tIns="0" rIns="0" bIns="0" rtlCol="0" anchor="ctr"/>
          <a:lstStyle/>
          <a:p>
            <a:pPr indent="0" marL="0">
              <a:buNone/>
            </a:pPr>
            <a:r>
              <a:rPr lang="en-US" sz="1250" b="1" dirty="0">
                <a:solidFill>
                  <a:srgbClr val="E6EAEE"/>
                </a:solidFill>
                <a:latin typeface="Calibri" pitchFamily="34" charset="0"/>
                <a:ea typeface="Calibri" pitchFamily="34" charset="-122"/>
                <a:cs typeface="Calibri" pitchFamily="34" charset="-120"/>
              </a:rPr>
              <a:t>Opt-in, off by default. </a:t>
            </a:r>
            <a:pPr indent="0" marL="0">
              <a:buNone/>
            </a:pPr>
            <a:r>
              <a:rPr lang="en-US" sz="1250" dirty="0">
                <a:solidFill>
                  <a:srgbClr val="CBD2D9"/>
                </a:solidFill>
                <a:latin typeface="Calibri" pitchFamily="34" charset="0"/>
                <a:ea typeface="Calibri" pitchFamily="34" charset="-122"/>
                <a:cs typeface="Calibri" pitchFamily="34" charset="-120"/>
              </a:rPr>
              <a:t>Keys stay in a private file. Messages never contain packet data. Delivery is tested against fakes; real-channel delivery is still to be confirmed.</a:t>
            </a:r>
            <a:endParaRPr lang="en-US" sz="12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security tool has to be safe to run</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12  /  SECURITY BY DESIGN</a:t>
            </a:r>
            <a:endParaRPr lang="en-US" sz="1100" dirty="0"/>
          </a:p>
        </p:txBody>
      </p:sp>
      <p:sp>
        <p:nvSpPr>
          <p:cNvPr id="5" name="icon-box"/>
          <p:cNvSpPr/>
          <p:nvPr/>
        </p:nvSpPr>
        <p:spPr>
          <a:xfrm>
            <a:off x="548640" y="1645920"/>
            <a:ext cx="640080" cy="640080"/>
          </a:xfrm>
          <a:prstGeom prst="rect">
            <a:avLst/>
          </a:prstGeom>
          <a:solidFill>
            <a:srgbClr val="181D22"/>
          </a:solidFill>
          <a:ln w="12700">
            <a:solidFill>
              <a:srgbClr val="2F3943"/>
            </a:solidFill>
            <a:prstDash val="solid"/>
          </a:ln>
        </p:spPr>
      </p:sp>
      <p:pic>
        <p:nvPicPr>
          <p:cNvPr id="6" name="Image 0" descr="icon">    </p:cNvPr>
          <p:cNvPicPr>
            <a:picLocks noChangeAspect="1"/>
          </p:cNvPicPr>
          <p:nvPr/>
        </p:nvPicPr>
        <p:blipFill>
          <a:blip r:embed="rId1"/>
          <a:stretch>
            <a:fillRect/>
          </a:stretch>
        </p:blipFill>
        <p:spPr>
          <a:xfrm>
            <a:off x="721462" y="1818742"/>
            <a:ext cx="294437" cy="294437"/>
          </a:xfrm>
          <a:prstGeom prst="rect">
            <a:avLst/>
          </a:prstGeom>
        </p:spPr>
      </p:pic>
      <p:sp>
        <p:nvSpPr>
          <p:cNvPr id="7" name="Text 3"/>
          <p:cNvSpPr txBox="1"/>
          <p:nvPr/>
        </p:nvSpPr>
        <p:spPr>
          <a:xfrm>
            <a:off x="1417320" y="1618488"/>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Network text is hostile</a:t>
            </a:r>
            <a:endParaRPr lang="en-US" sz="1700" dirty="0"/>
          </a:p>
        </p:txBody>
      </p:sp>
      <p:sp>
        <p:nvSpPr>
          <p:cNvPr id="8" name="Text 4"/>
          <p:cNvSpPr txBox="1"/>
          <p:nvPr/>
        </p:nvSpPr>
        <p:spPr>
          <a:xfrm>
            <a:off x="1417320" y="1975104"/>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DNS names and hostnames pass one sanitiser before any LLM, alert or screen. The console shows them as plain text only.</a:t>
            </a:r>
            <a:endParaRPr lang="en-US" sz="1250" dirty="0"/>
          </a:p>
        </p:txBody>
      </p:sp>
      <p:sp>
        <p:nvSpPr>
          <p:cNvPr id="9" name="icon-box"/>
          <p:cNvSpPr/>
          <p:nvPr/>
        </p:nvSpPr>
        <p:spPr>
          <a:xfrm>
            <a:off x="548640" y="2551176"/>
            <a:ext cx="640080" cy="640080"/>
          </a:xfrm>
          <a:prstGeom prst="rect">
            <a:avLst/>
          </a:prstGeom>
          <a:solidFill>
            <a:srgbClr val="181D22"/>
          </a:solidFill>
          <a:ln w="12700">
            <a:solidFill>
              <a:srgbClr val="2F3943"/>
            </a:solidFill>
            <a:prstDash val="solid"/>
          </a:ln>
        </p:spPr>
      </p:sp>
      <p:pic>
        <p:nvPicPr>
          <p:cNvPr id="10" name="Image 1" descr="icon">    </p:cNvPr>
          <p:cNvPicPr>
            <a:picLocks noChangeAspect="1"/>
          </p:cNvPicPr>
          <p:nvPr/>
        </p:nvPicPr>
        <p:blipFill>
          <a:blip r:embed="rId2"/>
          <a:stretch>
            <a:fillRect/>
          </a:stretch>
        </p:blipFill>
        <p:spPr>
          <a:xfrm>
            <a:off x="721462" y="2723998"/>
            <a:ext cx="294437" cy="294437"/>
          </a:xfrm>
          <a:prstGeom prst="rect">
            <a:avLst/>
          </a:prstGeom>
        </p:spPr>
      </p:pic>
      <p:sp>
        <p:nvSpPr>
          <p:cNvPr id="11" name="Text 6"/>
          <p:cNvSpPr txBox="1"/>
          <p:nvPr/>
        </p:nvSpPr>
        <p:spPr>
          <a:xfrm>
            <a:off x="1417320" y="2523744"/>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A locked-down console</a:t>
            </a:r>
            <a:endParaRPr lang="en-US" sz="1700" dirty="0"/>
          </a:p>
        </p:txBody>
      </p:sp>
      <p:sp>
        <p:nvSpPr>
          <p:cNvPr id="12" name="Text 7"/>
          <p:cNvSpPr txBox="1"/>
          <p:nvPr/>
        </p:nvSpPr>
        <p:spPr>
          <a:xfrm>
            <a:off x="1417320" y="2880360"/>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127.0.0.1 only, per-run token, strict content-security policy, no inline scripts, and a test that fails if HTML is built from strings.</a:t>
            </a:r>
            <a:endParaRPr lang="en-US" sz="1250" dirty="0"/>
          </a:p>
        </p:txBody>
      </p:sp>
      <p:sp>
        <p:nvSpPr>
          <p:cNvPr id="13" name="icon-box"/>
          <p:cNvSpPr/>
          <p:nvPr/>
        </p:nvSpPr>
        <p:spPr>
          <a:xfrm>
            <a:off x="548640" y="3456432"/>
            <a:ext cx="640080" cy="640080"/>
          </a:xfrm>
          <a:prstGeom prst="rect">
            <a:avLst/>
          </a:prstGeom>
          <a:solidFill>
            <a:srgbClr val="181D22"/>
          </a:solidFill>
          <a:ln w="12700">
            <a:solidFill>
              <a:srgbClr val="2F3943"/>
            </a:solidFill>
            <a:prstDash val="solid"/>
          </a:ln>
        </p:spPr>
      </p:sp>
      <p:pic>
        <p:nvPicPr>
          <p:cNvPr id="14" name="Image 2" descr="icon">    </p:cNvPr>
          <p:cNvPicPr>
            <a:picLocks noChangeAspect="1"/>
          </p:cNvPicPr>
          <p:nvPr/>
        </p:nvPicPr>
        <p:blipFill>
          <a:blip r:embed="rId3"/>
          <a:stretch>
            <a:fillRect/>
          </a:stretch>
        </p:blipFill>
        <p:spPr>
          <a:xfrm>
            <a:off x="721462" y="3629254"/>
            <a:ext cx="294437" cy="294437"/>
          </a:xfrm>
          <a:prstGeom prst="rect">
            <a:avLst/>
          </a:prstGeom>
        </p:spPr>
      </p:pic>
      <p:sp>
        <p:nvSpPr>
          <p:cNvPr id="15" name="Text 9"/>
          <p:cNvSpPr txBox="1"/>
          <p:nvPr/>
        </p:nvSpPr>
        <p:spPr>
          <a:xfrm>
            <a:off x="1417320" y="3429000"/>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Observe and alert only</a:t>
            </a:r>
            <a:endParaRPr lang="en-US" sz="1700" dirty="0"/>
          </a:p>
        </p:txBody>
      </p:sp>
      <p:sp>
        <p:nvSpPr>
          <p:cNvPr id="16" name="Text 10"/>
          <p:cNvSpPr txBox="1"/>
          <p:nvPr/>
        </p:nvSpPr>
        <p:spPr>
          <a:xfrm>
            <a:off x="1417320" y="3785616"/>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Sentinel never blocks, changes firewall rules or touches the network. A human decides what to do.</a:t>
            </a:r>
            <a:endParaRPr lang="en-US" sz="1250" dirty="0"/>
          </a:p>
        </p:txBody>
      </p:sp>
      <p:sp>
        <p:nvSpPr>
          <p:cNvPr id="17" name="icon-box"/>
          <p:cNvSpPr/>
          <p:nvPr/>
        </p:nvSpPr>
        <p:spPr>
          <a:xfrm>
            <a:off x="548640" y="4361688"/>
            <a:ext cx="640080" cy="640080"/>
          </a:xfrm>
          <a:prstGeom prst="rect">
            <a:avLst/>
          </a:prstGeom>
          <a:solidFill>
            <a:srgbClr val="181D22"/>
          </a:solidFill>
          <a:ln w="12700">
            <a:solidFill>
              <a:srgbClr val="2F3943"/>
            </a:solidFill>
            <a:prstDash val="solid"/>
          </a:ln>
        </p:spPr>
      </p:sp>
      <p:pic>
        <p:nvPicPr>
          <p:cNvPr id="18" name="Image 3" descr="icon">    </p:cNvPr>
          <p:cNvPicPr>
            <a:picLocks noChangeAspect="1"/>
          </p:cNvPicPr>
          <p:nvPr/>
        </p:nvPicPr>
        <p:blipFill>
          <a:blip r:embed="rId4"/>
          <a:stretch>
            <a:fillRect/>
          </a:stretch>
        </p:blipFill>
        <p:spPr>
          <a:xfrm>
            <a:off x="721462" y="4534510"/>
            <a:ext cx="294437" cy="294437"/>
          </a:xfrm>
          <a:prstGeom prst="rect">
            <a:avLst/>
          </a:prstGeom>
        </p:spPr>
      </p:pic>
      <p:sp>
        <p:nvSpPr>
          <p:cNvPr id="19" name="Text 12"/>
          <p:cNvSpPr txBox="1"/>
          <p:nvPr/>
        </p:nvSpPr>
        <p:spPr>
          <a:xfrm>
            <a:off x="1417320" y="4334256"/>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Secrets stay private</a:t>
            </a:r>
            <a:endParaRPr lang="en-US" sz="1700" dirty="0"/>
          </a:p>
        </p:txBody>
      </p:sp>
      <p:sp>
        <p:nvSpPr>
          <p:cNvPr id="20" name="Text 13"/>
          <p:cNvSpPr txBox="1"/>
          <p:nvPr/>
        </p:nvSpPr>
        <p:spPr>
          <a:xfrm>
            <a:off x="1417320" y="4690872"/>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Webhook URLs and tokens live in a mode 600 file, are never printed or logged, and errors never leak URLs.</a:t>
            </a:r>
            <a:endParaRPr lang="en-US" sz="1250" dirty="0"/>
          </a:p>
        </p:txBody>
      </p:sp>
      <p:sp>
        <p:nvSpPr>
          <p:cNvPr id="21" name="icon-box"/>
          <p:cNvSpPr/>
          <p:nvPr/>
        </p:nvSpPr>
        <p:spPr>
          <a:xfrm>
            <a:off x="548640" y="5266944"/>
            <a:ext cx="640080" cy="640080"/>
          </a:xfrm>
          <a:prstGeom prst="rect">
            <a:avLst/>
          </a:prstGeom>
          <a:solidFill>
            <a:srgbClr val="181D22"/>
          </a:solidFill>
          <a:ln w="12700">
            <a:solidFill>
              <a:srgbClr val="2F3943"/>
            </a:solidFill>
            <a:prstDash val="solid"/>
          </a:ln>
        </p:spPr>
      </p:sp>
      <p:pic>
        <p:nvPicPr>
          <p:cNvPr id="22" name="Image 4" descr="icon">    </p:cNvPr>
          <p:cNvPicPr>
            <a:picLocks noChangeAspect="1"/>
          </p:cNvPicPr>
          <p:nvPr/>
        </p:nvPicPr>
        <p:blipFill>
          <a:blip r:embed="rId5"/>
          <a:stretch>
            <a:fillRect/>
          </a:stretch>
        </p:blipFill>
        <p:spPr>
          <a:xfrm>
            <a:off x="721462" y="5439766"/>
            <a:ext cx="294437" cy="294437"/>
          </a:xfrm>
          <a:prstGeom prst="rect">
            <a:avLst/>
          </a:prstGeom>
        </p:spPr>
      </p:pic>
      <p:sp>
        <p:nvSpPr>
          <p:cNvPr id="23" name="Text 15"/>
          <p:cNvSpPr txBox="1"/>
          <p:nvPr/>
        </p:nvSpPr>
        <p:spPr>
          <a:xfrm>
            <a:off x="1417320" y="5239512"/>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Attack scripts stay home</a:t>
            </a:r>
            <a:endParaRPr lang="en-US" sz="1700" dirty="0"/>
          </a:p>
        </p:txBody>
      </p:sp>
      <p:sp>
        <p:nvSpPr>
          <p:cNvPr id="24" name="Text 16"/>
          <p:cNvSpPr txBox="1"/>
          <p:nvPr/>
        </p:nvSpPr>
        <p:spPr>
          <a:xfrm>
            <a:off x="1417320" y="5596128"/>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The demo attacks refuse any target except loopback. Own machine only.</a:t>
            </a:r>
            <a:endParaRPr lang="en-US" sz="1250" dirty="0"/>
          </a:p>
        </p:txBody>
      </p:sp>
      <p:sp>
        <p:nvSpPr>
          <p:cNvPr id="25" name="stat-panel"/>
          <p:cNvSpPr/>
          <p:nvPr/>
        </p:nvSpPr>
        <p:spPr>
          <a:xfrm>
            <a:off x="7498080" y="1645920"/>
            <a:ext cx="4160520" cy="4434840"/>
          </a:xfrm>
          <a:prstGeom prst="rect">
            <a:avLst/>
          </a:prstGeom>
          <a:solidFill>
            <a:srgbClr val="12161A"/>
          </a:solidFill>
          <a:ln w="12700">
            <a:solidFill>
              <a:srgbClr val="232A31"/>
            </a:solidFill>
            <a:prstDash val="solid"/>
          </a:ln>
        </p:spPr>
      </p:sp>
      <p:sp>
        <p:nvSpPr>
          <p:cNvPr id="26" name="Text 18"/>
          <p:cNvSpPr txBox="1"/>
          <p:nvPr/>
        </p:nvSpPr>
        <p:spPr>
          <a:xfrm>
            <a:off x="7772400" y="1828800"/>
            <a:ext cx="36576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SECURITY TEST GROUP</a:t>
            </a:r>
            <a:endParaRPr lang="en-US" sz="1000" dirty="0"/>
          </a:p>
        </p:txBody>
      </p:sp>
      <p:sp>
        <p:nvSpPr>
          <p:cNvPr id="27" name="Text 19"/>
          <p:cNvSpPr txBox="1"/>
          <p:nvPr/>
        </p:nvSpPr>
        <p:spPr>
          <a:xfrm>
            <a:off x="7772400" y="2103120"/>
            <a:ext cx="1828800" cy="1097280"/>
          </a:xfrm>
          <a:prstGeom prst="rect">
            <a:avLst/>
          </a:prstGeom>
          <a:noFill/>
          <a:ln/>
        </p:spPr>
        <p:txBody>
          <a:bodyPr wrap="square" lIns="0" tIns="0" rIns="0" bIns="0" rtlCol="0" anchor="ctr"/>
          <a:lstStyle/>
          <a:p>
            <a:pPr indent="0" marL="0">
              <a:buNone/>
            </a:pPr>
            <a:r>
              <a:rPr lang="en-US" sz="7200" b="1" dirty="0">
                <a:solidFill>
                  <a:srgbClr val="5A9E84"/>
                </a:solidFill>
                <a:latin typeface="Courier New" pitchFamily="34" charset="0"/>
                <a:ea typeface="Courier New" pitchFamily="34" charset="-122"/>
                <a:cs typeface="Courier New" pitchFamily="34" charset="-120"/>
              </a:rPr>
              <a:t>43</a:t>
            </a:r>
            <a:endParaRPr lang="en-US" sz="7200" dirty="0"/>
          </a:p>
        </p:txBody>
      </p:sp>
      <p:sp>
        <p:nvSpPr>
          <p:cNvPr id="28" name="Text 20"/>
          <p:cNvSpPr txBox="1"/>
          <p:nvPr/>
        </p:nvSpPr>
        <p:spPr>
          <a:xfrm>
            <a:off x="9509760" y="2331720"/>
            <a:ext cx="2011680" cy="640080"/>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tests that must</a:t>
            </a:r>
            <a:endParaRPr lang="en-US" sz="1400" dirty="0"/>
          </a:p>
          <a:p>
            <a:pPr indent="0" marL="0">
              <a:buNone/>
            </a:pPr>
            <a:r>
              <a:rPr lang="en-US" sz="1400" dirty="0">
                <a:solidFill>
                  <a:srgbClr val="CBD2D9"/>
                </a:solidFill>
                <a:latin typeface="Calibri" pitchFamily="34" charset="0"/>
                <a:ea typeface="Calibri" pitchFamily="34" charset="-122"/>
                <a:cs typeface="Calibri" pitchFamily="34" charset="-120"/>
              </a:rPr>
              <a:t>never be empty</a:t>
            </a:r>
            <a:endParaRPr lang="en-US" sz="1400" dirty="0"/>
          </a:p>
        </p:txBody>
      </p:sp>
      <p:sp>
        <p:nvSpPr>
          <p:cNvPr id="29" name="rule"/>
          <p:cNvSpPr/>
          <p:nvPr/>
        </p:nvSpPr>
        <p:spPr>
          <a:xfrm>
            <a:off x="7772400" y="3383280"/>
            <a:ext cx="3611880" cy="0"/>
          </a:xfrm>
          <a:prstGeom prst="line">
            <a:avLst/>
          </a:prstGeom>
          <a:noFill/>
          <a:ln w="12700">
            <a:solidFill>
              <a:srgbClr val="232A31"/>
            </a:solidFill>
            <a:prstDash val="solid"/>
          </a:ln>
        </p:spPr>
      </p:sp>
      <p:sp>
        <p:nvSpPr>
          <p:cNvPr id="30" name="Text 22"/>
          <p:cNvSpPr txBox="1"/>
          <p:nvPr/>
        </p:nvSpPr>
        <p:spPr>
          <a:xfrm>
            <a:off x="7772400" y="3520440"/>
            <a:ext cx="3611880" cy="1280160"/>
          </a:xfrm>
          <a:prstGeom prst="rect">
            <a:avLst/>
          </a:prstGeom>
          <a:noFill/>
          <a:ln/>
        </p:spPr>
        <p:txBody>
          <a:bodyPr wrap="square" lIns="0" tIns="0" rIns="0" bIns="0" rtlCol="0" anchor="t"/>
          <a:lstStyle/>
          <a:p>
            <a:pPr indent="0" marL="0">
              <a:buNone/>
            </a:pPr>
            <a:r>
              <a:rPr lang="en-US" sz="1250" dirty="0">
                <a:solidFill>
                  <a:srgbClr val="CBD2D9"/>
                </a:solidFill>
                <a:latin typeface="Calibri" pitchFamily="34" charset="0"/>
                <a:ea typeface="Calibri" pitchFamily="34" charset="-122"/>
                <a:cs typeface="Calibri" pitchFamily="34" charset="-120"/>
              </a:rPr>
              <a:t>They cover hostile DNS names, hostile history filters, SQL text in searches, spreadsheet-formula export, cross-site delete requests and planted symlinks.</a:t>
            </a:r>
            <a:endParaRPr lang="en-US" sz="1250" dirty="0"/>
          </a:p>
        </p:txBody>
      </p:sp>
      <p:sp>
        <p:nvSpPr>
          <p:cNvPr id="31" name="found"/>
          <p:cNvSpPr/>
          <p:nvPr/>
        </p:nvSpPr>
        <p:spPr>
          <a:xfrm>
            <a:off x="7772400" y="4892040"/>
            <a:ext cx="3611880" cy="1005840"/>
          </a:xfrm>
          <a:prstGeom prst="rect">
            <a:avLst/>
          </a:prstGeom>
          <a:solidFill>
            <a:srgbClr val="181D22"/>
          </a:solidFill>
          <a:ln w="12700">
            <a:solidFill>
              <a:srgbClr val="2F3943"/>
            </a:solidFill>
            <a:prstDash val="solid"/>
          </a:ln>
        </p:spPr>
      </p:sp>
      <p:sp>
        <p:nvSpPr>
          <p:cNvPr id="32" name="Text 24"/>
          <p:cNvSpPr txBox="1"/>
          <p:nvPr/>
        </p:nvSpPr>
        <p:spPr>
          <a:xfrm>
            <a:off x="7909560" y="4892040"/>
            <a:ext cx="3383280" cy="1005840"/>
          </a:xfrm>
          <a:prstGeom prst="rect">
            <a:avLst/>
          </a:prstGeom>
          <a:noFill/>
          <a:ln/>
        </p:spPr>
        <p:txBody>
          <a:bodyPr wrap="square" lIns="0" tIns="0" rIns="0" bIns="0" rtlCol="0" anchor="ctr"/>
          <a:lstStyle/>
          <a:p>
            <a:pPr indent="0" marL="0">
              <a:buNone/>
            </a:pPr>
            <a:r>
              <a:rPr lang="en-US" sz="1200" b="1" dirty="0">
                <a:solidFill>
                  <a:srgbClr val="B8993B"/>
                </a:solidFill>
                <a:latin typeface="Calibri" pitchFamily="34" charset="0"/>
                <a:ea typeface="Calibri" pitchFamily="34" charset="-122"/>
                <a:cs typeface="Calibri" pitchFamily="34" charset="-120"/>
              </a:rPr>
              <a:t>Found and fixed: </a:t>
            </a:r>
            <a:pPr indent="0" marL="0">
              <a:buNone/>
            </a:pPr>
            <a:r>
              <a:rPr lang="en-US" sz="1200" dirty="0">
                <a:solidFill>
                  <a:srgbClr val="CBD2D9"/>
                </a:solidFill>
                <a:latin typeface="Calibri" pitchFamily="34" charset="0"/>
                <a:ea typeface="Calibri" pitchFamily="34" charset="-122"/>
                <a:cs typeface="Calibri" pitchFamily="34" charset="-120"/>
              </a:rPr>
              <a:t>an automated review flagged a symlink risk in the sudo file-ownership code; it is fixed and tested.</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Who it is for, and where it sits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13  /  WHO AND WHERE</a:t>
            </a:r>
            <a:endParaRPr lang="en-US" sz="1100" dirty="0"/>
          </a:p>
        </p:txBody>
      </p:sp>
      <p:sp>
        <p:nvSpPr>
          <p:cNvPr id="5" name="node"/>
          <p:cNvSpPr/>
          <p:nvPr/>
        </p:nvSpPr>
        <p:spPr>
          <a:xfrm>
            <a:off x="548640" y="2377440"/>
            <a:ext cx="1737360" cy="1005840"/>
          </a:xfrm>
          <a:prstGeom prst="rect">
            <a:avLst/>
          </a:prstGeom>
          <a:solidFill>
            <a:srgbClr val="12161A"/>
          </a:solidFill>
          <a:ln w="12700">
            <a:solidFill>
              <a:srgbClr val="2F3943"/>
            </a:solidFill>
            <a:prstDash val="solid"/>
          </a:ln>
        </p:spPr>
      </p:sp>
      <p:sp>
        <p:nvSpPr>
          <p:cNvPr id="6" name="icon-box"/>
          <p:cNvSpPr/>
          <p:nvPr/>
        </p:nvSpPr>
        <p:spPr>
          <a:xfrm>
            <a:off x="777240" y="2514600"/>
            <a:ext cx="457200" cy="457200"/>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900684" y="2638044"/>
            <a:ext cx="210312" cy="210312"/>
          </a:xfrm>
          <a:prstGeom prst="rect">
            <a:avLst/>
          </a:prstGeom>
        </p:spPr>
      </p:pic>
      <p:sp>
        <p:nvSpPr>
          <p:cNvPr id="8" name="Text 4"/>
          <p:cNvSpPr txBox="1"/>
          <p:nvPr/>
        </p:nvSpPr>
        <p:spPr>
          <a:xfrm>
            <a:off x="1325880" y="2377440"/>
            <a:ext cx="914400" cy="10058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Internet</a:t>
            </a:r>
            <a:endParaRPr lang="en-US" sz="1400" dirty="0"/>
          </a:p>
        </p:txBody>
      </p:sp>
      <p:sp>
        <p:nvSpPr>
          <p:cNvPr id="9" name="arrow"/>
          <p:cNvSpPr/>
          <p:nvPr/>
        </p:nvSpPr>
        <p:spPr>
          <a:xfrm>
            <a:off x="2331720" y="2880360"/>
            <a:ext cx="731520" cy="0"/>
          </a:xfrm>
          <a:prstGeom prst="line">
            <a:avLst/>
          </a:prstGeom>
          <a:noFill/>
          <a:ln w="25400">
            <a:solidFill>
              <a:srgbClr val="4D5762"/>
            </a:solidFill>
            <a:prstDash val="solid"/>
            <a:tailEnd type="triangle"/>
          </a:ln>
        </p:spPr>
      </p:sp>
      <p:sp>
        <p:nvSpPr>
          <p:cNvPr id="10" name="gateway"/>
          <p:cNvSpPr/>
          <p:nvPr/>
        </p:nvSpPr>
        <p:spPr>
          <a:xfrm>
            <a:off x="3108960" y="2103120"/>
            <a:ext cx="2834640" cy="1554480"/>
          </a:xfrm>
          <a:prstGeom prst="rect">
            <a:avLst/>
          </a:prstGeom>
          <a:solidFill>
            <a:srgbClr val="12161A"/>
          </a:solidFill>
          <a:ln w="12700">
            <a:solidFill>
              <a:srgbClr val="C4403F"/>
            </a:solidFill>
            <a:prstDash val="solid"/>
          </a:ln>
        </p:spPr>
      </p:sp>
      <p:sp>
        <p:nvSpPr>
          <p:cNvPr id="11" name="icon-box"/>
          <p:cNvSpPr/>
          <p:nvPr/>
        </p:nvSpPr>
        <p:spPr>
          <a:xfrm>
            <a:off x="3337560" y="2286000"/>
            <a:ext cx="502920" cy="502920"/>
          </a:xfrm>
          <a:prstGeom prst="rect">
            <a:avLst/>
          </a:prstGeom>
          <a:solidFill>
            <a:srgbClr val="181D22"/>
          </a:solidFill>
          <a:ln w="12700">
            <a:solidFill>
              <a:srgbClr val="2F3943"/>
            </a:solidFill>
            <a:prstDash val="solid"/>
          </a:ln>
        </p:spPr>
      </p:sp>
      <p:pic>
        <p:nvPicPr>
          <p:cNvPr id="12" name="Image 1" descr="icon">    </p:cNvPr>
          <p:cNvPicPr>
            <a:picLocks noChangeAspect="1"/>
          </p:cNvPicPr>
          <p:nvPr/>
        </p:nvPicPr>
        <p:blipFill>
          <a:blip r:embed="rId2"/>
          <a:stretch>
            <a:fillRect/>
          </a:stretch>
        </p:blipFill>
        <p:spPr>
          <a:xfrm>
            <a:off x="3473348" y="2421788"/>
            <a:ext cx="231343" cy="231343"/>
          </a:xfrm>
          <a:prstGeom prst="rect">
            <a:avLst/>
          </a:prstGeom>
        </p:spPr>
      </p:pic>
      <p:sp>
        <p:nvSpPr>
          <p:cNvPr id="13" name="Text 8"/>
          <p:cNvSpPr txBox="1"/>
          <p:nvPr/>
        </p:nvSpPr>
        <p:spPr>
          <a:xfrm>
            <a:off x="3977640" y="2240280"/>
            <a:ext cx="192024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Gateway Mac</a:t>
            </a:r>
            <a:endParaRPr lang="en-US" sz="1600" dirty="0"/>
          </a:p>
        </p:txBody>
      </p:sp>
      <p:sp>
        <p:nvSpPr>
          <p:cNvPr id="14" name="Text 9"/>
          <p:cNvSpPr txBox="1"/>
          <p:nvPr/>
        </p:nvSpPr>
        <p:spPr>
          <a:xfrm>
            <a:off x="3977640" y="2606040"/>
            <a:ext cx="1920240" cy="4572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Internet Sharing</a:t>
            </a:r>
            <a:endParaRPr lang="en-US" sz="1000" dirty="0"/>
          </a:p>
          <a:p>
            <a:pPr indent="0" marL="0">
              <a:buNone/>
            </a:pPr>
            <a:r>
              <a:rPr lang="en-US" sz="1000" dirty="0">
                <a:solidFill>
                  <a:srgbClr val="7B8794"/>
                </a:solidFill>
                <a:latin typeface="Courier New" pitchFamily="34" charset="0"/>
                <a:ea typeface="Courier New" pitchFamily="34" charset="-122"/>
                <a:cs typeface="Courier New" pitchFamily="34" charset="-120"/>
              </a:rPr>
              <a:t>bridge100</a:t>
            </a:r>
            <a:endParaRPr lang="en-US" sz="1000" dirty="0"/>
          </a:p>
        </p:txBody>
      </p:sp>
      <p:sp>
        <p:nvSpPr>
          <p:cNvPr id="15" name="Text 10"/>
          <p:cNvSpPr txBox="1"/>
          <p:nvPr/>
        </p:nvSpPr>
        <p:spPr>
          <a:xfrm>
            <a:off x="3337560" y="3154680"/>
            <a:ext cx="2468880" cy="365760"/>
          </a:xfrm>
          <a:prstGeom prst="rect">
            <a:avLst/>
          </a:prstGeom>
          <a:noFill/>
          <a:ln/>
        </p:spPr>
        <p:txBody>
          <a:bodyPr wrap="square" lIns="0" tIns="0" rIns="0" bIns="0" rtlCol="0" anchor="ctr"/>
          <a:lstStyle/>
          <a:p>
            <a:pPr indent="0" marL="0">
              <a:buNone/>
            </a:pPr>
            <a:r>
              <a:rPr lang="en-US" sz="1400" b="1" dirty="0">
                <a:solidFill>
                  <a:srgbClr val="C4403F"/>
                </a:solidFill>
                <a:latin typeface="Calibri" pitchFamily="34" charset="0"/>
                <a:ea typeface="Calibri" pitchFamily="34" charset="-122"/>
                <a:cs typeface="Calibri" pitchFamily="34" charset="-120"/>
              </a:rPr>
              <a:t>runs Sentinel</a:t>
            </a:r>
            <a:endParaRPr lang="en-US" sz="1400" dirty="0"/>
          </a:p>
        </p:txBody>
      </p:sp>
      <p:sp>
        <p:nvSpPr>
          <p:cNvPr id="16" name="arrow"/>
          <p:cNvSpPr/>
          <p:nvPr/>
        </p:nvSpPr>
        <p:spPr>
          <a:xfrm>
            <a:off x="5989320" y="2880360"/>
            <a:ext cx="731520" cy="0"/>
          </a:xfrm>
          <a:prstGeom prst="line">
            <a:avLst/>
          </a:prstGeom>
          <a:noFill/>
          <a:ln w="25400">
            <a:solidFill>
              <a:srgbClr val="4D5762"/>
            </a:solidFill>
            <a:prstDash val="solid"/>
            <a:tailEnd type="triangle"/>
          </a:ln>
        </p:spPr>
      </p:sp>
      <p:sp>
        <p:nvSpPr>
          <p:cNvPr id="17" name="node"/>
          <p:cNvSpPr/>
          <p:nvPr/>
        </p:nvSpPr>
        <p:spPr>
          <a:xfrm>
            <a:off x="6766560" y="1828800"/>
            <a:ext cx="1920240" cy="603504"/>
          </a:xfrm>
          <a:prstGeom prst="rect">
            <a:avLst/>
          </a:prstGeom>
          <a:solidFill>
            <a:srgbClr val="12161A"/>
          </a:solidFill>
          <a:ln w="12700">
            <a:solidFill>
              <a:srgbClr val="2F3943"/>
            </a:solidFill>
            <a:prstDash val="solid"/>
          </a:ln>
        </p:spPr>
      </p:sp>
      <p:sp>
        <p:nvSpPr>
          <p:cNvPr id="18" name="node"/>
          <p:cNvSpPr/>
          <p:nvPr/>
        </p:nvSpPr>
        <p:spPr>
          <a:xfrm>
            <a:off x="6766560" y="2542032"/>
            <a:ext cx="1920240" cy="603504"/>
          </a:xfrm>
          <a:prstGeom prst="rect">
            <a:avLst/>
          </a:prstGeom>
          <a:solidFill>
            <a:srgbClr val="12161A"/>
          </a:solidFill>
          <a:ln w="12700">
            <a:solidFill>
              <a:srgbClr val="2F3943"/>
            </a:solidFill>
            <a:prstDash val="solid"/>
          </a:ln>
        </p:spPr>
      </p:sp>
      <p:sp>
        <p:nvSpPr>
          <p:cNvPr id="19" name="node"/>
          <p:cNvSpPr/>
          <p:nvPr/>
        </p:nvSpPr>
        <p:spPr>
          <a:xfrm>
            <a:off x="6766560" y="3255264"/>
            <a:ext cx="1920240" cy="603504"/>
          </a:xfrm>
          <a:prstGeom prst="rect">
            <a:avLst/>
          </a:prstGeom>
          <a:solidFill>
            <a:srgbClr val="12161A"/>
          </a:solidFill>
          <a:ln w="12700">
            <a:solidFill>
              <a:srgbClr val="2F3943"/>
            </a:solidFill>
            <a:prstDash val="solid"/>
          </a:ln>
        </p:spPr>
      </p:sp>
      <p:pic>
        <p:nvPicPr>
          <p:cNvPr id="20" name="Image 2" descr="Laptops">    </p:cNvPr>
          <p:cNvPicPr>
            <a:picLocks noChangeAspect="1"/>
          </p:cNvPicPr>
          <p:nvPr/>
        </p:nvPicPr>
        <p:blipFill>
          <a:blip r:embed="rId3"/>
          <a:stretch>
            <a:fillRect/>
          </a:stretch>
        </p:blipFill>
        <p:spPr>
          <a:xfrm>
            <a:off x="6903720" y="1965960"/>
            <a:ext cx="329184" cy="329184"/>
          </a:xfrm>
          <a:prstGeom prst="rect">
            <a:avLst/>
          </a:prstGeom>
        </p:spPr>
      </p:pic>
      <p:sp>
        <p:nvSpPr>
          <p:cNvPr id="21" name="Text 15"/>
          <p:cNvSpPr txBox="1"/>
          <p:nvPr/>
        </p:nvSpPr>
        <p:spPr>
          <a:xfrm>
            <a:off x="7360920" y="1828800"/>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Laptops</a:t>
            </a:r>
            <a:endParaRPr lang="en-US" sz="1300" dirty="0"/>
          </a:p>
        </p:txBody>
      </p:sp>
      <p:pic>
        <p:nvPicPr>
          <p:cNvPr id="22" name="Image 3" descr="Phones">    </p:cNvPr>
          <p:cNvPicPr>
            <a:picLocks noChangeAspect="1"/>
          </p:cNvPicPr>
          <p:nvPr/>
        </p:nvPicPr>
        <p:blipFill>
          <a:blip r:embed="rId4"/>
          <a:stretch>
            <a:fillRect/>
          </a:stretch>
        </p:blipFill>
        <p:spPr>
          <a:xfrm>
            <a:off x="6903720" y="2679192"/>
            <a:ext cx="329184" cy="329184"/>
          </a:xfrm>
          <a:prstGeom prst="rect">
            <a:avLst/>
          </a:prstGeom>
        </p:spPr>
      </p:pic>
      <p:sp>
        <p:nvSpPr>
          <p:cNvPr id="23" name="Text 16"/>
          <p:cNvSpPr txBox="1"/>
          <p:nvPr/>
        </p:nvSpPr>
        <p:spPr>
          <a:xfrm>
            <a:off x="7360920" y="2542032"/>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Phones</a:t>
            </a:r>
            <a:endParaRPr lang="en-US" sz="1300" dirty="0"/>
          </a:p>
        </p:txBody>
      </p:sp>
      <p:pic>
        <p:nvPicPr>
          <p:cNvPr id="24" name="Image 4" descr="Printers, IoT">    </p:cNvPr>
          <p:cNvPicPr>
            <a:picLocks noChangeAspect="1"/>
          </p:cNvPicPr>
          <p:nvPr/>
        </p:nvPicPr>
        <p:blipFill>
          <a:blip r:embed="rId5"/>
          <a:stretch>
            <a:fillRect/>
          </a:stretch>
        </p:blipFill>
        <p:spPr>
          <a:xfrm>
            <a:off x="6903720" y="3392424"/>
            <a:ext cx="329184" cy="329184"/>
          </a:xfrm>
          <a:prstGeom prst="rect">
            <a:avLst/>
          </a:prstGeom>
        </p:spPr>
      </p:pic>
      <p:sp>
        <p:nvSpPr>
          <p:cNvPr id="25" name="Text 17"/>
          <p:cNvSpPr txBox="1"/>
          <p:nvPr/>
        </p:nvSpPr>
        <p:spPr>
          <a:xfrm>
            <a:off x="7360920" y="3255264"/>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Printers, IoT</a:t>
            </a:r>
            <a:endParaRPr lang="en-US" sz="1300" dirty="0"/>
          </a:p>
        </p:txBody>
      </p:sp>
      <p:sp>
        <p:nvSpPr>
          <p:cNvPr id="26" name="Text 18"/>
          <p:cNvSpPr txBox="1"/>
          <p:nvPr/>
        </p:nvSpPr>
        <p:spPr>
          <a:xfrm>
            <a:off x="548640" y="4114800"/>
            <a:ext cx="8229600" cy="548640"/>
          </a:xfrm>
          <a:prstGeom prst="rect">
            <a:avLst/>
          </a:prstGeom>
          <a:noFill/>
          <a:ln/>
        </p:spPr>
        <p:txBody>
          <a:bodyPr wrap="square" lIns="0" tIns="0" rIns="0" bIns="0" rtlCol="0" anchor="ctr"/>
          <a:lstStyle/>
          <a:p>
            <a:pPr indent="0" marL="0">
              <a:buNone/>
            </a:pPr>
            <a:r>
              <a:rPr lang="en-US" sz="1100" dirty="0">
                <a:solidFill>
                  <a:srgbClr val="4D5762"/>
                </a:solidFill>
                <a:latin typeface="Courier New" pitchFamily="34" charset="0"/>
                <a:ea typeface="Courier New" pitchFamily="34" charset="-122"/>
                <a:cs typeface="Courier New" pitchFamily="34" charset="-120"/>
              </a:rPr>
              <a:t>Sees all traffic that crosses the gateway.</a:t>
            </a:r>
            <a:endParaRPr lang="en-US" sz="1100" dirty="0"/>
          </a:p>
          <a:p>
            <a:pPr indent="0" marL="0">
              <a:buNone/>
            </a:pPr>
            <a:r>
              <a:rPr lang="en-US" sz="1100" dirty="0">
                <a:solidFill>
                  <a:srgbClr val="4D5762"/>
                </a:solidFill>
                <a:latin typeface="Courier New" pitchFamily="34" charset="0"/>
                <a:ea typeface="Courier New" pitchFamily="34" charset="-122"/>
                <a:cs typeface="Courier New" pitchFamily="34" charset="-120"/>
              </a:rPr>
              <a:t>On a plain laptop on Wi-Fi it sees only that laptop.</a:t>
            </a:r>
            <a:endParaRPr lang="en-US" sz="1100" dirty="0"/>
          </a:p>
        </p:txBody>
      </p:sp>
      <p:sp>
        <p:nvSpPr>
          <p:cNvPr id="27" name="who"/>
          <p:cNvSpPr/>
          <p:nvPr/>
        </p:nvSpPr>
        <p:spPr>
          <a:xfrm>
            <a:off x="9144000" y="1828800"/>
            <a:ext cx="2514600" cy="2834640"/>
          </a:xfrm>
          <a:prstGeom prst="rect">
            <a:avLst/>
          </a:prstGeom>
          <a:solidFill>
            <a:srgbClr val="12161A"/>
          </a:solidFill>
          <a:ln w="12700">
            <a:solidFill>
              <a:srgbClr val="232A31"/>
            </a:solidFill>
            <a:prstDash val="solid"/>
          </a:ln>
        </p:spPr>
      </p:sp>
      <p:sp>
        <p:nvSpPr>
          <p:cNvPr id="28" name="Text 20"/>
          <p:cNvSpPr txBox="1"/>
          <p:nvPr/>
        </p:nvSpPr>
        <p:spPr>
          <a:xfrm>
            <a:off x="9326880" y="1965960"/>
            <a:ext cx="1828800" cy="228600"/>
          </a:xfrm>
          <a:prstGeom prst="rect">
            <a:avLst/>
          </a:prstGeom>
          <a:noFill/>
          <a:ln/>
        </p:spPr>
        <p:txBody>
          <a:bodyPr wrap="square" lIns="0" tIns="0" rIns="0" bIns="0" rtlCol="0" anchor="ctr"/>
          <a:lstStyle/>
          <a:p>
            <a:pPr indent="0" marL="0">
              <a:buNone/>
            </a:pPr>
            <a:r>
              <a:rPr lang="en-US" sz="1000" b="1" spc="300" kern="0" dirty="0">
                <a:solidFill>
                  <a:srgbClr val="5A9E84"/>
                </a:solidFill>
                <a:latin typeface="Courier New" pitchFamily="34" charset="0"/>
                <a:ea typeface="Courier New" pitchFamily="34" charset="-122"/>
                <a:cs typeface="Courier New" pitchFamily="34" charset="-120"/>
              </a:rPr>
              <a:t>FOR</a:t>
            </a:r>
            <a:endParaRPr lang="en-US" sz="1000" dirty="0"/>
          </a:p>
        </p:txBody>
      </p:sp>
      <p:sp>
        <p:nvSpPr>
          <p:cNvPr id="29" name="Text 21"/>
          <p:cNvSpPr txBox="1"/>
          <p:nvPr/>
        </p:nvSpPr>
        <p:spPr>
          <a:xfrm>
            <a:off x="9326880" y="2286000"/>
            <a:ext cx="2194560" cy="1097280"/>
          </a:xfrm>
          <a:prstGeom prst="rect">
            <a:avLst/>
          </a:prstGeom>
          <a:noFill/>
          <a:ln/>
        </p:spPr>
        <p:txBody>
          <a:bodyPr wrap="square" lIns="0" tIns="0" rIns="0" bIns="0" rtlCol="0" anchor="t"/>
          <a:lstStyle/>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Small teams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Schools and colleges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Labs and home offices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Students learning detection</a:t>
            </a:r>
            <a:endParaRPr lang="en-US" sz="1250" dirty="0"/>
          </a:p>
        </p:txBody>
      </p:sp>
      <p:sp>
        <p:nvSpPr>
          <p:cNvPr id="30" name="Text 22"/>
          <p:cNvSpPr txBox="1"/>
          <p:nvPr/>
        </p:nvSpPr>
        <p:spPr>
          <a:xfrm>
            <a:off x="9326880" y="3520440"/>
            <a:ext cx="1828800" cy="228600"/>
          </a:xfrm>
          <a:prstGeom prst="rect">
            <a:avLst/>
          </a:prstGeom>
          <a:noFill/>
          <a:ln/>
        </p:spPr>
        <p:txBody>
          <a:bodyPr wrap="square" lIns="0" tIns="0" rIns="0" bIns="0" rtlCol="0" anchor="ctr"/>
          <a:lstStyle/>
          <a:p>
            <a:pPr indent="0" marL="0">
              <a:buNone/>
            </a:pPr>
            <a:r>
              <a:rPr lang="en-US" sz="1000" b="1" spc="300" kern="0" dirty="0">
                <a:solidFill>
                  <a:srgbClr val="C4403F"/>
                </a:solidFill>
                <a:latin typeface="Courier New" pitchFamily="34" charset="0"/>
                <a:ea typeface="Courier New" pitchFamily="34" charset="-122"/>
                <a:cs typeface="Courier New" pitchFamily="34" charset="-120"/>
              </a:rPr>
              <a:t>NOT FOR</a:t>
            </a:r>
            <a:endParaRPr lang="en-US" sz="1000" dirty="0"/>
          </a:p>
        </p:txBody>
      </p:sp>
      <p:sp>
        <p:nvSpPr>
          <p:cNvPr id="31" name="Text 23"/>
          <p:cNvSpPr txBox="1"/>
          <p:nvPr/>
        </p:nvSpPr>
        <p:spPr>
          <a:xfrm>
            <a:off x="9326880" y="3840480"/>
            <a:ext cx="2194560" cy="777240"/>
          </a:xfrm>
          <a:prstGeom prst="rect">
            <a:avLst/>
          </a:prstGeom>
          <a:noFill/>
          <a:ln/>
        </p:spPr>
        <p:txBody>
          <a:bodyPr wrap="square" lIns="0" tIns="0" rIns="0" bIns="0" rtlCol="0" anchor="t"/>
          <a:lstStyle/>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Enterprise scale</a:t>
            </a:r>
            <a:endParaRPr lang="en-US" sz="1250" dirty="0"/>
          </a:p>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Automatic blocking</a:t>
            </a:r>
            <a:endParaRPr lang="en-US" sz="1250" dirty="0"/>
          </a:p>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Reading encrypted traffic</a:t>
            </a:r>
            <a:endParaRPr lang="en-US" sz="1250" dirty="0"/>
          </a:p>
        </p:txBody>
      </p:sp>
      <p:sp>
        <p:nvSpPr>
          <p:cNvPr id="32" name="Text 24"/>
          <p:cNvSpPr txBox="1"/>
          <p:nvPr/>
        </p:nvSpPr>
        <p:spPr>
          <a:xfrm>
            <a:off x="548640" y="4937760"/>
            <a:ext cx="54864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HOW IT IS USED</a:t>
            </a:r>
            <a:endParaRPr lang="en-US" sz="1000" dirty="0"/>
          </a:p>
        </p:txBody>
      </p:sp>
      <p:sp>
        <p:nvSpPr>
          <p:cNvPr id="33" name="num"/>
          <p:cNvSpPr/>
          <p:nvPr/>
        </p:nvSpPr>
        <p:spPr>
          <a:xfrm>
            <a:off x="548640" y="5303520"/>
            <a:ext cx="384048" cy="384048"/>
          </a:xfrm>
          <a:prstGeom prst="rect">
            <a:avLst/>
          </a:prstGeom>
          <a:solidFill>
            <a:srgbClr val="C4403F"/>
          </a:solidFill>
          <a:ln/>
        </p:spPr>
      </p:sp>
      <p:sp>
        <p:nvSpPr>
          <p:cNvPr id="34" name="Text 26"/>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35" name="Text 27"/>
          <p:cNvSpPr txBox="1"/>
          <p:nvPr/>
        </p:nvSpPr>
        <p:spPr>
          <a:xfrm>
            <a:off x="109728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Install on the gateway Mac</a:t>
            </a:r>
            <a:endParaRPr lang="en-US" sz="1400" dirty="0"/>
          </a:p>
        </p:txBody>
      </p:sp>
      <p:sp>
        <p:nvSpPr>
          <p:cNvPr id="36" name="num"/>
          <p:cNvSpPr/>
          <p:nvPr/>
        </p:nvSpPr>
        <p:spPr>
          <a:xfrm>
            <a:off x="4297680" y="5303520"/>
            <a:ext cx="384048" cy="384048"/>
          </a:xfrm>
          <a:prstGeom prst="rect">
            <a:avLst/>
          </a:prstGeom>
          <a:solidFill>
            <a:srgbClr val="C4403F"/>
          </a:solidFill>
          <a:ln/>
        </p:spPr>
      </p:sp>
      <p:sp>
        <p:nvSpPr>
          <p:cNvPr id="37" name="Text 29"/>
          <p:cNvSpPr txBox="1"/>
          <p:nvPr/>
        </p:nvSpPr>
        <p:spPr>
          <a:xfrm>
            <a:off x="429768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38" name="Text 30"/>
          <p:cNvSpPr txBox="1"/>
          <p:nvPr/>
        </p:nvSpPr>
        <p:spPr>
          <a:xfrm>
            <a:off x="484632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Watch the console, or just wait for alerts</a:t>
            </a:r>
            <a:endParaRPr lang="en-US" sz="1400" dirty="0"/>
          </a:p>
        </p:txBody>
      </p:sp>
      <p:sp>
        <p:nvSpPr>
          <p:cNvPr id="39" name="num"/>
          <p:cNvSpPr/>
          <p:nvPr/>
        </p:nvSpPr>
        <p:spPr>
          <a:xfrm>
            <a:off x="8046720" y="5303520"/>
            <a:ext cx="384048" cy="384048"/>
          </a:xfrm>
          <a:prstGeom prst="rect">
            <a:avLst/>
          </a:prstGeom>
          <a:solidFill>
            <a:srgbClr val="C4403F"/>
          </a:solidFill>
          <a:ln/>
        </p:spPr>
      </p:sp>
      <p:sp>
        <p:nvSpPr>
          <p:cNvPr id="40" name="Text 32"/>
          <p:cNvSpPr txBox="1"/>
          <p:nvPr/>
        </p:nvSpPr>
        <p:spPr>
          <a:xfrm>
            <a:off x="804672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41" name="Text 33"/>
          <p:cNvSpPr txBox="1"/>
          <p:nvPr/>
        </p:nvSpPr>
        <p:spPr>
          <a:xfrm>
            <a:off x="859536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Open History to review what happened</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From clone to first detection in five minutes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14  /  RUN IT</a:t>
            </a:r>
            <a:endParaRPr lang="en-US" sz="1100" dirty="0"/>
          </a:p>
        </p:txBody>
      </p:sp>
      <p:sp>
        <p:nvSpPr>
          <p:cNvPr id="5" name="term"/>
          <p:cNvSpPr/>
          <p:nvPr/>
        </p:nvSpPr>
        <p:spPr>
          <a:xfrm>
            <a:off x="548640" y="1645920"/>
            <a:ext cx="11109960" cy="1417320"/>
          </a:xfrm>
          <a:prstGeom prst="rect">
            <a:avLst/>
          </a:prstGeom>
          <a:solidFill>
            <a:srgbClr val="12161A"/>
          </a:solidFill>
          <a:ln w="12700">
            <a:solidFill>
              <a:srgbClr val="232A31"/>
            </a:solidFill>
            <a:prstDash val="solid"/>
          </a:ln>
        </p:spPr>
      </p:sp>
      <p:sp>
        <p:nvSpPr>
          <p:cNvPr id="6" name="term-bar"/>
          <p:cNvSpPr/>
          <p:nvPr/>
        </p:nvSpPr>
        <p:spPr>
          <a:xfrm>
            <a:off x="548640" y="1645920"/>
            <a:ext cx="11109960" cy="347472"/>
          </a:xfrm>
          <a:prstGeom prst="rect">
            <a:avLst/>
          </a:prstGeom>
          <a:solidFill>
            <a:srgbClr val="0A0C0F"/>
          </a:solidFill>
          <a:ln w="12700">
            <a:solidFill>
              <a:srgbClr val="232A31"/>
            </a:solidFill>
            <a:prstDash val="solid"/>
          </a:ln>
        </p:spPr>
      </p:sp>
      <p:sp>
        <p:nvSpPr>
          <p:cNvPr id="7" name="Text 4"/>
          <p:cNvSpPr txBox="1"/>
          <p:nvPr/>
        </p:nvSpPr>
        <p:spPr>
          <a:xfrm>
            <a:off x="731520" y="170078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1  INSTALL</a:t>
            </a:r>
            <a:endParaRPr lang="en-US" sz="1100" dirty="0"/>
          </a:p>
        </p:txBody>
      </p:sp>
      <p:sp>
        <p:nvSpPr>
          <p:cNvPr id="8" name="Text 5"/>
          <p:cNvSpPr txBox="1"/>
          <p:nvPr/>
        </p:nvSpPr>
        <p:spPr>
          <a:xfrm>
            <a:off x="777240" y="205740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brew install uv</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git clone &lt;repo-url&gt; sentinel &amp;&amp; cd sentinel</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tool install .</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init &amp;&amp; sentinel doctor</a:t>
            </a:r>
            <a:endParaRPr lang="en-US" sz="1250" dirty="0"/>
          </a:p>
        </p:txBody>
      </p:sp>
      <p:sp>
        <p:nvSpPr>
          <p:cNvPr id="9" name="term"/>
          <p:cNvSpPr/>
          <p:nvPr/>
        </p:nvSpPr>
        <p:spPr>
          <a:xfrm>
            <a:off x="548640" y="3200400"/>
            <a:ext cx="11109960" cy="1417320"/>
          </a:xfrm>
          <a:prstGeom prst="rect">
            <a:avLst/>
          </a:prstGeom>
          <a:solidFill>
            <a:srgbClr val="12161A"/>
          </a:solidFill>
          <a:ln w="12700">
            <a:solidFill>
              <a:srgbClr val="232A31"/>
            </a:solidFill>
            <a:prstDash val="solid"/>
          </a:ln>
        </p:spPr>
      </p:sp>
      <p:sp>
        <p:nvSpPr>
          <p:cNvPr id="10" name="term-bar"/>
          <p:cNvSpPr/>
          <p:nvPr/>
        </p:nvSpPr>
        <p:spPr>
          <a:xfrm>
            <a:off x="548640" y="3200400"/>
            <a:ext cx="11109960" cy="347472"/>
          </a:xfrm>
          <a:prstGeom prst="rect">
            <a:avLst/>
          </a:prstGeom>
          <a:solidFill>
            <a:srgbClr val="0A0C0F"/>
          </a:solidFill>
          <a:ln w="12700">
            <a:solidFill>
              <a:srgbClr val="232A31"/>
            </a:solidFill>
            <a:prstDash val="solid"/>
          </a:ln>
        </p:spPr>
      </p:sp>
      <p:sp>
        <p:nvSpPr>
          <p:cNvPr id="11" name="Text 8"/>
          <p:cNvSpPr txBox="1"/>
          <p:nvPr/>
        </p:nvSpPr>
        <p:spPr>
          <a:xfrm>
            <a:off x="731520" y="325526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2  QUICK START  (no network needed)</a:t>
            </a:r>
            <a:endParaRPr lang="en-US" sz="1100" dirty="0"/>
          </a:p>
        </p:txBody>
      </p:sp>
      <p:sp>
        <p:nvSpPr>
          <p:cNvPr id="12" name="Text 9"/>
          <p:cNvSpPr txBox="1"/>
          <p:nvPr/>
        </p:nvSpPr>
        <p:spPr>
          <a:xfrm>
            <a:off x="777240" y="361188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run python tools/make_demo_pcap.py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replay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ui --replay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history</a:t>
            </a:r>
            <a:endParaRPr lang="en-US" sz="1250" dirty="0"/>
          </a:p>
        </p:txBody>
      </p:sp>
      <p:sp>
        <p:nvSpPr>
          <p:cNvPr id="13" name="term"/>
          <p:cNvSpPr/>
          <p:nvPr/>
        </p:nvSpPr>
        <p:spPr>
          <a:xfrm>
            <a:off x="548640" y="4754880"/>
            <a:ext cx="11109960" cy="1417320"/>
          </a:xfrm>
          <a:prstGeom prst="rect">
            <a:avLst/>
          </a:prstGeom>
          <a:solidFill>
            <a:srgbClr val="12161A"/>
          </a:solidFill>
          <a:ln w="12700">
            <a:solidFill>
              <a:srgbClr val="232A31"/>
            </a:solidFill>
            <a:prstDash val="solid"/>
          </a:ln>
        </p:spPr>
      </p:sp>
      <p:sp>
        <p:nvSpPr>
          <p:cNvPr id="14" name="term-bar"/>
          <p:cNvSpPr/>
          <p:nvPr/>
        </p:nvSpPr>
        <p:spPr>
          <a:xfrm>
            <a:off x="548640" y="4754880"/>
            <a:ext cx="11109960" cy="347472"/>
          </a:xfrm>
          <a:prstGeom prst="rect">
            <a:avLst/>
          </a:prstGeom>
          <a:solidFill>
            <a:srgbClr val="0A0C0F"/>
          </a:solidFill>
          <a:ln w="12700">
            <a:solidFill>
              <a:srgbClr val="232A31"/>
            </a:solidFill>
            <a:prstDash val="solid"/>
          </a:ln>
        </p:spPr>
      </p:sp>
      <p:sp>
        <p:nvSpPr>
          <p:cNvPr id="15" name="Text 12"/>
          <p:cNvSpPr txBox="1"/>
          <p:nvPr/>
        </p:nvSpPr>
        <p:spPr>
          <a:xfrm>
            <a:off x="731520" y="480974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3  ATTACK YOURSELF  (two terminals)</a:t>
            </a:r>
            <a:endParaRPr lang="en-US" sz="1100" dirty="0"/>
          </a:p>
        </p:txBody>
      </p:sp>
      <p:sp>
        <p:nvSpPr>
          <p:cNvPr id="16" name="Text 13"/>
          <p:cNvSpPr txBox="1"/>
          <p:nvPr/>
        </p:nvSpPr>
        <p:spPr>
          <a:xfrm>
            <a:off x="777240" y="516636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terminal 1: the monitor</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--config examples/demo-10s.toml ui --iface lo0</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terminal 2: the attacks, on your own machine only</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run python tools/demo_attacks.py</a:t>
            </a:r>
            <a:endParaRPr lang="en-US" sz="12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edge"/>
          <p:cNvSpPr/>
          <p:nvPr/>
        </p:nvSpPr>
        <p:spPr>
          <a:xfrm>
            <a:off x="0" y="0"/>
            <a:ext cx="164592" cy="6858000"/>
          </a:xfrm>
          <a:prstGeom prst="rect">
            <a:avLst/>
          </a:prstGeom>
          <a:solidFill>
            <a:srgbClr val="C4403F"/>
          </a:solidFill>
          <a:ln/>
        </p:spPr>
      </p:sp>
      <p:sp>
        <p:nvSpPr>
          <p:cNvPr id="4" name="Text 1"/>
          <p:cNvSpPr txBox="1"/>
          <p:nvPr/>
        </p:nvSpPr>
        <p:spPr>
          <a:xfrm>
            <a:off x="731520" y="1371600"/>
            <a:ext cx="5486400" cy="274320"/>
          </a:xfrm>
          <a:prstGeom prst="rect">
            <a:avLst/>
          </a:prstGeom>
          <a:noFill/>
          <a:ln/>
        </p:spPr>
        <p:txBody>
          <a:bodyPr wrap="square" lIns="0" tIns="0" rIns="0" bIns="0" rtlCol="0" anchor="ctr"/>
          <a:lstStyle/>
          <a:p>
            <a:pPr indent="0" marL="0">
              <a:buNone/>
            </a:pPr>
            <a:r>
              <a:rPr lang="en-US" sz="1200" b="1" spc="500" kern="0" dirty="0">
                <a:solidFill>
                  <a:srgbClr val="C4403F"/>
                </a:solidFill>
                <a:latin typeface="Courier New" pitchFamily="34" charset="0"/>
                <a:ea typeface="Courier New" pitchFamily="34" charset="-122"/>
                <a:cs typeface="Courier New" pitchFamily="34" charset="-120"/>
              </a:rPr>
              <a:t>TRY IT TODAY</a:t>
            </a:r>
            <a:endParaRPr lang="en-US" sz="1200" dirty="0"/>
          </a:p>
        </p:txBody>
      </p:sp>
      <p:sp>
        <p:nvSpPr>
          <p:cNvPr id="5" name="Text 2"/>
          <p:cNvSpPr txBox="1"/>
          <p:nvPr/>
        </p:nvSpPr>
        <p:spPr>
          <a:xfrm>
            <a:off x="731520" y="1783080"/>
            <a:ext cx="6583680" cy="1737360"/>
          </a:xfrm>
          <a:prstGeom prst="rect">
            <a:avLst/>
          </a:prstGeom>
          <a:noFill/>
          <a:ln/>
        </p:spPr>
        <p:txBody>
          <a:bodyPr wrap="square" lIns="0" tIns="0" rIns="0" bIns="0" rtlCol="0" anchor="t"/>
          <a:lstStyle/>
          <a:p>
            <a:pPr indent="0" marL="0">
              <a:buNone/>
            </a:pPr>
            <a:r>
              <a:rPr lang="en-US" sz="4000" b="1" dirty="0">
                <a:solidFill>
                  <a:srgbClr val="E6EAEE"/>
                </a:solidFill>
                <a:latin typeface="Calibri" pitchFamily="34" charset="0"/>
                <a:ea typeface="Calibri" pitchFamily="34" charset="-122"/>
                <a:cs typeface="Calibri" pitchFamily="34" charset="-120"/>
              </a:rPr>
              <a:t>See it catch an attack on your own machine.</a:t>
            </a:r>
            <a:endParaRPr lang="en-US" sz="4000" dirty="0"/>
          </a:p>
        </p:txBody>
      </p:sp>
      <p:sp>
        <p:nvSpPr>
          <p:cNvPr id="6" name="Text 3"/>
          <p:cNvSpPr txBox="1"/>
          <p:nvPr/>
        </p:nvSpPr>
        <p:spPr>
          <a:xfrm>
            <a:off x="731520" y="3657600"/>
            <a:ext cx="6400800" cy="457200"/>
          </a:xfrm>
          <a:prstGeom prst="rect">
            <a:avLst/>
          </a:prstGeom>
          <a:noFill/>
          <a:ln/>
        </p:spPr>
        <p:txBody>
          <a:bodyPr wrap="square" lIns="0" tIns="0" rIns="0" bIns="0" rtlCol="0" anchor="ctr"/>
          <a:lstStyle/>
          <a:p>
            <a:pPr indent="0" marL="0">
              <a:buNone/>
            </a:pPr>
            <a:r>
              <a:rPr lang="en-US" sz="1800" dirty="0">
                <a:solidFill>
                  <a:srgbClr val="CBD2D9"/>
                </a:solidFill>
                <a:latin typeface="Calibri" pitchFamily="34" charset="0"/>
                <a:ea typeface="Calibri" pitchFamily="34" charset="-122"/>
                <a:cs typeface="Calibri" pitchFamily="34" charset="-120"/>
              </a:rPr>
              <a:t>Five minutes, no network needed, nothing leaves your Mac.</a:t>
            </a:r>
            <a:endParaRPr lang="en-US" sz="1800" dirty="0"/>
          </a:p>
        </p:txBody>
      </p:sp>
      <p:sp>
        <p:nvSpPr>
          <p:cNvPr id="7" name="term"/>
          <p:cNvSpPr/>
          <p:nvPr/>
        </p:nvSpPr>
        <p:spPr>
          <a:xfrm>
            <a:off x="7863840" y="1737360"/>
            <a:ext cx="3840480" cy="2103120"/>
          </a:xfrm>
          <a:prstGeom prst="rect">
            <a:avLst/>
          </a:prstGeom>
          <a:solidFill>
            <a:srgbClr val="12161A"/>
          </a:solidFill>
          <a:ln w="12700">
            <a:solidFill>
              <a:srgbClr val="2F3943"/>
            </a:solidFill>
            <a:prstDash val="solid"/>
          </a:ln>
        </p:spPr>
      </p:sp>
      <p:sp>
        <p:nvSpPr>
          <p:cNvPr id="8" name="Text 5"/>
          <p:cNvSpPr txBox="1"/>
          <p:nvPr/>
        </p:nvSpPr>
        <p:spPr>
          <a:xfrm>
            <a:off x="8092440" y="1965960"/>
            <a:ext cx="3474720" cy="1737360"/>
          </a:xfrm>
          <a:prstGeom prst="rect">
            <a:avLst/>
          </a:prstGeom>
          <a:noFill/>
          <a:ln/>
        </p:spPr>
        <p:txBody>
          <a:bodyPr wrap="square" lIns="0" tIns="0" rIns="0" bIns="0" rtlCol="0" anchor="t"/>
          <a:lstStyle/>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uv tool install .</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sentinel init</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uv run python \</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tools/demo_attacks.py</a:t>
            </a:r>
            <a:endParaRPr lang="en-US" sz="1400" dirty="0"/>
          </a:p>
        </p:txBody>
      </p:sp>
      <p:sp>
        <p:nvSpPr>
          <p:cNvPr id="9" name="Text 6"/>
          <p:cNvSpPr txBox="1"/>
          <p:nvPr/>
        </p:nvSpPr>
        <p:spPr>
          <a:xfrm>
            <a:off x="731520" y="5943600"/>
            <a:ext cx="8229600" cy="274320"/>
          </a:xfrm>
          <a:prstGeom prst="rect">
            <a:avLst/>
          </a:prstGeom>
          <a:noFill/>
          <a:ln/>
        </p:spPr>
        <p:txBody>
          <a:bodyPr wrap="square" lIns="0" tIns="0" rIns="0" bIns="0" rtlCol="0" anchor="ctr"/>
          <a:lstStyle/>
          <a:p>
            <a:pPr indent="0" marL="0">
              <a:buNone/>
            </a:pPr>
            <a:r>
              <a:rPr lang="en-US" sz="1200" dirty="0">
                <a:solidFill>
                  <a:srgbClr val="7B8794"/>
                </a:solidFill>
                <a:latin typeface="Courier New" pitchFamily="34" charset="0"/>
                <a:ea typeface="Courier New" pitchFamily="34" charset="-122"/>
                <a:cs typeface="Courier New" pitchFamily="34" charset="-120"/>
              </a:rPr>
              <a:t>README.md  ·  USER_GUIDE.md  ·  docs/ABLATION.md</a:t>
            </a:r>
            <a:endParaRPr lang="en-US" sz="1200" dirty="0"/>
          </a:p>
        </p:txBody>
      </p:sp>
      <p:sp>
        <p:nvSpPr>
          <p:cNvPr id="10" name="Text 7"/>
          <p:cNvSpPr txBox="1"/>
          <p:nvPr/>
        </p:nvSpPr>
        <p:spPr>
          <a:xfrm>
            <a:off x="7863840" y="4114800"/>
            <a:ext cx="3840480" cy="457200"/>
          </a:xfrm>
          <a:prstGeom prst="rect">
            <a:avLst/>
          </a:prstGeom>
          <a:noFill/>
          <a:ln/>
        </p:spPr>
        <p:txBody>
          <a:bodyPr wrap="square" lIns="0" tIns="0" rIns="0" bIns="0" rtlCol="0" anchor="ctr"/>
          <a:lstStyle/>
          <a:p>
            <a:pPr indent="0" marL="0">
              <a:buNone/>
            </a:pPr>
            <a:r>
              <a:rPr lang="en-US" sz="2400" b="1" dirty="0">
                <a:solidFill>
                  <a:srgbClr val="C4403F"/>
                </a:solidFill>
                <a:latin typeface="Courier New" pitchFamily="34" charset="0"/>
                <a:ea typeface="Courier New" pitchFamily="34" charset="-122"/>
                <a:cs typeface="Courier New" pitchFamily="34" charset="-120"/>
              </a:rPr>
              <a:t>Questions?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network security for places with no security team</dc:title>
  <dc:subject>PptxGenJS Presentation</dc:subject>
  <dc:creator>Sentinel</dc:creator>
  <cp:lastModifiedBy>Sentinel</cp:lastModifiedBy>
  <cp:revision>1</cp:revision>
  <dcterms:created xsi:type="dcterms:W3CDTF">2026-10-24T21:49:11Z</dcterms:created>
  <dcterms:modified xsi:type="dcterms:W3CDTF">2026-10-24T21:49:11Z</dcterms:modified>
</cp:coreProperties>
</file>