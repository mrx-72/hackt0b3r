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mn-lt"/>
              </a:defRPr>
            </a:pPr>
            <a:r>
              <a:rPr sz="1400" b="0" i="0" u="none" strike="noStrike">
                <a:solidFill>
                  <a:srgbClr val="16324F"/>
                </a:solidFill>
                <a:latin typeface="+mn-lt"/>
              </a:rPr>
              <a:t>Live demo run (log scale)</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8D99AE"/>
            </a:solidFill>
            <a:effectLst/>
          </c:spPr>
          <c:invertIfNegative val="0"/>
          <c:dLbls>
            <c:numFmt formatCode="#,##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F4A261"/>
              </a:solidFill>
              <a:effectLst/>
            </c:spPr>
          </c:dPt>
          <c:dPt>
            <c:idx val="2"/>
            <c:invertIfNegative val="0"/>
            <c:bubble3D val="0"/>
            <c:spPr>
              <a:solidFill>
                <a:srgbClr val="E5383B"/>
              </a:solidFill>
              <a:effectLst/>
            </c:spPr>
          </c:dPt>
          <c:cat>
            <c:multiLvlStrRef>
              <c:f>Sheet1!$A$2:$A$4</c:f>
              <c:multiLvlStrCache>
                <c:ptCount val="3"/>
                <c:lvl>
                  <c:pt idx="0">
                    <c:v>Packets seen</c:v>
                  </c:pt>
                  <c:pt idx="1">
                    <c:v>Alerts raised</c:v>
                  </c:pt>
                  <c:pt idx="2">
                    <c:v>Incident reported</c:v>
                  </c:pt>
                </c:lvl>
              </c:multiLvlStrCache>
            </c:multiLvlStrRef>
          </c:cat>
          <c:val>
            <c:numRef>
              <c:f>Sheet1!$B$2:$B$4</c:f>
              <c:numCache>
                <c:formatCode>General</c:formatCode>
                <c:ptCount val="3"/>
                <c:pt idx="0">
                  <c:v>2325</c:v>
                </c:pt>
                <c:pt idx="1">
                  <c:v>4</c:v>
                </c:pt>
                <c:pt idx="2">
                  <c:v>1</c:v>
                </c:pt>
              </c:numCache>
            </c:numRef>
          </c:val>
        </c:ser>
        <c:dLbls>
          <c:numFmt formatCode="#,##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B2B"/>
                </a:solidFill>
                <a:latin typeface="+mn-lt"/>
              </a:defRPr>
            </a:pPr>
            <a:endParaRPr lang="en-US"/>
          </a:p>
        </c:txPr>
        <c:crossAx val="2094734552"/>
        <c:crosses val="autoZero"/>
        <c:auto val="1"/>
        <c:lblAlgn val="ctr"/>
        <c:noMultiLvlLbl val="1"/>
      </c:catAx>
      <c:valAx>
        <c:axId val="2094734552"/>
        <c:scaling>
          <c:logBase val="10"/>
          <c:orientation val="minMax"/>
          <c:max val="10000"/>
          <c:min val="1"/>
        </c:scaling>
        <c:delete val="0"/>
        <c:axPos val="l"/>
        <c:majorGridlines>
          <c:spPr>
            <a:ln w="6350" cap="flat">
              <a:solidFill>
                <a:srgbClr val="D9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50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mn-lt"/>
              </a:defRPr>
            </a:pPr>
            <a:r>
              <a:rPr sz="1400" b="0" i="0" u="none" strike="noStrike">
                <a:solidFill>
                  <a:srgbClr val="16324F"/>
                </a:solidFill>
                <a:latin typeface="+mn-lt"/>
              </a:rPr>
              <a:t>Distinct ports probed per window (log scale)</a:t>
            </a:r>
          </a:p>
        </c:rich>
      </c:tx>
      <c:layout/>
      <c:overlay val="0"/>
    </c:title>
    <c:autoTitleDeleted val="0"/>
    <c:plotArea>
      <c:layout/>
      <c:barChart>
        <c:barDir val="col"/>
        <c:grouping val="clustered"/>
        <c:varyColors val="0"/>
        <c:ser>
          <c:idx val="0"/>
          <c:order val="0"/>
          <c:tx>
            <c:strRef>
              <c:f>Sheet1!$B$1</c:f>
              <c:strCache>
                <c:ptCount val="1"/>
                <c:pt idx="0">
                  <c:v>Alert threshold</c:v>
                </c:pt>
              </c:strCache>
            </c:strRef>
          </c:tx>
          <c:spPr>
            <a:solidFill>
              <a:srgbClr val="F4A261"/>
            </a:solidFill>
            <a:effectLst/>
          </c:spPr>
          <c:invertIfNegative val="0"/>
          <c:dLbls>
            <c:numFmt formatCode="#,##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10 seconds</c:v>
                  </c:pt>
                  <c:pt idx="1">
                    <c:v>5 minutes</c:v>
                  </c:pt>
                  <c:pt idx="2">
                    <c:v>1 hour</c:v>
                  </c:pt>
                </c:lvl>
              </c:multiLvlStrCache>
            </c:multiLvlStrRef>
          </c:cat>
          <c:val>
            <c:numRef>
              <c:f>Sheet1!$B$2:$B$4</c:f>
              <c:numCache>
                <c:formatCode>General</c:formatCode>
                <c:ptCount val="3"/>
                <c:pt idx="0">
                  <c:v>20</c:v>
                </c:pt>
                <c:pt idx="1">
                  <c:v>15</c:v>
                </c:pt>
                <c:pt idx="2">
                  <c:v>60</c:v>
                </c:pt>
              </c:numCache>
            </c:numRef>
          </c:val>
        </c:ser>
        <c:ser>
          <c:idx val="1"/>
          <c:order val="1"/>
          <c:tx>
            <c:strRef>
              <c:f>Sheet1!$C$1</c:f>
              <c:strCache>
                <c:ptCount val="1"/>
                <c:pt idx="0">
                  <c:v>Fast scan: 400 ports in 1 s</c:v>
                </c:pt>
              </c:strCache>
            </c:strRef>
          </c:tx>
          <c:spPr>
            <a:solidFill>
              <a:srgbClr val="E5383B"/>
            </a:solidFill>
            <a:effectLst/>
          </c:spPr>
          <c:invertIfNegative val="0"/>
          <c:dLbls>
            <c:numFmt formatCode="#,##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10 seconds</c:v>
                  </c:pt>
                  <c:pt idx="1">
                    <c:v>5 minutes</c:v>
                  </c:pt>
                  <c:pt idx="2">
                    <c:v>1 hour</c:v>
                  </c:pt>
                </c:lvl>
              </c:multiLvlStrCache>
            </c:multiLvlStrRef>
          </c:cat>
          <c:val>
            <c:numRef>
              <c:f>Sheet1!$C$2:$C$4</c:f>
              <c:numCache>
                <c:formatCode>General</c:formatCode>
                <c:ptCount val="3"/>
                <c:pt idx="0">
                  <c:v>400</c:v>
                </c:pt>
                <c:pt idx="1">
                  <c:v>400</c:v>
                </c:pt>
                <c:pt idx="2">
                  <c:v>400</c:v>
                </c:pt>
              </c:numCache>
            </c:numRef>
          </c:val>
        </c:ser>
        <c:ser>
          <c:idx val="2"/>
          <c:order val="2"/>
          <c:tx>
            <c:strRef>
              <c:f>Sheet1!$D$1</c:f>
              <c:strCache>
                <c:ptCount val="1"/>
                <c:pt idx="0">
                  <c:v>Slow scan: 4 probes a minute</c:v>
                </c:pt>
              </c:strCache>
            </c:strRef>
          </c:tx>
          <c:spPr>
            <a:solidFill>
              <a:srgbClr val="2EC4B6"/>
            </a:solidFill>
            <a:effectLst/>
          </c:spPr>
          <c:invertIfNegative val="0"/>
          <c:dLbls>
            <c:numFmt formatCode="#,##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cat>
            <c:multiLvlStrRef>
              <c:f>Sheet1!$A$2:$A$4</c:f>
              <c:multiLvlStrCache>
                <c:ptCount val="3"/>
                <c:lvl>
                  <c:pt idx="0">
                    <c:v>10 seconds</c:v>
                  </c:pt>
                  <c:pt idx="1">
                    <c:v>5 minutes</c:v>
                  </c:pt>
                  <c:pt idx="2">
                    <c:v>1 hour</c:v>
                  </c:pt>
                </c:lvl>
              </c:multiLvlStrCache>
            </c:multiLvlStrRef>
          </c:cat>
          <c:val>
            <c:numRef>
              <c:f>Sheet1!$D$2:$D$4</c:f>
              <c:numCache>
                <c:formatCode>General</c:formatCode>
                <c:ptCount val="3"/>
                <c:pt idx="0">
                  <c:v>1</c:v>
                </c:pt>
                <c:pt idx="1">
                  <c:v>20</c:v>
                </c:pt>
                <c:pt idx="2">
                  <c:v>240</c:v>
                </c:pt>
              </c:numCache>
            </c:numRef>
          </c:val>
        </c:ser>
        <c:dLbls>
          <c:numFmt formatCode="#,##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B2B"/>
                </a:solidFill>
                <a:latin typeface="+mn-lt"/>
              </a:defRPr>
            </a:pPr>
            <a:endParaRPr lang="en-US"/>
          </a:p>
        </c:txPr>
        <c:crossAx val="2094734552"/>
        <c:crosses val="autoZero"/>
        <c:auto val="1"/>
        <c:lblAlgn val="ctr"/>
        <c:noMultiLvlLbl val="1"/>
      </c:catAx>
      <c:valAx>
        <c:axId val="2094734552"/>
        <c:scaling>
          <c:logBase val="10"/>
          <c:orientation val="minMax"/>
          <c:max val="1000"/>
          <c:min val="1"/>
        </c:scaling>
        <c:delete val="0"/>
        <c:axPos val="l"/>
        <c:majorGridlines>
          <c:spPr>
            <a:ln w="6350" cap="flat">
              <a:solidFill>
                <a:srgbClr val="D9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50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1B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mn-lt"/>
              </a:defRPr>
            </a:pPr>
            <a:r>
              <a:rPr sz="1400" b="0" i="0" u="none" strike="noStrike">
                <a:solidFill>
                  <a:srgbClr val="16324F"/>
                </a:solidFill>
                <a:latin typeface="+mn-lt"/>
              </a:rPr>
              <a:t>Seconds until the alert (reference live run)</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E5383B"/>
            </a:solidFill>
            <a:effectLst/>
          </c:spPr>
          <c:invertIfNegative val="0"/>
          <c:dLbls>
            <c:numFmt formatCode="0.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cat>
            <c:multiLvlStrRef>
              <c:f>Sheet1!$A$2:$A$5</c:f>
              <c:multiLvlStrCache>
                <c:ptCount val="4"/>
                <c:lvl>
                  <c:pt idx="0">
                    <c:v>DNS tunnel</c:v>
                  </c:pt>
                  <c:pt idx="1">
                    <c:v>Brute force</c:v>
                  </c:pt>
                  <c:pt idx="2">
                    <c:v>Port scan</c:v>
                  </c:pt>
                  <c:pt idx="3">
                    <c:v>Beaconing</c:v>
                  </c:pt>
                </c:lvl>
              </c:multiLvlStrCache>
            </c:multiLvlStrRef>
          </c:cat>
          <c:val>
            <c:numRef>
              <c:f>Sheet1!$B$2:$B$5</c:f>
              <c:numCache>
                <c:formatCode>General</c:formatCode>
                <c:ptCount val="4"/>
                <c:pt idx="0">
                  <c:v>1.7</c:v>
                </c:pt>
                <c:pt idx="1">
                  <c:v>8.5</c:v>
                </c:pt>
                <c:pt idx="2">
                  <c:v>8.9</c:v>
                </c:pt>
                <c:pt idx="3">
                  <c:v>12.1</c:v>
                </c:pt>
              </c:numCache>
            </c:numRef>
          </c:val>
        </c:ser>
        <c:dLbls>
          <c:numFmt formatCode="0.0" sourceLinked="0"/>
          <c:txPr>
            <a:bodyPr/>
            <a:lstStyle/>
            <a:p>
              <a:pPr>
                <a:defRPr b="1" i="0" strike="noStrike" sz="1300" u="none">
                  <a:solidFill>
                    <a:srgbClr val="0B1B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B1B2B"/>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b"/>
        <c:majorGridlines>
          <c:spPr>
            <a:ln w="6350" cap="flat">
              <a:solidFill>
                <a:srgbClr val="D9E0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A50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network security for places with no security team. Sentinel runs on the gateway Mac, spots scans, password guessing, malware check-ins and DNS tunnelling, explains them in plain English and alerts you on Slack, Discord or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 college lab, a small office or a home lab has an IT generalist at best, not a security team. Enterprise tools assume analysts, tuning and budget. And raw network traffic is just noise until someone tells a story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Mac sits where all traffic crosses (for example the Internet-Sharing gateway). Sentinel observes passively. It never blocks anything. When something looks wrong you get a plain-English alert, in the terminal and on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it is for: small teams and offices, college labs and classrooms, and home labs or IT generalists. Who it is not for: enterprises needing scale and active blocking. Sentinel is a prioritisation assistant, not an 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live four-attack demo on localhost: about 2,300 packets were seen, four alerts were raised, and the admin sees one incident whose chain tells the story: scan, then password guessing, then malware check-ins, then DNS tunnelling.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Capture and parse are deterministic. Three time windows (10 seconds, 5 minutes, 1 hour) turn packets into per-device features. Detectors raise alerts, correlation turns alerts into one incident tagged with MITRE ATT&amp;CK, an LLM or a template writes the explanation, and the alert goes to the terminal and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status. Built and running today: static rules, periodicity analysis for beaconing, and the pluggable LLM that writes the alert text (Gemma 4 E2B is the intended default model, served by Ollama or llama.cpp). The Isolation Forest per-device baseline, the n-gram domain-name model and the autoencoder are designed and specified but are the roadmap, not shipped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shows what the detector looks for in a single 10-second window and what we measured in the live localhost demo. Port scan: hundreds of ports, almost all closed. Brute force: many accepted connections to a login service. Beaconing: connections at near-perfectly regular intervals. DNS tunnelling: long random names to one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looks at every device over 10 seconds, 5 minutes and 1 hour at the same time. A fast scan (400 ports in a second) trips all of them. A patient scanner sending four probes a minute never trips the 10-second window: it only touches about one port there. But over five minutes it has touched about twenty ports, and over an hour about two hundred and forty, so the longer windows catch it. This is verified by an automated test that fails if only the 10-second window is 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In a live localhost run with only the 10-second window enabled and notifications off, all four attacks were detected and the control (ordinary web traffic) raised nothing. Alert time depends on where the 10-second evaluation grid falls, so individual runs ranged from about 1 to 12 seconds. The tiles on the right come from the automated test suite: a 12-seed soak of random benign networks produced no alerts, and short attack bursts were caught at all 12 phases of the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dashboard, started with watch -d. Every CRITICAL alert gets its own pinned line the moment it is reported and stays there, newest on top, so it can never scroll away in the traffic. The CRIT counter in the header counts each one. The grey traffic below is a sliding window that fills the rest of the terminal and adapts when you resize it. q quits, c clears the pins.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an alert is made. The incident goes through a sanitizer, so hostile text from the network such as DNS names never reaches the model or chat. A local LLM, Gemma 4 E2B as the default target served through Ollama or llama.cpp, writes the explanation as structured JSON. A faithfulness check rejects any number, IP address or technique that is not in the evidence, and then Sentinel falls back to built-in template text. The result goes to Slack, Discord and Telegram, with retries, a circuit breaker and rate limits. Mentions are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security product, so it treats the network as hostile. It only observes. DNS names and host names can be crafted by an attacker, so they never reach the LLM, chat or the screen unescaped. No payloads are stored. Secrets live in a private file. Every sentence the model writes is checked against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commands. Install, check, start the monitor in one console, launch the attacks in a second console, and review the incidents. To get chat alerts, fill secrets.env and add -n. To get LLM-written text, enable the [llm] section and run sentinel llm test. Everything runs on localhost for the demo. For repeated rehearsals of the same attack use --config demo-10s.toml, which shortens the alert cooldown.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loop. Install it on the gateway once. Leave the dashboard or the background monitor running. When an alert arrives on chat, look at the incident, then acknowledge, dismiss or resolve it. If a legitimate device keeps alerting, add it to the allow-lists so the next alert means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Verified: the detectors, the CLI and the dashboard work on real loopback traffic, backed by a large automated test suite. Built but not yet exercised for real: delivery to real Slack, Discord and Telegram accounts, a real Gemma 4 E2B model server, and capture on a gateway with other devices. Next: the ML detectors (Isolation Forest, n-gram, autoencoder), ARP spoofing, rogue DHCP, canary tripwires and a web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demo: start the dashboard in one console, run the narrated attack script in the other, and let the pinned red alerts do the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B2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2743200" cy="274320"/>
          </a:xfrm>
          <a:prstGeom prst="rect">
            <a:avLst/>
          </a:prstGeom>
          <a:noFill/>
          <a:ln/>
        </p:spPr>
        <p:txBody>
          <a:bodyPr wrap="square" lIns="0" tIns="0" rIns="0" bIns="0" rtlCol="0" anchor="ctr"/>
          <a:lstStyle/>
          <a:p>
            <a:pPr indent="0" marL="0">
              <a:buNone/>
            </a:pPr>
            <a:r>
              <a:rPr lang="en-US" sz="1100" dirty="0">
                <a:solidFill>
                  <a:schemeClr val="accent5"/>
                </a:solidFill>
              </a:rPr>
              <a:t>Sentinel</a:t>
            </a:r>
            <a:endParaRPr lang="en-US" sz="11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radar-ring"/>
          <p:cNvSpPr/>
          <p:nvPr/>
        </p:nvSpPr>
        <p:spPr>
          <a:xfrm>
            <a:off x="7772400" y="1783080"/>
            <a:ext cx="3291840" cy="3291840"/>
          </a:xfrm>
          <a:prstGeom prst="ellipse">
            <a:avLst/>
          </a:prstGeom>
          <a:ln w="19050">
            <a:solidFill>
              <a:schemeClr val="accent6"/>
            </a:solidFill>
            <a:prstDash val="solid"/>
          </a:ln>
        </p:spPr>
      </p:sp>
      <p:sp>
        <p:nvSpPr>
          <p:cNvPr id="4" name="radar-ring"/>
          <p:cNvSpPr/>
          <p:nvPr/>
        </p:nvSpPr>
        <p:spPr>
          <a:xfrm>
            <a:off x="8229600" y="2240280"/>
            <a:ext cx="2377440" cy="2377440"/>
          </a:xfrm>
          <a:prstGeom prst="ellipse">
            <a:avLst/>
          </a:prstGeom>
          <a:ln w="15875">
            <a:solidFill>
              <a:schemeClr val="accent6"/>
            </a:solidFill>
            <a:prstDash val="solid"/>
          </a:ln>
        </p:spPr>
      </p:sp>
      <p:sp>
        <p:nvSpPr>
          <p:cNvPr id="5" name="radar-ring"/>
          <p:cNvSpPr/>
          <p:nvPr/>
        </p:nvSpPr>
        <p:spPr>
          <a:xfrm>
            <a:off x="8686800" y="2697480"/>
            <a:ext cx="1463040" cy="1463040"/>
          </a:xfrm>
          <a:prstGeom prst="ellipse">
            <a:avLst/>
          </a:prstGeom>
          <a:ln w="12700">
            <a:solidFill>
              <a:schemeClr val="accent6"/>
            </a:solidFill>
            <a:prstDash val="solid"/>
          </a:ln>
        </p:spPr>
      </p:sp>
      <p:sp>
        <p:nvSpPr>
          <p:cNvPr id="6" name="radar-core"/>
          <p:cNvSpPr/>
          <p:nvPr/>
        </p:nvSpPr>
        <p:spPr>
          <a:xfrm>
            <a:off x="8915400" y="2926080"/>
            <a:ext cx="1005840" cy="1005840"/>
          </a:xfrm>
          <a:prstGeom prst="ellipse">
            <a:avLst/>
          </a:prstGeom>
          <a:solidFill>
            <a:schemeClr val="accent1"/>
          </a:solidFill>
          <a:ln/>
        </p:spPr>
      </p:sp>
      <p:pic>
        <p:nvPicPr>
          <p:cNvPr id="7" name="Image 0" descr="shield">    </p:cNvPr>
          <p:cNvPicPr>
            <a:picLocks noChangeAspect="1"/>
          </p:cNvPicPr>
          <p:nvPr/>
        </p:nvPicPr>
        <p:blipFill>
          <a:blip r:embed="rId1"/>
          <a:stretch>
            <a:fillRect/>
          </a:stretch>
        </p:blipFill>
        <p:spPr>
          <a:xfrm>
            <a:off x="9144000" y="3154680"/>
            <a:ext cx="548640" cy="548640"/>
          </a:xfrm>
          <a:prstGeom prst="rect">
            <a:avLst/>
          </a:prstGeom>
        </p:spPr>
      </p:pic>
      <p:sp>
        <p:nvSpPr>
          <p:cNvPr id="8" name="radar-dot"/>
          <p:cNvSpPr/>
          <p:nvPr/>
        </p:nvSpPr>
        <p:spPr>
          <a:xfrm>
            <a:off x="8138160" y="2194560"/>
            <a:ext cx="164592" cy="164592"/>
          </a:xfrm>
          <a:prstGeom prst="ellipse">
            <a:avLst/>
          </a:prstGeom>
          <a:solidFill>
            <a:schemeClr val="accent3"/>
          </a:solidFill>
          <a:ln/>
        </p:spPr>
      </p:sp>
      <p:sp>
        <p:nvSpPr>
          <p:cNvPr id="9" name="radar-dot"/>
          <p:cNvSpPr/>
          <p:nvPr/>
        </p:nvSpPr>
        <p:spPr>
          <a:xfrm>
            <a:off x="10515600" y="2651760"/>
            <a:ext cx="164592" cy="164592"/>
          </a:xfrm>
          <a:prstGeom prst="ellipse">
            <a:avLst/>
          </a:prstGeom>
          <a:solidFill>
            <a:schemeClr val="accent2"/>
          </a:solidFill>
          <a:ln/>
        </p:spPr>
      </p:sp>
      <p:sp>
        <p:nvSpPr>
          <p:cNvPr id="10" name="radar-dot"/>
          <p:cNvSpPr/>
          <p:nvPr/>
        </p:nvSpPr>
        <p:spPr>
          <a:xfrm>
            <a:off x="8595360" y="4754880"/>
            <a:ext cx="164592" cy="164592"/>
          </a:xfrm>
          <a:prstGeom prst="ellipse">
            <a:avLst/>
          </a:prstGeom>
          <a:solidFill>
            <a:schemeClr val="accent3"/>
          </a:solidFill>
          <a:ln/>
        </p:spPr>
      </p:sp>
      <p:sp>
        <p:nvSpPr>
          <p:cNvPr id="11" name="radar-dot"/>
          <p:cNvSpPr/>
          <p:nvPr/>
        </p:nvSpPr>
        <p:spPr>
          <a:xfrm>
            <a:off x="10789920" y="4480560"/>
            <a:ext cx="164592" cy="164592"/>
          </a:xfrm>
          <a:prstGeom prst="ellipse">
            <a:avLst/>
          </a:prstGeom>
          <a:solidFill>
            <a:schemeClr val="accent3"/>
          </a:solidFill>
          <a:ln/>
        </p:spPr>
      </p:sp>
      <p:sp>
        <p:nvSpPr>
          <p:cNvPr id="12" name="Text 8"/>
          <p:cNvSpPr txBox="1"/>
          <p:nvPr/>
        </p:nvSpPr>
        <p:spPr>
          <a:xfrm>
            <a:off x="731520" y="1417320"/>
            <a:ext cx="6858000" cy="109728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SENTINEL</a:t>
            </a:r>
            <a:endParaRPr lang="en-US" sz="6600" dirty="0"/>
          </a:p>
        </p:txBody>
      </p:sp>
      <p:sp>
        <p:nvSpPr>
          <p:cNvPr id="13" name="Text 9"/>
          <p:cNvSpPr txBox="1"/>
          <p:nvPr/>
        </p:nvSpPr>
        <p:spPr>
          <a:xfrm>
            <a:off x="731520" y="2606040"/>
            <a:ext cx="6583680" cy="1097280"/>
          </a:xfrm>
          <a:prstGeom prst="rect">
            <a:avLst/>
          </a:prstGeom>
          <a:noFill/>
          <a:ln/>
        </p:spPr>
        <p:txBody>
          <a:bodyPr wrap="square" lIns="0" tIns="0" rIns="0" bIns="0" rtlCol="0" anchor="t"/>
          <a:lstStyle/>
          <a:p>
            <a:pPr indent="0" marL="0">
              <a:buNone/>
            </a:pPr>
            <a:r>
              <a:rPr lang="en-US" sz="2800" dirty="0">
                <a:solidFill>
                  <a:schemeClr val="accent3"/>
                </a:solidFill>
              </a:rPr>
              <a:t>Network security for places with no security team</a:t>
            </a:r>
            <a:endParaRPr lang="en-US" sz="2800" dirty="0"/>
          </a:p>
        </p:txBody>
      </p:sp>
      <p:sp>
        <p:nvSpPr>
          <p:cNvPr id="14" name="Text 10"/>
          <p:cNvSpPr txBox="1"/>
          <p:nvPr/>
        </p:nvSpPr>
        <p:spPr>
          <a:xfrm>
            <a:off x="731520" y="3977640"/>
            <a:ext cx="6400800" cy="1097280"/>
          </a:xfrm>
          <a:prstGeom prst="rect">
            <a:avLst/>
          </a:prstGeom>
          <a:noFill/>
          <a:ln/>
        </p:spPr>
        <p:txBody>
          <a:bodyPr wrap="square" lIns="0" tIns="0" rIns="0" bIns="0" rtlCol="0" anchor="t"/>
          <a:lstStyle/>
          <a:p>
            <a:pPr indent="0" marL="0">
              <a:buNone/>
            </a:pPr>
            <a:r>
              <a:rPr lang="en-US" sz="1800" dirty="0">
                <a:solidFill>
                  <a:schemeClr val="accent5"/>
                </a:solidFill>
              </a:rPr>
              <a:t>Catches scans, brute force, malware beacons and DNS tunnels. Explains them in plain English. Alerts you on Slack, Discord or Telegram.</a:t>
            </a:r>
            <a:endParaRPr lang="en-US" sz="1800" dirty="0"/>
          </a:p>
        </p:txBody>
      </p:sp>
      <p:sp>
        <p:nvSpPr>
          <p:cNvPr id="15" name="chip"/>
          <p:cNvSpPr/>
          <p:nvPr/>
        </p:nvSpPr>
        <p:spPr>
          <a:xfrm>
            <a:off x="731520" y="5532120"/>
            <a:ext cx="2286000" cy="384048"/>
          </a:xfrm>
          <a:prstGeom prst="roundRect">
            <a:avLst>
              <a:gd name="adj" fmla="val 50000"/>
            </a:avLst>
          </a:prstGeom>
          <a:solidFill>
            <a:schemeClr val="accent6"/>
          </a:solidFill>
          <a:ln/>
        </p:spPr>
      </p:sp>
      <p:sp>
        <p:nvSpPr>
          <p:cNvPr id="16" name="Text 12"/>
          <p:cNvSpPr txBox="1"/>
          <p:nvPr/>
        </p:nvSpPr>
        <p:spPr>
          <a:xfrm>
            <a:off x="731520" y="5532120"/>
            <a:ext cx="2286000" cy="384048"/>
          </a:xfrm>
          <a:prstGeom prst="rect">
            <a:avLst/>
          </a:prstGeom>
          <a:noFill/>
          <a:ln/>
        </p:spPr>
        <p:txBody>
          <a:bodyPr wrap="square" lIns="0" tIns="0" rIns="0" bIns="0" rtlCol="0" anchor="ctr"/>
          <a:lstStyle/>
          <a:p>
            <a:pPr algn="ctr" indent="0" marL="0">
              <a:buNone/>
            </a:pPr>
            <a:r>
              <a:rPr lang="en-US" sz="1300" b="1" dirty="0">
                <a:solidFill>
                  <a:schemeClr val="bg1"/>
                </a:solidFill>
              </a:rPr>
              <a:t>Runs on one gateway Mac</a:t>
            </a:r>
            <a:endParaRPr lang="en-US" sz="1300" dirty="0"/>
          </a:p>
        </p:txBody>
      </p:sp>
      <p:sp>
        <p:nvSpPr>
          <p:cNvPr id="17" name="chip"/>
          <p:cNvSpPr/>
          <p:nvPr/>
        </p:nvSpPr>
        <p:spPr>
          <a:xfrm>
            <a:off x="3200400" y="5532120"/>
            <a:ext cx="2011680" cy="384048"/>
          </a:xfrm>
          <a:prstGeom prst="roundRect">
            <a:avLst>
              <a:gd name="adj" fmla="val 50000"/>
            </a:avLst>
          </a:prstGeom>
          <a:solidFill>
            <a:schemeClr val="accent6"/>
          </a:solidFill>
          <a:ln/>
        </p:spPr>
      </p:sp>
      <p:sp>
        <p:nvSpPr>
          <p:cNvPr id="18" name="Text 14"/>
          <p:cNvSpPr txBox="1"/>
          <p:nvPr/>
        </p:nvSpPr>
        <p:spPr>
          <a:xfrm>
            <a:off x="3200400" y="553212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Local-first</a:t>
            </a:r>
            <a:endParaRPr lang="en-US" sz="1300" dirty="0"/>
          </a:p>
        </p:txBody>
      </p:sp>
      <p:sp>
        <p:nvSpPr>
          <p:cNvPr id="19" name="chip"/>
          <p:cNvSpPr/>
          <p:nvPr/>
        </p:nvSpPr>
        <p:spPr>
          <a:xfrm>
            <a:off x="5394960" y="5532120"/>
            <a:ext cx="2011680" cy="384048"/>
          </a:xfrm>
          <a:prstGeom prst="roundRect">
            <a:avLst>
              <a:gd name="adj" fmla="val 50000"/>
            </a:avLst>
          </a:prstGeom>
          <a:solidFill>
            <a:schemeClr val="accent6"/>
          </a:solidFill>
          <a:ln/>
        </p:spPr>
      </p:sp>
      <p:sp>
        <p:nvSpPr>
          <p:cNvPr id="20" name="Text 16"/>
          <p:cNvSpPr txBox="1"/>
          <p:nvPr/>
        </p:nvSpPr>
        <p:spPr>
          <a:xfrm>
            <a:off x="5394960" y="5532120"/>
            <a:ext cx="2011680" cy="384048"/>
          </a:xfrm>
          <a:prstGeom prst="rect">
            <a:avLst/>
          </a:prstGeom>
          <a:noFill/>
          <a:ln/>
        </p:spPr>
        <p:txBody>
          <a:bodyPr wrap="square" lIns="0" tIns="0" rIns="0" bIns="0" rtlCol="0" anchor="ctr"/>
          <a:lstStyle/>
          <a:p>
            <a:pPr algn="ctr" indent="0" marL="0">
              <a:buNone/>
            </a:pPr>
            <a:r>
              <a:rPr lang="en-US" sz="1300" b="1" dirty="0">
                <a:solidFill>
                  <a:schemeClr val="bg1"/>
                </a:solidFill>
              </a:rPr>
              <a:t>Observe only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Small networks, no one watching</a:t>
            </a:r>
            <a:endParaRPr lang="en-US" sz="3400" dirty="0"/>
          </a:p>
        </p:txBody>
      </p:sp>
      <p:sp>
        <p:nvSpPr>
          <p:cNvPr id="4" name="card"/>
          <p:cNvSpPr/>
          <p:nvPr/>
        </p:nvSpPr>
        <p:spPr>
          <a:xfrm>
            <a:off x="548640" y="1463040"/>
            <a:ext cx="3474720" cy="3200400"/>
          </a:xfrm>
          <a:prstGeom prst="roundRect">
            <a:avLst>
              <a:gd name="adj" fmla="val 2286"/>
            </a:avLst>
          </a:prstGeom>
          <a:solidFill>
            <a:schemeClr val="bg2"/>
          </a:solidFill>
          <a:ln/>
        </p:spPr>
      </p:sp>
      <p:sp>
        <p:nvSpPr>
          <p:cNvPr id="5" name="icon-bg"/>
          <p:cNvSpPr/>
          <p:nvPr/>
        </p:nvSpPr>
        <p:spPr>
          <a:xfrm>
            <a:off x="868680" y="1783080"/>
            <a:ext cx="868680" cy="86868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1085850" y="2000250"/>
            <a:ext cx="434340" cy="434340"/>
          </a:xfrm>
          <a:prstGeom prst="rect">
            <a:avLst/>
          </a:prstGeom>
        </p:spPr>
      </p:pic>
      <p:sp>
        <p:nvSpPr>
          <p:cNvPr id="7" name="Text 3"/>
          <p:cNvSpPr txBox="1"/>
          <p:nvPr/>
        </p:nvSpPr>
        <p:spPr>
          <a:xfrm>
            <a:off x="868680" y="283464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No security team</a:t>
            </a:r>
            <a:endParaRPr lang="en-US" sz="2200" dirty="0"/>
          </a:p>
        </p:txBody>
      </p:sp>
      <p:sp>
        <p:nvSpPr>
          <p:cNvPr id="8" name="Text 4"/>
          <p:cNvSpPr txBox="1"/>
          <p:nvPr/>
        </p:nvSpPr>
        <p:spPr>
          <a:xfrm>
            <a:off x="868680" y="3383280"/>
            <a:ext cx="2926080" cy="1188720"/>
          </a:xfrm>
          <a:prstGeom prst="rect">
            <a:avLst/>
          </a:prstGeom>
          <a:noFill/>
          <a:ln/>
        </p:spPr>
        <p:txBody>
          <a:bodyPr wrap="square" lIns="0" tIns="0" rIns="0" bIns="0" rtlCol="0" anchor="t"/>
          <a:lstStyle/>
          <a:p>
            <a:pPr indent="0" marL="0">
              <a:buNone/>
            </a:pPr>
            <a:r>
              <a:rPr lang="en-US" sz="1800" dirty="0">
                <a:solidFill>
                  <a:schemeClr val="accent6"/>
                </a:solidFill>
              </a:rPr>
              <a:t>An IT generalist at best. Nobody reads logs or reviews traffic.</a:t>
            </a:r>
            <a:endParaRPr lang="en-US" sz="1800" dirty="0"/>
          </a:p>
        </p:txBody>
      </p:sp>
      <p:sp>
        <p:nvSpPr>
          <p:cNvPr id="9" name="card"/>
          <p:cNvSpPr/>
          <p:nvPr/>
        </p:nvSpPr>
        <p:spPr>
          <a:xfrm>
            <a:off x="4297680" y="1463040"/>
            <a:ext cx="3474720" cy="3200400"/>
          </a:xfrm>
          <a:prstGeom prst="roundRect">
            <a:avLst>
              <a:gd name="adj" fmla="val 2286"/>
            </a:avLst>
          </a:prstGeom>
          <a:solidFill>
            <a:schemeClr val="bg2"/>
          </a:solidFill>
          <a:ln/>
        </p:spPr>
      </p:sp>
      <p:sp>
        <p:nvSpPr>
          <p:cNvPr id="10" name="icon-bg"/>
          <p:cNvSpPr/>
          <p:nvPr/>
        </p:nvSpPr>
        <p:spPr>
          <a:xfrm>
            <a:off x="4617720" y="1783080"/>
            <a:ext cx="868680" cy="868680"/>
          </a:xfrm>
          <a:prstGeom prst="ellipse">
            <a:avLst/>
          </a:prstGeom>
          <a:solidFill>
            <a:schemeClr val="accent2"/>
          </a:solidFill>
          <a:ln/>
        </p:spPr>
      </p:sp>
      <p:pic>
        <p:nvPicPr>
          <p:cNvPr id="11" name="Image 1" descr="icon">    </p:cNvPr>
          <p:cNvPicPr>
            <a:picLocks noChangeAspect="1"/>
          </p:cNvPicPr>
          <p:nvPr/>
        </p:nvPicPr>
        <p:blipFill>
          <a:blip r:embed="rId2"/>
          <a:stretch>
            <a:fillRect/>
          </a:stretch>
        </p:blipFill>
        <p:spPr>
          <a:xfrm>
            <a:off x="4834890" y="2000250"/>
            <a:ext cx="434340" cy="434340"/>
          </a:xfrm>
          <a:prstGeom prst="rect">
            <a:avLst/>
          </a:prstGeom>
        </p:spPr>
      </p:pic>
      <p:sp>
        <p:nvSpPr>
          <p:cNvPr id="12" name="Text 7"/>
          <p:cNvSpPr txBox="1"/>
          <p:nvPr/>
        </p:nvSpPr>
        <p:spPr>
          <a:xfrm>
            <a:off x="4617720" y="283464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Enterprise tools don't fit</a:t>
            </a:r>
            <a:endParaRPr lang="en-US" sz="2200" dirty="0"/>
          </a:p>
        </p:txBody>
      </p:sp>
      <p:sp>
        <p:nvSpPr>
          <p:cNvPr id="13" name="Text 8"/>
          <p:cNvSpPr txBox="1"/>
          <p:nvPr/>
        </p:nvSpPr>
        <p:spPr>
          <a:xfrm>
            <a:off x="4617720" y="3383280"/>
            <a:ext cx="2926080" cy="1188720"/>
          </a:xfrm>
          <a:prstGeom prst="rect">
            <a:avLst/>
          </a:prstGeom>
          <a:noFill/>
          <a:ln/>
        </p:spPr>
        <p:txBody>
          <a:bodyPr wrap="square" lIns="0" tIns="0" rIns="0" bIns="0" rtlCol="0" anchor="t"/>
          <a:lstStyle/>
          <a:p>
            <a:pPr indent="0" marL="0">
              <a:buNone/>
            </a:pPr>
            <a:r>
              <a:rPr lang="en-US" sz="1800" dirty="0">
                <a:solidFill>
                  <a:schemeClr val="accent6"/>
                </a:solidFill>
              </a:rPr>
              <a:t>IDS and SIEM products need analysts, tuning and a budget.</a:t>
            </a:r>
            <a:endParaRPr lang="en-US" sz="1800" dirty="0"/>
          </a:p>
        </p:txBody>
      </p:sp>
      <p:sp>
        <p:nvSpPr>
          <p:cNvPr id="14" name="card"/>
          <p:cNvSpPr/>
          <p:nvPr/>
        </p:nvSpPr>
        <p:spPr>
          <a:xfrm>
            <a:off x="8046720" y="1463040"/>
            <a:ext cx="3474720" cy="3200400"/>
          </a:xfrm>
          <a:prstGeom prst="roundRect">
            <a:avLst>
              <a:gd name="adj" fmla="val 2286"/>
            </a:avLst>
          </a:prstGeom>
          <a:solidFill>
            <a:schemeClr val="bg2"/>
          </a:solidFill>
          <a:ln/>
        </p:spPr>
      </p:sp>
      <p:sp>
        <p:nvSpPr>
          <p:cNvPr id="15" name="icon-bg"/>
          <p:cNvSpPr/>
          <p:nvPr/>
        </p:nvSpPr>
        <p:spPr>
          <a:xfrm>
            <a:off x="8366760" y="1783080"/>
            <a:ext cx="868680" cy="868680"/>
          </a:xfrm>
          <a:prstGeom prst="ellipse">
            <a:avLst/>
          </a:prstGeom>
          <a:solidFill>
            <a:schemeClr val="accent4"/>
          </a:solidFill>
          <a:ln/>
        </p:spPr>
      </p:sp>
      <p:pic>
        <p:nvPicPr>
          <p:cNvPr id="16" name="Image 2" descr="icon">    </p:cNvPr>
          <p:cNvPicPr>
            <a:picLocks noChangeAspect="1"/>
          </p:cNvPicPr>
          <p:nvPr/>
        </p:nvPicPr>
        <p:blipFill>
          <a:blip r:embed="rId3"/>
          <a:stretch>
            <a:fillRect/>
          </a:stretch>
        </p:blipFill>
        <p:spPr>
          <a:xfrm>
            <a:off x="8583930" y="2000250"/>
            <a:ext cx="434340" cy="434340"/>
          </a:xfrm>
          <a:prstGeom prst="rect">
            <a:avLst/>
          </a:prstGeom>
        </p:spPr>
      </p:pic>
      <p:sp>
        <p:nvSpPr>
          <p:cNvPr id="17" name="Text 11"/>
          <p:cNvSpPr txBox="1"/>
          <p:nvPr/>
        </p:nvSpPr>
        <p:spPr>
          <a:xfrm>
            <a:off x="8366760" y="2834640"/>
            <a:ext cx="2926080" cy="457200"/>
          </a:xfrm>
          <a:prstGeom prst="rect">
            <a:avLst/>
          </a:prstGeom>
          <a:noFill/>
          <a:ln/>
        </p:spPr>
        <p:txBody>
          <a:bodyPr wrap="square" lIns="0" tIns="0" rIns="0" bIns="0" rtlCol="0" anchor="ctr"/>
          <a:lstStyle/>
          <a:p>
            <a:pPr indent="0" marL="0">
              <a:buNone/>
            </a:pPr>
            <a:r>
              <a:rPr lang="en-US" sz="2200" b="1" dirty="0">
                <a:solidFill>
                  <a:schemeClr val="tx1"/>
                </a:solidFill>
              </a:rPr>
              <a:t>Traffic is just noise</a:t>
            </a:r>
            <a:endParaRPr lang="en-US" sz="2200" dirty="0"/>
          </a:p>
        </p:txBody>
      </p:sp>
      <p:sp>
        <p:nvSpPr>
          <p:cNvPr id="18" name="Text 12"/>
          <p:cNvSpPr txBox="1"/>
          <p:nvPr/>
        </p:nvSpPr>
        <p:spPr>
          <a:xfrm>
            <a:off x="8366760" y="3383280"/>
            <a:ext cx="2926080" cy="1188720"/>
          </a:xfrm>
          <a:prstGeom prst="rect">
            <a:avLst/>
          </a:prstGeom>
          <a:noFill/>
          <a:ln/>
        </p:spPr>
        <p:txBody>
          <a:bodyPr wrap="square" lIns="0" tIns="0" rIns="0" bIns="0" rtlCol="0" anchor="t"/>
          <a:lstStyle/>
          <a:p>
            <a:pPr indent="0" marL="0">
              <a:buNone/>
            </a:pPr>
            <a:r>
              <a:rPr lang="en-US" sz="1800" dirty="0">
                <a:solidFill>
                  <a:schemeClr val="accent6"/>
                </a:solidFill>
              </a:rPr>
              <a:t>A port scan or a malware check-in looks like ordinary packets.</a:t>
            </a:r>
            <a:endParaRPr lang="en-US" sz="1800" dirty="0"/>
          </a:p>
        </p:txBody>
      </p:sp>
      <p:sp>
        <p:nvSpPr>
          <p:cNvPr id="19" name="banner"/>
          <p:cNvSpPr/>
          <p:nvPr/>
        </p:nvSpPr>
        <p:spPr>
          <a:xfrm>
            <a:off x="548640" y="5029200"/>
            <a:ext cx="11064240" cy="1005840"/>
          </a:xfrm>
          <a:prstGeom prst="roundRect">
            <a:avLst>
              <a:gd name="adj" fmla="val 7273"/>
            </a:avLst>
          </a:prstGeom>
          <a:solidFill>
            <a:schemeClr val="tx1"/>
          </a:solidFill>
          <a:ln/>
        </p:spPr>
      </p:sp>
      <p:sp>
        <p:nvSpPr>
          <p:cNvPr id="20" name="Text 14"/>
          <p:cNvSpPr txBox="1"/>
          <p:nvPr/>
        </p:nvSpPr>
        <p:spPr>
          <a:xfrm>
            <a:off x="868680" y="5029200"/>
            <a:ext cx="10424160" cy="1005840"/>
          </a:xfrm>
          <a:prstGeom prst="rect">
            <a:avLst/>
          </a:prstGeom>
          <a:noFill/>
          <a:ln/>
        </p:spPr>
        <p:txBody>
          <a:bodyPr wrap="square" lIns="0" tIns="0" rIns="0" bIns="0" rtlCol="0" anchor="ctr"/>
          <a:lstStyle/>
          <a:p>
            <a:pPr indent="0" marL="0">
              <a:buNone/>
            </a:pPr>
            <a:r>
              <a:rPr lang="en-US" sz="2200" b="1" dirty="0">
                <a:solidFill>
                  <a:schemeClr val="bg1"/>
                </a:solidFill>
              </a:rPr>
              <a:t>The result: attackers can scan, guess passwords and phone home for days without anyone noticing.</a:t>
            </a:r>
            <a:endParaRPr lang="en-US" sz="2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Sentinel watches the gateway for you</a:t>
            </a:r>
            <a:endParaRPr lang="en-US" sz="3400" dirty="0"/>
          </a:p>
        </p:txBody>
      </p:sp>
      <p:sp>
        <p:nvSpPr>
          <p:cNvPr id="4" name="card"/>
          <p:cNvSpPr/>
          <p:nvPr/>
        </p:nvSpPr>
        <p:spPr>
          <a:xfrm>
            <a:off x="548640" y="1508760"/>
            <a:ext cx="3154680" cy="2651760"/>
          </a:xfrm>
          <a:prstGeom prst="roundRect">
            <a:avLst>
              <a:gd name="adj" fmla="val 2759"/>
            </a:avLst>
          </a:prstGeom>
          <a:solidFill>
            <a:schemeClr val="bg2"/>
          </a:solidFill>
          <a:ln/>
        </p:spPr>
      </p:sp>
      <p:sp>
        <p:nvSpPr>
          <p:cNvPr id="5" name="icon-bg"/>
          <p:cNvSpPr/>
          <p:nvPr/>
        </p:nvSpPr>
        <p:spPr>
          <a:xfrm>
            <a:off x="1645920" y="1783080"/>
            <a:ext cx="960120" cy="960120"/>
          </a:xfrm>
          <a:prstGeom prst="ellipse">
            <a:avLst/>
          </a:prstGeom>
          <a:solidFill>
            <a:schemeClr val="accent4"/>
          </a:solidFill>
          <a:ln/>
        </p:spPr>
      </p:sp>
      <p:pic>
        <p:nvPicPr>
          <p:cNvPr id="6" name="Image 0" descr="icon">    </p:cNvPr>
          <p:cNvPicPr>
            <a:picLocks noChangeAspect="1"/>
          </p:cNvPicPr>
          <p:nvPr/>
        </p:nvPicPr>
        <p:blipFill>
          <a:blip r:embed="rId1"/>
          <a:stretch>
            <a:fillRect/>
          </a:stretch>
        </p:blipFill>
        <p:spPr>
          <a:xfrm>
            <a:off x="1885950" y="2023110"/>
            <a:ext cx="480060" cy="480060"/>
          </a:xfrm>
          <a:prstGeom prst="rect">
            <a:avLst/>
          </a:prstGeom>
        </p:spPr>
      </p:pic>
      <p:sp>
        <p:nvSpPr>
          <p:cNvPr id="7" name="Text 3"/>
          <p:cNvSpPr txBox="1"/>
          <p:nvPr/>
        </p:nvSpPr>
        <p:spPr>
          <a:xfrm>
            <a:off x="731520" y="2880360"/>
            <a:ext cx="2788920" cy="457200"/>
          </a:xfrm>
          <a:prstGeom prst="rect">
            <a:avLst/>
          </a:prstGeom>
          <a:noFill/>
          <a:ln/>
        </p:spPr>
        <p:txBody>
          <a:bodyPr wrap="square" lIns="0" tIns="0" rIns="0" bIns="0" rtlCol="0" anchor="ctr"/>
          <a:lstStyle/>
          <a:p>
            <a:pPr algn="ctr" indent="0" marL="0">
              <a:buNone/>
            </a:pPr>
            <a:r>
              <a:rPr lang="en-US" sz="2000" b="1" dirty="0">
                <a:solidFill>
                  <a:schemeClr val="tx1"/>
                </a:solidFill>
              </a:rPr>
              <a:t>Your devices</a:t>
            </a:r>
            <a:endParaRPr lang="en-US" sz="2000" dirty="0"/>
          </a:p>
        </p:txBody>
      </p:sp>
      <p:sp>
        <p:nvSpPr>
          <p:cNvPr id="8" name="Text 4"/>
          <p:cNvSpPr txBox="1"/>
          <p:nvPr/>
        </p:nvSpPr>
        <p:spPr>
          <a:xfrm>
            <a:off x="731520" y="3383280"/>
            <a:ext cx="2788920" cy="640080"/>
          </a:xfrm>
          <a:prstGeom prst="rect">
            <a:avLst/>
          </a:prstGeom>
          <a:noFill/>
          <a:ln/>
        </p:spPr>
        <p:txBody>
          <a:bodyPr wrap="square" lIns="0" tIns="0" rIns="0" bIns="0" rtlCol="0" anchor="t"/>
          <a:lstStyle/>
          <a:p>
            <a:pPr algn="ctr" indent="0" marL="0">
              <a:buNone/>
            </a:pPr>
            <a:r>
              <a:rPr lang="en-US" sz="1500" dirty="0">
                <a:solidFill>
                  <a:schemeClr val="accent6"/>
                </a:solidFill>
              </a:rPr>
              <a:t>laptops, phones, printers, lab PCs</a:t>
            </a:r>
            <a:endParaRPr lang="en-US" sz="1500" dirty="0"/>
          </a:p>
        </p:txBody>
      </p:sp>
      <p:sp>
        <p:nvSpPr>
          <p:cNvPr id="9" name="card"/>
          <p:cNvSpPr/>
          <p:nvPr/>
        </p:nvSpPr>
        <p:spPr>
          <a:xfrm>
            <a:off x="4526280" y="1508760"/>
            <a:ext cx="3154680" cy="2651760"/>
          </a:xfrm>
          <a:prstGeom prst="roundRect">
            <a:avLst>
              <a:gd name="adj" fmla="val 2759"/>
            </a:avLst>
          </a:prstGeom>
          <a:solidFill>
            <a:schemeClr val="bg2"/>
          </a:solidFill>
          <a:ln/>
        </p:spPr>
      </p:sp>
      <p:sp>
        <p:nvSpPr>
          <p:cNvPr id="10" name="icon-bg"/>
          <p:cNvSpPr/>
          <p:nvPr/>
        </p:nvSpPr>
        <p:spPr>
          <a:xfrm>
            <a:off x="5623560" y="1783080"/>
            <a:ext cx="960120" cy="960120"/>
          </a:xfrm>
          <a:prstGeom prst="ellipse">
            <a:avLst/>
          </a:prstGeom>
          <a:solidFill>
            <a:schemeClr val="accent1"/>
          </a:solidFill>
          <a:ln/>
        </p:spPr>
      </p:sp>
      <p:pic>
        <p:nvPicPr>
          <p:cNvPr id="11" name="Image 1" descr="icon">    </p:cNvPr>
          <p:cNvPicPr>
            <a:picLocks noChangeAspect="1"/>
          </p:cNvPicPr>
          <p:nvPr/>
        </p:nvPicPr>
        <p:blipFill>
          <a:blip r:embed="rId2"/>
          <a:stretch>
            <a:fillRect/>
          </a:stretch>
        </p:blipFill>
        <p:spPr>
          <a:xfrm>
            <a:off x="5863590" y="2023110"/>
            <a:ext cx="480060" cy="480060"/>
          </a:xfrm>
          <a:prstGeom prst="rect">
            <a:avLst/>
          </a:prstGeom>
        </p:spPr>
      </p:pic>
      <p:sp>
        <p:nvSpPr>
          <p:cNvPr id="12" name="Text 7"/>
          <p:cNvSpPr txBox="1"/>
          <p:nvPr/>
        </p:nvSpPr>
        <p:spPr>
          <a:xfrm>
            <a:off x="4709160" y="2880360"/>
            <a:ext cx="2788920" cy="457200"/>
          </a:xfrm>
          <a:prstGeom prst="rect">
            <a:avLst/>
          </a:prstGeom>
          <a:noFill/>
          <a:ln/>
        </p:spPr>
        <p:txBody>
          <a:bodyPr wrap="square" lIns="0" tIns="0" rIns="0" bIns="0" rtlCol="0" anchor="ctr"/>
          <a:lstStyle/>
          <a:p>
            <a:pPr algn="ctr" indent="0" marL="0">
              <a:buNone/>
            </a:pPr>
            <a:r>
              <a:rPr lang="en-US" sz="2000" b="1" dirty="0">
                <a:solidFill>
                  <a:schemeClr val="tx1"/>
                </a:solidFill>
              </a:rPr>
              <a:t>Gateway Mac + Sentinel</a:t>
            </a:r>
            <a:endParaRPr lang="en-US" sz="2000" dirty="0"/>
          </a:p>
        </p:txBody>
      </p:sp>
      <p:sp>
        <p:nvSpPr>
          <p:cNvPr id="13" name="Text 8"/>
          <p:cNvSpPr txBox="1"/>
          <p:nvPr/>
        </p:nvSpPr>
        <p:spPr>
          <a:xfrm>
            <a:off x="4709160" y="3383280"/>
            <a:ext cx="2788920" cy="640080"/>
          </a:xfrm>
          <a:prstGeom prst="rect">
            <a:avLst/>
          </a:prstGeom>
          <a:noFill/>
          <a:ln/>
        </p:spPr>
        <p:txBody>
          <a:bodyPr wrap="square" lIns="0" tIns="0" rIns="0" bIns="0" rtlCol="0" anchor="t"/>
          <a:lstStyle/>
          <a:p>
            <a:pPr algn="ctr" indent="0" marL="0">
              <a:buNone/>
            </a:pPr>
            <a:r>
              <a:rPr lang="en-US" sz="1500" dirty="0">
                <a:solidFill>
                  <a:schemeClr val="accent6"/>
                </a:solidFill>
              </a:rPr>
              <a:t>captures and analyses traffic</a:t>
            </a:r>
            <a:endParaRPr lang="en-US" sz="1500" dirty="0"/>
          </a:p>
        </p:txBody>
      </p:sp>
      <p:sp>
        <p:nvSpPr>
          <p:cNvPr id="14" name="card"/>
          <p:cNvSpPr/>
          <p:nvPr/>
        </p:nvSpPr>
        <p:spPr>
          <a:xfrm>
            <a:off x="8503920" y="1508760"/>
            <a:ext cx="3154680" cy="2651760"/>
          </a:xfrm>
          <a:prstGeom prst="roundRect">
            <a:avLst>
              <a:gd name="adj" fmla="val 2759"/>
            </a:avLst>
          </a:prstGeom>
          <a:solidFill>
            <a:schemeClr val="bg2"/>
          </a:solidFill>
          <a:ln/>
        </p:spPr>
      </p:sp>
      <p:sp>
        <p:nvSpPr>
          <p:cNvPr id="15" name="icon-bg"/>
          <p:cNvSpPr/>
          <p:nvPr/>
        </p:nvSpPr>
        <p:spPr>
          <a:xfrm>
            <a:off x="9601200" y="1783080"/>
            <a:ext cx="960120" cy="960120"/>
          </a:xfrm>
          <a:prstGeom prst="ellipse">
            <a:avLst/>
          </a:prstGeom>
          <a:solidFill>
            <a:schemeClr val="accent3"/>
          </a:solidFill>
          <a:ln/>
        </p:spPr>
      </p:sp>
      <p:pic>
        <p:nvPicPr>
          <p:cNvPr id="16" name="Image 2" descr="icon">    </p:cNvPr>
          <p:cNvPicPr>
            <a:picLocks noChangeAspect="1"/>
          </p:cNvPicPr>
          <p:nvPr/>
        </p:nvPicPr>
        <p:blipFill>
          <a:blip r:embed="rId3"/>
          <a:stretch>
            <a:fillRect/>
          </a:stretch>
        </p:blipFill>
        <p:spPr>
          <a:xfrm>
            <a:off x="9841230" y="2023110"/>
            <a:ext cx="480060" cy="480060"/>
          </a:xfrm>
          <a:prstGeom prst="rect">
            <a:avLst/>
          </a:prstGeom>
        </p:spPr>
      </p:pic>
      <p:sp>
        <p:nvSpPr>
          <p:cNvPr id="17" name="Text 11"/>
          <p:cNvSpPr txBox="1"/>
          <p:nvPr/>
        </p:nvSpPr>
        <p:spPr>
          <a:xfrm>
            <a:off x="8686800" y="2880360"/>
            <a:ext cx="2788920" cy="457200"/>
          </a:xfrm>
          <a:prstGeom prst="rect">
            <a:avLst/>
          </a:prstGeom>
          <a:noFill/>
          <a:ln/>
        </p:spPr>
        <p:txBody>
          <a:bodyPr wrap="square" lIns="0" tIns="0" rIns="0" bIns="0" rtlCol="0" anchor="ctr"/>
          <a:lstStyle/>
          <a:p>
            <a:pPr algn="ctr" indent="0" marL="0">
              <a:buNone/>
            </a:pPr>
            <a:r>
              <a:rPr lang="en-US" sz="2000" b="1" dirty="0">
                <a:solidFill>
                  <a:schemeClr val="tx1"/>
                </a:solidFill>
              </a:rPr>
              <a:t>You, in plain English</a:t>
            </a:r>
            <a:endParaRPr lang="en-US" sz="2000" dirty="0"/>
          </a:p>
        </p:txBody>
      </p:sp>
      <p:sp>
        <p:nvSpPr>
          <p:cNvPr id="18" name="Text 12"/>
          <p:cNvSpPr txBox="1"/>
          <p:nvPr/>
        </p:nvSpPr>
        <p:spPr>
          <a:xfrm>
            <a:off x="8686800" y="3383280"/>
            <a:ext cx="2788920" cy="640080"/>
          </a:xfrm>
          <a:prstGeom prst="rect">
            <a:avLst/>
          </a:prstGeom>
          <a:noFill/>
          <a:ln/>
        </p:spPr>
        <p:txBody>
          <a:bodyPr wrap="square" lIns="0" tIns="0" rIns="0" bIns="0" rtlCol="0" anchor="t"/>
          <a:lstStyle/>
          <a:p>
            <a:pPr algn="ctr" indent="0" marL="0">
              <a:buNone/>
            </a:pPr>
            <a:r>
              <a:rPr lang="en-US" sz="1500" dirty="0">
                <a:solidFill>
                  <a:schemeClr val="accent6"/>
                </a:solidFill>
              </a:rPr>
              <a:t>live dashboard + Slack / Discord / Telegram</a:t>
            </a:r>
            <a:endParaRPr lang="en-US" sz="1500" dirty="0"/>
          </a:p>
        </p:txBody>
      </p:sp>
      <p:sp>
        <p:nvSpPr>
          <p:cNvPr id="19" name="arrow"/>
          <p:cNvSpPr/>
          <p:nvPr/>
        </p:nvSpPr>
        <p:spPr>
          <a:xfrm>
            <a:off x="3749040" y="2834640"/>
            <a:ext cx="731520" cy="0"/>
          </a:xfrm>
          <a:prstGeom prst="line">
            <a:avLst/>
          </a:prstGeom>
          <a:noFill/>
          <a:ln w="31750">
            <a:solidFill>
              <a:schemeClr val="accent5"/>
            </a:solidFill>
            <a:prstDash val="solid"/>
            <a:tailEnd type="triangle"/>
          </a:ln>
        </p:spPr>
      </p:sp>
      <p:sp>
        <p:nvSpPr>
          <p:cNvPr id="20" name="arrow"/>
          <p:cNvSpPr/>
          <p:nvPr/>
        </p:nvSpPr>
        <p:spPr>
          <a:xfrm>
            <a:off x="7726680" y="2834640"/>
            <a:ext cx="731520" cy="0"/>
          </a:xfrm>
          <a:prstGeom prst="line">
            <a:avLst/>
          </a:prstGeom>
          <a:noFill/>
          <a:ln w="31750">
            <a:solidFill>
              <a:schemeClr val="accent5"/>
            </a:solidFill>
            <a:prstDash val="solid"/>
            <a:tailEnd type="triangle"/>
          </a:ln>
        </p:spPr>
      </p:sp>
      <p:sp>
        <p:nvSpPr>
          <p:cNvPr id="21" name="Text 15"/>
          <p:cNvSpPr txBox="1"/>
          <p:nvPr/>
        </p:nvSpPr>
        <p:spPr>
          <a:xfrm>
            <a:off x="548640" y="45262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Passive</a:t>
            </a:r>
            <a:endParaRPr lang="en-US" sz="2000" dirty="0"/>
          </a:p>
        </p:txBody>
      </p:sp>
      <p:sp>
        <p:nvSpPr>
          <p:cNvPr id="22" name="Text 16"/>
          <p:cNvSpPr txBox="1"/>
          <p:nvPr/>
        </p:nvSpPr>
        <p:spPr>
          <a:xfrm>
            <a:off x="548640" y="4983480"/>
            <a:ext cx="3474720" cy="914400"/>
          </a:xfrm>
          <a:prstGeom prst="rect">
            <a:avLst/>
          </a:prstGeom>
          <a:noFill/>
          <a:ln/>
        </p:spPr>
        <p:txBody>
          <a:bodyPr wrap="square" lIns="0" tIns="0" rIns="0" bIns="0" rtlCol="0" anchor="t"/>
          <a:lstStyle/>
          <a:p>
            <a:pPr indent="0" marL="0">
              <a:buNone/>
            </a:pPr>
            <a:r>
              <a:rPr lang="en-US" sz="1600" dirty="0">
                <a:solidFill>
                  <a:schemeClr val="tx1"/>
                </a:solidFill>
              </a:rPr>
              <a:t>observes only, never blocks</a:t>
            </a:r>
            <a:endParaRPr lang="en-US" sz="1600" dirty="0"/>
          </a:p>
        </p:txBody>
      </p:sp>
      <p:sp>
        <p:nvSpPr>
          <p:cNvPr id="23" name="Text 17"/>
          <p:cNvSpPr txBox="1"/>
          <p:nvPr/>
        </p:nvSpPr>
        <p:spPr>
          <a:xfrm>
            <a:off x="4297680" y="45262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Local-first</a:t>
            </a:r>
            <a:endParaRPr lang="en-US" sz="2000" dirty="0"/>
          </a:p>
        </p:txBody>
      </p:sp>
      <p:sp>
        <p:nvSpPr>
          <p:cNvPr id="24" name="Text 18"/>
          <p:cNvSpPr txBox="1"/>
          <p:nvPr/>
        </p:nvSpPr>
        <p:spPr>
          <a:xfrm>
            <a:off x="4297680" y="4983480"/>
            <a:ext cx="3474720" cy="914400"/>
          </a:xfrm>
          <a:prstGeom prst="rect">
            <a:avLst/>
          </a:prstGeom>
          <a:noFill/>
          <a:ln/>
        </p:spPr>
        <p:txBody>
          <a:bodyPr wrap="square" lIns="0" tIns="0" rIns="0" bIns="0" rtlCol="0" anchor="t"/>
          <a:lstStyle/>
          <a:p>
            <a:pPr indent="0" marL="0">
              <a:buNone/>
            </a:pPr>
            <a:r>
              <a:rPr lang="en-US" sz="1600" dirty="0">
                <a:solidFill>
                  <a:schemeClr val="tx1"/>
                </a:solidFill>
              </a:rPr>
              <a:t>only alert summaries you choose leave the network</a:t>
            </a:r>
            <a:endParaRPr lang="en-US" sz="1600" dirty="0"/>
          </a:p>
        </p:txBody>
      </p:sp>
      <p:sp>
        <p:nvSpPr>
          <p:cNvPr id="25" name="Text 19"/>
          <p:cNvSpPr txBox="1"/>
          <p:nvPr/>
        </p:nvSpPr>
        <p:spPr>
          <a:xfrm>
            <a:off x="8046720" y="4526280"/>
            <a:ext cx="3474720" cy="411480"/>
          </a:xfrm>
          <a:prstGeom prst="rect">
            <a:avLst/>
          </a:prstGeom>
          <a:noFill/>
          <a:ln/>
        </p:spPr>
        <p:txBody>
          <a:bodyPr wrap="square" lIns="0" tIns="0" rIns="0" bIns="0" rtlCol="0" anchor="ctr"/>
          <a:lstStyle/>
          <a:p>
            <a:pPr indent="0" marL="0">
              <a:buNone/>
            </a:pPr>
            <a:r>
              <a:rPr lang="en-US" sz="2000" b="1" dirty="0">
                <a:solidFill>
                  <a:schemeClr val="accent1"/>
                </a:solidFill>
              </a:rPr>
              <a:t>Plain English</a:t>
            </a:r>
            <a:endParaRPr lang="en-US" sz="2000" dirty="0"/>
          </a:p>
        </p:txBody>
      </p:sp>
      <p:sp>
        <p:nvSpPr>
          <p:cNvPr id="26" name="Text 20"/>
          <p:cNvSpPr txBox="1"/>
          <p:nvPr/>
        </p:nvSpPr>
        <p:spPr>
          <a:xfrm>
            <a:off x="8046720" y="4983480"/>
            <a:ext cx="3474720" cy="914400"/>
          </a:xfrm>
          <a:prstGeom prst="rect">
            <a:avLst/>
          </a:prstGeom>
          <a:noFill/>
          <a:ln/>
        </p:spPr>
        <p:txBody>
          <a:bodyPr wrap="square" lIns="0" tIns="0" rIns="0" bIns="0" rtlCol="0" anchor="t"/>
          <a:lstStyle/>
          <a:p>
            <a:pPr indent="0" marL="0">
              <a:buNone/>
            </a:pPr>
            <a:r>
              <a:rPr lang="en-US" sz="1600" dirty="0">
                <a:solidFill>
                  <a:schemeClr val="tx1"/>
                </a:solidFill>
              </a:rPr>
              <a:t>“192.168.2.30 tried 400 ports in 10 seconds”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Built for networks without a SOC</a:t>
            </a:r>
            <a:endParaRPr lang="en-US" sz="3400" dirty="0"/>
          </a:p>
        </p:txBody>
      </p:sp>
      <p:sp>
        <p:nvSpPr>
          <p:cNvPr id="4" name="card"/>
          <p:cNvSpPr/>
          <p:nvPr/>
        </p:nvSpPr>
        <p:spPr>
          <a:xfrm>
            <a:off x="548640" y="1463040"/>
            <a:ext cx="3474720" cy="3566160"/>
          </a:xfrm>
          <a:prstGeom prst="roundRect">
            <a:avLst>
              <a:gd name="adj" fmla="val 2105"/>
            </a:avLst>
          </a:prstGeom>
          <a:solidFill>
            <a:schemeClr val="bg2"/>
          </a:solidFill>
          <a:ln/>
        </p:spPr>
      </p:sp>
      <p:sp>
        <p:nvSpPr>
          <p:cNvPr id="5" name="icon-bg"/>
          <p:cNvSpPr/>
          <p:nvPr/>
        </p:nvSpPr>
        <p:spPr>
          <a:xfrm>
            <a:off x="868680" y="1783080"/>
            <a:ext cx="868680" cy="868680"/>
          </a:xfrm>
          <a:prstGeom prst="ellipse">
            <a:avLst/>
          </a:prstGeom>
          <a:solidFill>
            <a:schemeClr val="accent4"/>
          </a:solidFill>
          <a:ln/>
        </p:spPr>
      </p:sp>
      <p:pic>
        <p:nvPicPr>
          <p:cNvPr id="6" name="Image 0" descr="icon">    </p:cNvPr>
          <p:cNvPicPr>
            <a:picLocks noChangeAspect="1"/>
          </p:cNvPicPr>
          <p:nvPr/>
        </p:nvPicPr>
        <p:blipFill>
          <a:blip r:embed="rId1"/>
          <a:stretch>
            <a:fillRect/>
          </a:stretch>
        </p:blipFill>
        <p:spPr>
          <a:xfrm>
            <a:off x="1085850" y="2000250"/>
            <a:ext cx="434340" cy="434340"/>
          </a:xfrm>
          <a:prstGeom prst="rect">
            <a:avLst/>
          </a:prstGeom>
        </p:spPr>
      </p:pic>
      <p:sp>
        <p:nvSpPr>
          <p:cNvPr id="7" name="Text 3"/>
          <p:cNvSpPr txBox="1"/>
          <p:nvPr/>
        </p:nvSpPr>
        <p:spPr>
          <a:xfrm>
            <a:off x="868680" y="2834640"/>
            <a:ext cx="2926080" cy="731520"/>
          </a:xfrm>
          <a:prstGeom prst="rect">
            <a:avLst/>
          </a:prstGeom>
          <a:noFill/>
          <a:ln/>
        </p:spPr>
        <p:txBody>
          <a:bodyPr wrap="square" lIns="0" tIns="0" rIns="0" bIns="0" rtlCol="0" anchor="t"/>
          <a:lstStyle/>
          <a:p>
            <a:pPr indent="0" marL="0">
              <a:buNone/>
            </a:pPr>
            <a:r>
              <a:rPr lang="en-US" sz="2100" b="1" dirty="0">
                <a:solidFill>
                  <a:schemeClr val="tx1"/>
                </a:solidFill>
              </a:rPr>
              <a:t>Small teams &amp; offices</a:t>
            </a:r>
            <a:endParaRPr lang="en-US" sz="2100" dirty="0"/>
          </a:p>
        </p:txBody>
      </p:sp>
      <p:sp>
        <p:nvSpPr>
          <p:cNvPr id="8" name="Text 4"/>
          <p:cNvSpPr txBox="1"/>
          <p:nvPr/>
        </p:nvSpPr>
        <p:spPr>
          <a:xfrm>
            <a:off x="868680" y="3611880"/>
            <a:ext cx="2926080" cy="1325880"/>
          </a:xfrm>
          <a:prstGeom prst="rect">
            <a:avLst/>
          </a:prstGeom>
          <a:noFill/>
          <a:ln/>
        </p:spPr>
        <p:txBody>
          <a:bodyPr wrap="square" lIns="0" tIns="0" rIns="0" bIns="0" rtlCol="0" anchor="t"/>
          <a:lstStyle/>
          <a:p>
            <a:pPr indent="0" marL="0">
              <a:buNone/>
            </a:pPr>
            <a:r>
              <a:rPr lang="en-US" sz="1500" dirty="0">
                <a:solidFill>
                  <a:schemeClr val="accent6"/>
                </a:solidFill>
              </a:rPr>
              <a:t>10 to 100 devices, one person who 'does IT'. Wants to know when something is wrong, without a dashboard farm.</a:t>
            </a:r>
            <a:endParaRPr lang="en-US" sz="1500" dirty="0"/>
          </a:p>
        </p:txBody>
      </p:sp>
      <p:sp>
        <p:nvSpPr>
          <p:cNvPr id="9" name="card"/>
          <p:cNvSpPr/>
          <p:nvPr/>
        </p:nvSpPr>
        <p:spPr>
          <a:xfrm>
            <a:off x="4297680" y="1463040"/>
            <a:ext cx="3474720" cy="3566160"/>
          </a:xfrm>
          <a:prstGeom prst="roundRect">
            <a:avLst>
              <a:gd name="adj" fmla="val 2105"/>
            </a:avLst>
          </a:prstGeom>
          <a:solidFill>
            <a:schemeClr val="bg2"/>
          </a:solidFill>
          <a:ln/>
        </p:spPr>
      </p:sp>
      <p:sp>
        <p:nvSpPr>
          <p:cNvPr id="10" name="icon-bg"/>
          <p:cNvSpPr/>
          <p:nvPr/>
        </p:nvSpPr>
        <p:spPr>
          <a:xfrm>
            <a:off x="4617720" y="1783080"/>
            <a:ext cx="868680" cy="868680"/>
          </a:xfrm>
          <a:prstGeom prst="ellipse">
            <a:avLst/>
          </a:prstGeom>
          <a:solidFill>
            <a:schemeClr val="accent3"/>
          </a:solidFill>
          <a:ln/>
        </p:spPr>
      </p:sp>
      <p:pic>
        <p:nvPicPr>
          <p:cNvPr id="11" name="Image 1" descr="icon">    </p:cNvPr>
          <p:cNvPicPr>
            <a:picLocks noChangeAspect="1"/>
          </p:cNvPicPr>
          <p:nvPr/>
        </p:nvPicPr>
        <p:blipFill>
          <a:blip r:embed="rId2"/>
          <a:stretch>
            <a:fillRect/>
          </a:stretch>
        </p:blipFill>
        <p:spPr>
          <a:xfrm>
            <a:off x="4834890" y="2000250"/>
            <a:ext cx="434340" cy="434340"/>
          </a:xfrm>
          <a:prstGeom prst="rect">
            <a:avLst/>
          </a:prstGeom>
        </p:spPr>
      </p:pic>
      <p:sp>
        <p:nvSpPr>
          <p:cNvPr id="12" name="Text 7"/>
          <p:cNvSpPr txBox="1"/>
          <p:nvPr/>
        </p:nvSpPr>
        <p:spPr>
          <a:xfrm>
            <a:off x="4617720" y="2834640"/>
            <a:ext cx="2926080" cy="731520"/>
          </a:xfrm>
          <a:prstGeom prst="rect">
            <a:avLst/>
          </a:prstGeom>
          <a:noFill/>
          <a:ln/>
        </p:spPr>
        <p:txBody>
          <a:bodyPr wrap="square" lIns="0" tIns="0" rIns="0" bIns="0" rtlCol="0" anchor="t"/>
          <a:lstStyle/>
          <a:p>
            <a:pPr indent="0" marL="0">
              <a:buNone/>
            </a:pPr>
            <a:r>
              <a:rPr lang="en-US" sz="2100" b="1" dirty="0">
                <a:solidFill>
                  <a:schemeClr val="tx1"/>
                </a:solidFill>
              </a:rPr>
              <a:t>College labs &amp; classrooms</a:t>
            </a:r>
            <a:endParaRPr lang="en-US" sz="2100" dirty="0"/>
          </a:p>
        </p:txBody>
      </p:sp>
      <p:sp>
        <p:nvSpPr>
          <p:cNvPr id="13" name="Text 8"/>
          <p:cNvSpPr txBox="1"/>
          <p:nvPr/>
        </p:nvSpPr>
        <p:spPr>
          <a:xfrm>
            <a:off x="4617720" y="3611880"/>
            <a:ext cx="2926080" cy="1325880"/>
          </a:xfrm>
          <a:prstGeom prst="rect">
            <a:avLst/>
          </a:prstGeom>
          <a:noFill/>
          <a:ln/>
        </p:spPr>
        <p:txBody>
          <a:bodyPr wrap="square" lIns="0" tIns="0" rIns="0" bIns="0" rtlCol="0" anchor="t"/>
          <a:lstStyle/>
          <a:p>
            <a:pPr indent="0" marL="0">
              <a:buNone/>
            </a:pPr>
            <a:r>
              <a:rPr lang="en-US" sz="1500" dirty="0">
                <a:solidFill>
                  <a:schemeClr val="accent6"/>
                </a:solidFill>
              </a:rPr>
              <a:t>Shared machines, curious students, exam weeks. Wants scans and brute force flagged the moment they start.</a:t>
            </a:r>
            <a:endParaRPr lang="en-US" sz="1500" dirty="0"/>
          </a:p>
        </p:txBody>
      </p:sp>
      <p:sp>
        <p:nvSpPr>
          <p:cNvPr id="14" name="card"/>
          <p:cNvSpPr/>
          <p:nvPr/>
        </p:nvSpPr>
        <p:spPr>
          <a:xfrm>
            <a:off x="8046720" y="1463040"/>
            <a:ext cx="3474720" cy="3566160"/>
          </a:xfrm>
          <a:prstGeom prst="roundRect">
            <a:avLst>
              <a:gd name="adj" fmla="val 2105"/>
            </a:avLst>
          </a:prstGeom>
          <a:solidFill>
            <a:schemeClr val="bg2"/>
          </a:solidFill>
          <a:ln/>
        </p:spPr>
      </p:sp>
      <p:sp>
        <p:nvSpPr>
          <p:cNvPr id="15" name="icon-bg"/>
          <p:cNvSpPr/>
          <p:nvPr/>
        </p:nvSpPr>
        <p:spPr>
          <a:xfrm>
            <a:off x="8366760" y="1783080"/>
            <a:ext cx="868680" cy="868680"/>
          </a:xfrm>
          <a:prstGeom prst="ellipse">
            <a:avLst/>
          </a:prstGeom>
          <a:solidFill>
            <a:schemeClr val="accent2"/>
          </a:solidFill>
          <a:ln/>
        </p:spPr>
      </p:sp>
      <p:pic>
        <p:nvPicPr>
          <p:cNvPr id="16" name="Image 2" descr="icon">    </p:cNvPr>
          <p:cNvPicPr>
            <a:picLocks noChangeAspect="1"/>
          </p:cNvPicPr>
          <p:nvPr/>
        </p:nvPicPr>
        <p:blipFill>
          <a:blip r:embed="rId3"/>
          <a:stretch>
            <a:fillRect/>
          </a:stretch>
        </p:blipFill>
        <p:spPr>
          <a:xfrm>
            <a:off x="8583930" y="2000250"/>
            <a:ext cx="434340" cy="434340"/>
          </a:xfrm>
          <a:prstGeom prst="rect">
            <a:avLst/>
          </a:prstGeom>
        </p:spPr>
      </p:pic>
      <p:sp>
        <p:nvSpPr>
          <p:cNvPr id="17" name="Text 11"/>
          <p:cNvSpPr txBox="1"/>
          <p:nvPr/>
        </p:nvSpPr>
        <p:spPr>
          <a:xfrm>
            <a:off x="8366760" y="2834640"/>
            <a:ext cx="2926080" cy="731520"/>
          </a:xfrm>
          <a:prstGeom prst="rect">
            <a:avLst/>
          </a:prstGeom>
          <a:noFill/>
          <a:ln/>
        </p:spPr>
        <p:txBody>
          <a:bodyPr wrap="square" lIns="0" tIns="0" rIns="0" bIns="0" rtlCol="0" anchor="t"/>
          <a:lstStyle/>
          <a:p>
            <a:pPr indent="0" marL="0">
              <a:buNone/>
            </a:pPr>
            <a:r>
              <a:rPr lang="en-US" sz="2100" b="1" dirty="0">
                <a:solidFill>
                  <a:schemeClr val="tx1"/>
                </a:solidFill>
              </a:rPr>
              <a:t>Home labs &amp; power users</a:t>
            </a:r>
            <a:endParaRPr lang="en-US" sz="2100" dirty="0"/>
          </a:p>
        </p:txBody>
      </p:sp>
      <p:sp>
        <p:nvSpPr>
          <p:cNvPr id="18" name="Text 12"/>
          <p:cNvSpPr txBox="1"/>
          <p:nvPr/>
        </p:nvSpPr>
        <p:spPr>
          <a:xfrm>
            <a:off x="8366760" y="3611880"/>
            <a:ext cx="2926080" cy="1325880"/>
          </a:xfrm>
          <a:prstGeom prst="rect">
            <a:avLst/>
          </a:prstGeom>
          <a:noFill/>
          <a:ln/>
        </p:spPr>
        <p:txBody>
          <a:bodyPr wrap="square" lIns="0" tIns="0" rIns="0" bIns="0" rtlCol="0" anchor="t"/>
          <a:lstStyle/>
          <a:p>
            <a:pPr indent="0" marL="0">
              <a:buNone/>
            </a:pPr>
            <a:r>
              <a:rPr lang="en-US" sz="1500" dirty="0">
                <a:solidFill>
                  <a:schemeClr val="accent6"/>
                </a:solidFill>
              </a:rPr>
              <a:t>A gateway Mac, a pile of IoT gadgets. Wants a quiet watchdog that speaks plainly.</a:t>
            </a:r>
            <a:endParaRPr lang="en-US" sz="1500" dirty="0"/>
          </a:p>
        </p:txBody>
      </p:sp>
      <p:sp>
        <p:nvSpPr>
          <p:cNvPr id="19" name="Text 13"/>
          <p:cNvSpPr txBox="1"/>
          <p:nvPr/>
        </p:nvSpPr>
        <p:spPr>
          <a:xfrm>
            <a:off x="548640" y="5440680"/>
            <a:ext cx="1097280" cy="411480"/>
          </a:xfrm>
          <a:prstGeom prst="rect">
            <a:avLst/>
          </a:prstGeom>
          <a:noFill/>
          <a:ln/>
        </p:spPr>
        <p:txBody>
          <a:bodyPr wrap="square" lIns="0" tIns="0" rIns="0" bIns="0" rtlCol="0" anchor="ctr"/>
          <a:lstStyle/>
          <a:p>
            <a:pPr indent="0" marL="0">
              <a:buNone/>
            </a:pPr>
            <a:r>
              <a:rPr lang="en-US" sz="1700" b="1" dirty="0">
                <a:solidFill>
                  <a:schemeClr val="accent1"/>
                </a:solidFill>
              </a:rPr>
              <a:t>Not for:</a:t>
            </a:r>
            <a:endParaRPr lang="en-US" sz="1700" dirty="0"/>
          </a:p>
        </p:txBody>
      </p:sp>
      <p:sp>
        <p:nvSpPr>
          <p:cNvPr id="20" name="Text 14"/>
          <p:cNvSpPr txBox="1"/>
          <p:nvPr/>
        </p:nvSpPr>
        <p:spPr>
          <a:xfrm>
            <a:off x="1600200" y="5440680"/>
            <a:ext cx="9966960" cy="411480"/>
          </a:xfrm>
          <a:prstGeom prst="rect">
            <a:avLst/>
          </a:prstGeom>
          <a:noFill/>
          <a:ln/>
        </p:spPr>
        <p:txBody>
          <a:bodyPr wrap="square" lIns="0" tIns="0" rIns="0" bIns="0" rtlCol="0" anchor="ctr"/>
          <a:lstStyle/>
          <a:p>
            <a:pPr indent="0" marL="0">
              <a:buNone/>
            </a:pPr>
            <a:r>
              <a:rPr lang="en-US" sz="1700" dirty="0">
                <a:solidFill>
                  <a:schemeClr val="tx1"/>
                </a:solidFill>
              </a:rPr>
              <a:t>enterprise-scale monitoring, or active blocking (it observes and advises, it is not an IPS).</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Thousands of packets, one story</a:t>
            </a:r>
            <a:endParaRPr lang="en-US" sz="3400" dirty="0"/>
          </a:p>
        </p:txBody>
      </p:sp>
      <p:graphicFrame>
        <p:nvGraphicFramePr>
          <p:cNvPr id="4" name="Chart 0" descr=""/>
          <p:cNvGraphicFramePr/>
          <p:nvPr/>
        </p:nvGraphicFramePr>
        <p:xfrm>
          <a:off x="548640" y="137160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6949440" y="1463040"/>
            <a:ext cx="4663440" cy="4572000"/>
          </a:xfrm>
          <a:prstGeom prst="roundRect">
            <a:avLst>
              <a:gd name="adj" fmla="val 1600"/>
            </a:avLst>
          </a:prstGeom>
          <a:solidFill>
            <a:schemeClr val="bg2"/>
          </a:solidFill>
          <a:ln/>
        </p:spPr>
      </p:sp>
      <p:sp>
        <p:nvSpPr>
          <p:cNvPr id="6" name="Text 2"/>
          <p:cNvSpPr txBox="1"/>
          <p:nvPr/>
        </p:nvSpPr>
        <p:spPr>
          <a:xfrm>
            <a:off x="7269480" y="1691640"/>
            <a:ext cx="4023360" cy="457200"/>
          </a:xfrm>
          <a:prstGeom prst="rect">
            <a:avLst/>
          </a:prstGeom>
          <a:noFill/>
          <a:ln/>
        </p:spPr>
        <p:txBody>
          <a:bodyPr wrap="square" lIns="0" tIns="0" rIns="0" bIns="0" rtlCol="0" anchor="ctr"/>
          <a:lstStyle/>
          <a:p>
            <a:pPr indent="0" marL="0">
              <a:buNone/>
            </a:pPr>
            <a:r>
              <a:rPr lang="en-US" sz="2000" b="1" dirty="0">
                <a:solidFill>
                  <a:schemeClr val="tx1"/>
                </a:solidFill>
              </a:rPr>
              <a:t>What the admin sees</a:t>
            </a:r>
            <a:endParaRPr lang="en-US" sz="2000" dirty="0"/>
          </a:p>
        </p:txBody>
      </p:sp>
      <p:sp>
        <p:nvSpPr>
          <p:cNvPr id="7" name="chip"/>
          <p:cNvSpPr/>
          <p:nvPr/>
        </p:nvSpPr>
        <p:spPr>
          <a:xfrm>
            <a:off x="7269480" y="2331720"/>
            <a:ext cx="1325880" cy="457200"/>
          </a:xfrm>
          <a:prstGeom prst="roundRect">
            <a:avLst>
              <a:gd name="adj" fmla="val 50000"/>
            </a:avLst>
          </a:prstGeom>
          <a:solidFill>
            <a:schemeClr val="accent1"/>
          </a:solidFill>
          <a:ln/>
        </p:spPr>
      </p:sp>
      <p:sp>
        <p:nvSpPr>
          <p:cNvPr id="8" name="Text 4"/>
          <p:cNvSpPr txBox="1"/>
          <p:nvPr/>
        </p:nvSpPr>
        <p:spPr>
          <a:xfrm>
            <a:off x="7269480" y="233172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T1046</a:t>
            </a:r>
            <a:endParaRPr lang="en-US" sz="1300" dirty="0"/>
          </a:p>
        </p:txBody>
      </p:sp>
      <p:sp>
        <p:nvSpPr>
          <p:cNvPr id="9" name="Text 5"/>
          <p:cNvSpPr txBox="1"/>
          <p:nvPr/>
        </p:nvSpPr>
        <p:spPr>
          <a:xfrm>
            <a:off x="8778240" y="233172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Port scan</a:t>
            </a:r>
            <a:endParaRPr lang="en-US" sz="1800" dirty="0"/>
          </a:p>
        </p:txBody>
      </p:sp>
      <p:sp>
        <p:nvSpPr>
          <p:cNvPr id="10" name="arrow"/>
          <p:cNvSpPr/>
          <p:nvPr/>
        </p:nvSpPr>
        <p:spPr>
          <a:xfrm>
            <a:off x="7932420" y="2807208"/>
            <a:ext cx="0" cy="365760"/>
          </a:xfrm>
          <a:prstGeom prst="line">
            <a:avLst/>
          </a:prstGeom>
          <a:noFill/>
          <a:ln w="31750">
            <a:solidFill>
              <a:schemeClr val="accent5"/>
            </a:solidFill>
            <a:prstDash val="solid"/>
            <a:tailEnd type="triangle"/>
          </a:ln>
        </p:spPr>
      </p:sp>
      <p:sp>
        <p:nvSpPr>
          <p:cNvPr id="11" name="chip"/>
          <p:cNvSpPr/>
          <p:nvPr/>
        </p:nvSpPr>
        <p:spPr>
          <a:xfrm>
            <a:off x="7269480" y="3200400"/>
            <a:ext cx="1325880" cy="457200"/>
          </a:xfrm>
          <a:prstGeom prst="roundRect">
            <a:avLst>
              <a:gd name="adj" fmla="val 50000"/>
            </a:avLst>
          </a:prstGeom>
          <a:solidFill>
            <a:schemeClr val="accent1"/>
          </a:solidFill>
          <a:ln/>
        </p:spPr>
      </p:sp>
      <p:sp>
        <p:nvSpPr>
          <p:cNvPr id="12" name="Text 8"/>
          <p:cNvSpPr txBox="1"/>
          <p:nvPr/>
        </p:nvSpPr>
        <p:spPr>
          <a:xfrm>
            <a:off x="7269480" y="320040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T1110</a:t>
            </a:r>
            <a:endParaRPr lang="en-US" sz="1300" dirty="0"/>
          </a:p>
        </p:txBody>
      </p:sp>
      <p:sp>
        <p:nvSpPr>
          <p:cNvPr id="13" name="Text 9"/>
          <p:cNvSpPr txBox="1"/>
          <p:nvPr/>
        </p:nvSpPr>
        <p:spPr>
          <a:xfrm>
            <a:off x="8778240" y="320040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Repeated logins</a:t>
            </a:r>
            <a:endParaRPr lang="en-US" sz="1800" dirty="0"/>
          </a:p>
        </p:txBody>
      </p:sp>
      <p:sp>
        <p:nvSpPr>
          <p:cNvPr id="14" name="arrow"/>
          <p:cNvSpPr/>
          <p:nvPr/>
        </p:nvSpPr>
        <p:spPr>
          <a:xfrm>
            <a:off x="7932420" y="3675888"/>
            <a:ext cx="0" cy="365760"/>
          </a:xfrm>
          <a:prstGeom prst="line">
            <a:avLst/>
          </a:prstGeom>
          <a:noFill/>
          <a:ln w="31750">
            <a:solidFill>
              <a:schemeClr val="accent5"/>
            </a:solidFill>
            <a:prstDash val="solid"/>
            <a:tailEnd type="triangle"/>
          </a:ln>
        </p:spPr>
      </p:sp>
      <p:sp>
        <p:nvSpPr>
          <p:cNvPr id="15" name="chip"/>
          <p:cNvSpPr/>
          <p:nvPr/>
        </p:nvSpPr>
        <p:spPr>
          <a:xfrm>
            <a:off x="7269480" y="4069080"/>
            <a:ext cx="1325880" cy="457200"/>
          </a:xfrm>
          <a:prstGeom prst="roundRect">
            <a:avLst>
              <a:gd name="adj" fmla="val 50000"/>
            </a:avLst>
          </a:prstGeom>
          <a:solidFill>
            <a:schemeClr val="accent1"/>
          </a:solidFill>
          <a:ln/>
        </p:spPr>
      </p:sp>
      <p:sp>
        <p:nvSpPr>
          <p:cNvPr id="16" name="Text 12"/>
          <p:cNvSpPr txBox="1"/>
          <p:nvPr/>
        </p:nvSpPr>
        <p:spPr>
          <a:xfrm>
            <a:off x="7269480" y="406908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T1071.001</a:t>
            </a:r>
            <a:endParaRPr lang="en-US" sz="1300" dirty="0"/>
          </a:p>
        </p:txBody>
      </p:sp>
      <p:sp>
        <p:nvSpPr>
          <p:cNvPr id="17" name="Text 13"/>
          <p:cNvSpPr txBox="1"/>
          <p:nvPr/>
        </p:nvSpPr>
        <p:spPr>
          <a:xfrm>
            <a:off x="8778240" y="406908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Malware check-ins</a:t>
            </a:r>
            <a:endParaRPr lang="en-US" sz="1800" dirty="0"/>
          </a:p>
        </p:txBody>
      </p:sp>
      <p:sp>
        <p:nvSpPr>
          <p:cNvPr id="18" name="arrow"/>
          <p:cNvSpPr/>
          <p:nvPr/>
        </p:nvSpPr>
        <p:spPr>
          <a:xfrm>
            <a:off x="7932420" y="4544568"/>
            <a:ext cx="0" cy="365760"/>
          </a:xfrm>
          <a:prstGeom prst="line">
            <a:avLst/>
          </a:prstGeom>
          <a:noFill/>
          <a:ln w="31750">
            <a:solidFill>
              <a:schemeClr val="accent5"/>
            </a:solidFill>
            <a:prstDash val="solid"/>
            <a:tailEnd type="triangle"/>
          </a:ln>
        </p:spPr>
      </p:sp>
      <p:sp>
        <p:nvSpPr>
          <p:cNvPr id="19" name="chip"/>
          <p:cNvSpPr/>
          <p:nvPr/>
        </p:nvSpPr>
        <p:spPr>
          <a:xfrm>
            <a:off x="7269480" y="4937760"/>
            <a:ext cx="1325880" cy="457200"/>
          </a:xfrm>
          <a:prstGeom prst="roundRect">
            <a:avLst>
              <a:gd name="adj" fmla="val 50000"/>
            </a:avLst>
          </a:prstGeom>
          <a:solidFill>
            <a:schemeClr val="accent1"/>
          </a:solidFill>
          <a:ln/>
        </p:spPr>
      </p:sp>
      <p:sp>
        <p:nvSpPr>
          <p:cNvPr id="20" name="Text 16"/>
          <p:cNvSpPr txBox="1"/>
          <p:nvPr/>
        </p:nvSpPr>
        <p:spPr>
          <a:xfrm>
            <a:off x="7269480" y="4937760"/>
            <a:ext cx="1325880" cy="457200"/>
          </a:xfrm>
          <a:prstGeom prst="rect">
            <a:avLst/>
          </a:prstGeom>
          <a:noFill/>
          <a:ln/>
        </p:spPr>
        <p:txBody>
          <a:bodyPr wrap="square" lIns="0" tIns="0" rIns="0" bIns="0" rtlCol="0" anchor="ctr"/>
          <a:lstStyle/>
          <a:p>
            <a:pPr algn="ctr" indent="0" marL="0">
              <a:buNone/>
            </a:pPr>
            <a:r>
              <a:rPr lang="en-US" sz="1300" b="1" dirty="0">
                <a:solidFill>
                  <a:schemeClr val="bg1"/>
                </a:solidFill>
              </a:rPr>
              <a:t>T1071.004</a:t>
            </a:r>
            <a:endParaRPr lang="en-US" sz="1300" dirty="0"/>
          </a:p>
        </p:txBody>
      </p:sp>
      <p:sp>
        <p:nvSpPr>
          <p:cNvPr id="21" name="Text 17"/>
          <p:cNvSpPr txBox="1"/>
          <p:nvPr/>
        </p:nvSpPr>
        <p:spPr>
          <a:xfrm>
            <a:off x="8778240" y="4937760"/>
            <a:ext cx="2651760" cy="457200"/>
          </a:xfrm>
          <a:prstGeom prst="rect">
            <a:avLst/>
          </a:prstGeom>
          <a:noFill/>
          <a:ln/>
        </p:spPr>
        <p:txBody>
          <a:bodyPr wrap="square" lIns="0" tIns="0" rIns="0" bIns="0" rtlCol="0" anchor="ctr"/>
          <a:lstStyle/>
          <a:p>
            <a:pPr indent="0" marL="0">
              <a:buNone/>
            </a:pPr>
            <a:r>
              <a:rPr lang="en-US" sz="1800" b="1" dirty="0">
                <a:solidFill>
                  <a:schemeClr val="tx1"/>
                </a:solidFill>
              </a:rPr>
              <a:t>DNS tunnelling</a:t>
            </a:r>
            <a:endParaRPr lang="en-US" sz="1800" dirty="0"/>
          </a:p>
        </p:txBody>
      </p:sp>
      <p:sp>
        <p:nvSpPr>
          <p:cNvPr id="22" name="Text 18"/>
          <p:cNvSpPr txBox="1"/>
          <p:nvPr/>
        </p:nvSpPr>
        <p:spPr>
          <a:xfrm>
            <a:off x="7269480" y="5715000"/>
            <a:ext cx="4114800" cy="274320"/>
          </a:xfrm>
          <a:prstGeom prst="rect">
            <a:avLst/>
          </a:prstGeom>
          <a:noFill/>
          <a:ln/>
        </p:spPr>
        <p:txBody>
          <a:bodyPr wrap="square" lIns="0" tIns="0" rIns="0" bIns="0" rtlCol="0" anchor="ctr"/>
          <a:lstStyle/>
          <a:p>
            <a:pPr indent="0" marL="0">
              <a:buNone/>
            </a:pPr>
            <a:r>
              <a:rPr lang="en-US" sz="1300" dirty="0">
                <a:solidFill>
                  <a:schemeClr val="accent6"/>
                </a:solidFill>
              </a:rPr>
              <a:t>One device, one growing incident, four red alerts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From packets to a plain-English alert</a:t>
            </a:r>
            <a:endParaRPr lang="en-US" sz="3400" dirty="0"/>
          </a:p>
        </p:txBody>
      </p:sp>
      <p:sp>
        <p:nvSpPr>
          <p:cNvPr id="4" name="stage"/>
          <p:cNvSpPr/>
          <p:nvPr/>
        </p:nvSpPr>
        <p:spPr>
          <a:xfrm>
            <a:off x="548640" y="1920240"/>
            <a:ext cx="1417320" cy="1234440"/>
          </a:xfrm>
          <a:prstGeom prst="roundRect">
            <a:avLst>
              <a:gd name="adj" fmla="val 7407"/>
            </a:avLst>
          </a:prstGeom>
          <a:solidFill>
            <a:schemeClr val="accent3"/>
          </a:solidFill>
          <a:ln/>
        </p:spPr>
      </p:sp>
      <p:sp>
        <p:nvSpPr>
          <p:cNvPr id="5" name="Text 2"/>
          <p:cNvSpPr txBox="1"/>
          <p:nvPr/>
        </p:nvSpPr>
        <p:spPr>
          <a:xfrm>
            <a:off x="548640"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Capture</a:t>
            </a:r>
            <a:endParaRPr lang="en-US" sz="1900" dirty="0"/>
          </a:p>
        </p:txBody>
      </p:sp>
      <p:sp>
        <p:nvSpPr>
          <p:cNvPr id="6" name="Text 3"/>
          <p:cNvSpPr txBox="1"/>
          <p:nvPr/>
        </p:nvSpPr>
        <p:spPr>
          <a:xfrm>
            <a:off x="502920"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tcpdump or a pcap file</a:t>
            </a:r>
            <a:endParaRPr lang="en-US" sz="1300" dirty="0"/>
          </a:p>
        </p:txBody>
      </p:sp>
      <p:sp>
        <p:nvSpPr>
          <p:cNvPr id="7" name="arrow"/>
          <p:cNvSpPr/>
          <p:nvPr/>
        </p:nvSpPr>
        <p:spPr>
          <a:xfrm>
            <a:off x="1975104" y="2542032"/>
            <a:ext cx="173736" cy="0"/>
          </a:xfrm>
          <a:prstGeom prst="line">
            <a:avLst/>
          </a:prstGeom>
          <a:noFill/>
          <a:ln w="31750">
            <a:solidFill>
              <a:schemeClr val="accent5"/>
            </a:solidFill>
            <a:prstDash val="solid"/>
            <a:tailEnd type="triangle"/>
          </a:ln>
        </p:spPr>
      </p:sp>
      <p:sp>
        <p:nvSpPr>
          <p:cNvPr id="8" name="stage"/>
          <p:cNvSpPr/>
          <p:nvPr/>
        </p:nvSpPr>
        <p:spPr>
          <a:xfrm>
            <a:off x="2157984" y="1920240"/>
            <a:ext cx="1417320" cy="1234440"/>
          </a:xfrm>
          <a:prstGeom prst="roundRect">
            <a:avLst>
              <a:gd name="adj" fmla="val 7407"/>
            </a:avLst>
          </a:prstGeom>
          <a:solidFill>
            <a:schemeClr val="accent3"/>
          </a:solidFill>
          <a:ln/>
        </p:spPr>
      </p:sp>
      <p:sp>
        <p:nvSpPr>
          <p:cNvPr id="9" name="Text 6"/>
          <p:cNvSpPr txBox="1"/>
          <p:nvPr/>
        </p:nvSpPr>
        <p:spPr>
          <a:xfrm>
            <a:off x="2157984"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Parse</a:t>
            </a:r>
            <a:endParaRPr lang="en-US" sz="1900" dirty="0"/>
          </a:p>
        </p:txBody>
      </p:sp>
      <p:sp>
        <p:nvSpPr>
          <p:cNvPr id="10" name="Text 7"/>
          <p:cNvSpPr txBox="1"/>
          <p:nvPr/>
        </p:nvSpPr>
        <p:spPr>
          <a:xfrm>
            <a:off x="2112264"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flows, DNS names</a:t>
            </a:r>
            <a:endParaRPr lang="en-US" sz="1300" dirty="0"/>
          </a:p>
        </p:txBody>
      </p:sp>
      <p:sp>
        <p:nvSpPr>
          <p:cNvPr id="11" name="arrow"/>
          <p:cNvSpPr/>
          <p:nvPr/>
        </p:nvSpPr>
        <p:spPr>
          <a:xfrm>
            <a:off x="3584448" y="2542032"/>
            <a:ext cx="173736" cy="0"/>
          </a:xfrm>
          <a:prstGeom prst="line">
            <a:avLst/>
          </a:prstGeom>
          <a:noFill/>
          <a:ln w="31750">
            <a:solidFill>
              <a:schemeClr val="accent5"/>
            </a:solidFill>
            <a:prstDash val="solid"/>
            <a:tailEnd type="triangle"/>
          </a:ln>
        </p:spPr>
      </p:sp>
      <p:sp>
        <p:nvSpPr>
          <p:cNvPr id="12" name="stage"/>
          <p:cNvSpPr/>
          <p:nvPr/>
        </p:nvSpPr>
        <p:spPr>
          <a:xfrm>
            <a:off x="3767328" y="1920240"/>
            <a:ext cx="1417320" cy="1234440"/>
          </a:xfrm>
          <a:prstGeom prst="roundRect">
            <a:avLst>
              <a:gd name="adj" fmla="val 7407"/>
            </a:avLst>
          </a:prstGeom>
          <a:solidFill>
            <a:schemeClr val="accent3"/>
          </a:solidFill>
          <a:ln/>
        </p:spPr>
      </p:sp>
      <p:sp>
        <p:nvSpPr>
          <p:cNvPr id="13" name="Text 10"/>
          <p:cNvSpPr txBox="1"/>
          <p:nvPr/>
        </p:nvSpPr>
        <p:spPr>
          <a:xfrm>
            <a:off x="3767328"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Windows</a:t>
            </a:r>
            <a:endParaRPr lang="en-US" sz="1900" dirty="0"/>
          </a:p>
        </p:txBody>
      </p:sp>
      <p:sp>
        <p:nvSpPr>
          <p:cNvPr id="14" name="Text 11"/>
          <p:cNvSpPr txBox="1"/>
          <p:nvPr/>
        </p:nvSpPr>
        <p:spPr>
          <a:xfrm>
            <a:off x="3721608"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10 s · 5 min · 1 h</a:t>
            </a:r>
            <a:endParaRPr lang="en-US" sz="1300" dirty="0"/>
          </a:p>
        </p:txBody>
      </p:sp>
      <p:sp>
        <p:nvSpPr>
          <p:cNvPr id="15" name="arrow"/>
          <p:cNvSpPr/>
          <p:nvPr/>
        </p:nvSpPr>
        <p:spPr>
          <a:xfrm>
            <a:off x="5193792" y="2542032"/>
            <a:ext cx="173736" cy="0"/>
          </a:xfrm>
          <a:prstGeom prst="line">
            <a:avLst/>
          </a:prstGeom>
          <a:noFill/>
          <a:ln w="31750">
            <a:solidFill>
              <a:schemeClr val="accent5"/>
            </a:solidFill>
            <a:prstDash val="solid"/>
            <a:tailEnd type="triangle"/>
          </a:ln>
        </p:spPr>
      </p:sp>
      <p:sp>
        <p:nvSpPr>
          <p:cNvPr id="16" name="stage"/>
          <p:cNvSpPr/>
          <p:nvPr/>
        </p:nvSpPr>
        <p:spPr>
          <a:xfrm>
            <a:off x="5376672" y="1920240"/>
            <a:ext cx="1417320" cy="1234440"/>
          </a:xfrm>
          <a:prstGeom prst="roundRect">
            <a:avLst>
              <a:gd name="adj" fmla="val 7407"/>
            </a:avLst>
          </a:prstGeom>
          <a:solidFill>
            <a:schemeClr val="accent4"/>
          </a:solidFill>
          <a:ln/>
        </p:spPr>
      </p:sp>
      <p:sp>
        <p:nvSpPr>
          <p:cNvPr id="17" name="Text 14"/>
          <p:cNvSpPr txBox="1"/>
          <p:nvPr/>
        </p:nvSpPr>
        <p:spPr>
          <a:xfrm>
            <a:off x="5376672"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Detect</a:t>
            </a:r>
            <a:endParaRPr lang="en-US" sz="1900" dirty="0"/>
          </a:p>
        </p:txBody>
      </p:sp>
      <p:sp>
        <p:nvSpPr>
          <p:cNvPr id="18" name="Text 15"/>
          <p:cNvSpPr txBox="1"/>
          <p:nvPr/>
        </p:nvSpPr>
        <p:spPr>
          <a:xfrm>
            <a:off x="5330952"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rules, timing, ML</a:t>
            </a:r>
            <a:endParaRPr lang="en-US" sz="1300" dirty="0"/>
          </a:p>
        </p:txBody>
      </p:sp>
      <p:sp>
        <p:nvSpPr>
          <p:cNvPr id="19" name="arrow"/>
          <p:cNvSpPr/>
          <p:nvPr/>
        </p:nvSpPr>
        <p:spPr>
          <a:xfrm>
            <a:off x="6803136" y="2542032"/>
            <a:ext cx="173736" cy="0"/>
          </a:xfrm>
          <a:prstGeom prst="line">
            <a:avLst/>
          </a:prstGeom>
          <a:noFill/>
          <a:ln w="31750">
            <a:solidFill>
              <a:schemeClr val="accent5"/>
            </a:solidFill>
            <a:prstDash val="solid"/>
            <a:tailEnd type="triangle"/>
          </a:ln>
        </p:spPr>
      </p:sp>
      <p:sp>
        <p:nvSpPr>
          <p:cNvPr id="20" name="stage"/>
          <p:cNvSpPr/>
          <p:nvPr/>
        </p:nvSpPr>
        <p:spPr>
          <a:xfrm>
            <a:off x="6986016" y="1920240"/>
            <a:ext cx="1417320" cy="1234440"/>
          </a:xfrm>
          <a:prstGeom prst="roundRect">
            <a:avLst>
              <a:gd name="adj" fmla="val 7407"/>
            </a:avLst>
          </a:prstGeom>
          <a:solidFill>
            <a:schemeClr val="accent3"/>
          </a:solidFill>
          <a:ln/>
        </p:spPr>
      </p:sp>
      <p:sp>
        <p:nvSpPr>
          <p:cNvPr id="21" name="Text 18"/>
          <p:cNvSpPr txBox="1"/>
          <p:nvPr/>
        </p:nvSpPr>
        <p:spPr>
          <a:xfrm>
            <a:off x="6986016"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Correlate</a:t>
            </a:r>
            <a:endParaRPr lang="en-US" sz="1900" dirty="0"/>
          </a:p>
        </p:txBody>
      </p:sp>
      <p:sp>
        <p:nvSpPr>
          <p:cNvPr id="22" name="Text 19"/>
          <p:cNvSpPr txBox="1"/>
          <p:nvPr/>
        </p:nvSpPr>
        <p:spPr>
          <a:xfrm>
            <a:off x="6940296"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incident + ATT&amp;CK</a:t>
            </a:r>
            <a:endParaRPr lang="en-US" sz="1300" dirty="0"/>
          </a:p>
        </p:txBody>
      </p:sp>
      <p:sp>
        <p:nvSpPr>
          <p:cNvPr id="23" name="arrow"/>
          <p:cNvSpPr/>
          <p:nvPr/>
        </p:nvSpPr>
        <p:spPr>
          <a:xfrm>
            <a:off x="8412480" y="2542032"/>
            <a:ext cx="173736" cy="0"/>
          </a:xfrm>
          <a:prstGeom prst="line">
            <a:avLst/>
          </a:prstGeom>
          <a:noFill/>
          <a:ln w="31750">
            <a:solidFill>
              <a:schemeClr val="accent5"/>
            </a:solidFill>
            <a:prstDash val="solid"/>
            <a:tailEnd type="triangle"/>
          </a:ln>
        </p:spPr>
      </p:sp>
      <p:sp>
        <p:nvSpPr>
          <p:cNvPr id="24" name="stage"/>
          <p:cNvSpPr/>
          <p:nvPr/>
        </p:nvSpPr>
        <p:spPr>
          <a:xfrm>
            <a:off x="8595360" y="1920240"/>
            <a:ext cx="1417320" cy="1234440"/>
          </a:xfrm>
          <a:prstGeom prst="roundRect">
            <a:avLst>
              <a:gd name="adj" fmla="val 7407"/>
            </a:avLst>
          </a:prstGeom>
          <a:solidFill>
            <a:schemeClr val="accent2"/>
          </a:solidFill>
          <a:ln/>
        </p:spPr>
      </p:sp>
      <p:sp>
        <p:nvSpPr>
          <p:cNvPr id="25" name="Text 22"/>
          <p:cNvSpPr txBox="1"/>
          <p:nvPr/>
        </p:nvSpPr>
        <p:spPr>
          <a:xfrm>
            <a:off x="8595360"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Explain</a:t>
            </a:r>
            <a:endParaRPr lang="en-US" sz="1900" dirty="0"/>
          </a:p>
        </p:txBody>
      </p:sp>
      <p:sp>
        <p:nvSpPr>
          <p:cNvPr id="26" name="Text 23"/>
          <p:cNvSpPr txBox="1"/>
          <p:nvPr/>
        </p:nvSpPr>
        <p:spPr>
          <a:xfrm>
            <a:off x="8549640"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LLM or template</a:t>
            </a:r>
            <a:endParaRPr lang="en-US" sz="1300" dirty="0"/>
          </a:p>
        </p:txBody>
      </p:sp>
      <p:sp>
        <p:nvSpPr>
          <p:cNvPr id="27" name="arrow"/>
          <p:cNvSpPr/>
          <p:nvPr/>
        </p:nvSpPr>
        <p:spPr>
          <a:xfrm>
            <a:off x="10021824" y="2542032"/>
            <a:ext cx="173736" cy="0"/>
          </a:xfrm>
          <a:prstGeom prst="line">
            <a:avLst/>
          </a:prstGeom>
          <a:noFill/>
          <a:ln w="31750">
            <a:solidFill>
              <a:schemeClr val="accent5"/>
            </a:solidFill>
            <a:prstDash val="solid"/>
            <a:tailEnd type="triangle"/>
          </a:ln>
        </p:spPr>
      </p:sp>
      <p:sp>
        <p:nvSpPr>
          <p:cNvPr id="28" name="stage"/>
          <p:cNvSpPr/>
          <p:nvPr/>
        </p:nvSpPr>
        <p:spPr>
          <a:xfrm>
            <a:off x="10204704" y="1920240"/>
            <a:ext cx="1417320" cy="1234440"/>
          </a:xfrm>
          <a:prstGeom prst="roundRect">
            <a:avLst>
              <a:gd name="adj" fmla="val 7407"/>
            </a:avLst>
          </a:prstGeom>
          <a:solidFill>
            <a:schemeClr val="accent1"/>
          </a:solidFill>
          <a:ln/>
        </p:spPr>
      </p:sp>
      <p:sp>
        <p:nvSpPr>
          <p:cNvPr id="29" name="Text 26"/>
          <p:cNvSpPr txBox="1"/>
          <p:nvPr/>
        </p:nvSpPr>
        <p:spPr>
          <a:xfrm>
            <a:off x="10204704" y="1920240"/>
            <a:ext cx="1417320" cy="1234440"/>
          </a:xfrm>
          <a:prstGeom prst="rect">
            <a:avLst/>
          </a:prstGeom>
          <a:noFill/>
          <a:ln/>
        </p:spPr>
        <p:txBody>
          <a:bodyPr wrap="square" lIns="0" tIns="0" rIns="0" bIns="0" rtlCol="0" anchor="ctr"/>
          <a:lstStyle/>
          <a:p>
            <a:pPr algn="ctr" indent="0" marL="0">
              <a:buNone/>
            </a:pPr>
            <a:r>
              <a:rPr lang="en-US" sz="1900" b="1" dirty="0">
                <a:solidFill>
                  <a:schemeClr val="bg1"/>
                </a:solidFill>
              </a:rPr>
              <a:t>Alert</a:t>
            </a:r>
            <a:endParaRPr lang="en-US" sz="1900" dirty="0"/>
          </a:p>
        </p:txBody>
      </p:sp>
      <p:sp>
        <p:nvSpPr>
          <p:cNvPr id="30" name="Text 27"/>
          <p:cNvSpPr txBox="1"/>
          <p:nvPr/>
        </p:nvSpPr>
        <p:spPr>
          <a:xfrm>
            <a:off x="10158984" y="3291840"/>
            <a:ext cx="1508760" cy="640080"/>
          </a:xfrm>
          <a:prstGeom prst="rect">
            <a:avLst/>
          </a:prstGeom>
          <a:noFill/>
          <a:ln/>
        </p:spPr>
        <p:txBody>
          <a:bodyPr wrap="square" lIns="0" tIns="0" rIns="0" bIns="0" rtlCol="0" anchor="t"/>
          <a:lstStyle/>
          <a:p>
            <a:pPr algn="ctr" indent="0" marL="0">
              <a:buNone/>
            </a:pPr>
            <a:r>
              <a:rPr lang="en-US" sz="1300" dirty="0">
                <a:solidFill>
                  <a:schemeClr val="accent6"/>
                </a:solidFill>
              </a:rPr>
              <a:t>CLI · chat</a:t>
            </a:r>
            <a:endParaRPr lang="en-US" sz="1300" dirty="0"/>
          </a:p>
        </p:txBody>
      </p:sp>
      <p:sp>
        <p:nvSpPr>
          <p:cNvPr id="31" name="legend-dot"/>
          <p:cNvSpPr/>
          <p:nvPr/>
        </p:nvSpPr>
        <p:spPr>
          <a:xfrm>
            <a:off x="548640" y="4407408"/>
            <a:ext cx="256032" cy="256032"/>
          </a:xfrm>
          <a:prstGeom prst="ellipse">
            <a:avLst/>
          </a:prstGeom>
          <a:solidFill>
            <a:schemeClr val="accent3"/>
          </a:solidFill>
          <a:ln/>
        </p:spPr>
      </p:sp>
      <p:sp>
        <p:nvSpPr>
          <p:cNvPr id="32" name="Text 29"/>
          <p:cNvSpPr txBox="1"/>
          <p:nvPr/>
        </p:nvSpPr>
        <p:spPr>
          <a:xfrm>
            <a:off x="91440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Deterministic</a:t>
            </a:r>
            <a:endParaRPr lang="en-US" sz="1600" dirty="0"/>
          </a:p>
        </p:txBody>
      </p:sp>
      <p:sp>
        <p:nvSpPr>
          <p:cNvPr id="33" name="legend-dot"/>
          <p:cNvSpPr/>
          <p:nvPr/>
        </p:nvSpPr>
        <p:spPr>
          <a:xfrm>
            <a:off x="3383280" y="4407408"/>
            <a:ext cx="256032" cy="256032"/>
          </a:xfrm>
          <a:prstGeom prst="ellipse">
            <a:avLst/>
          </a:prstGeom>
          <a:solidFill>
            <a:schemeClr val="accent4"/>
          </a:solidFill>
          <a:ln/>
        </p:spPr>
      </p:sp>
      <p:sp>
        <p:nvSpPr>
          <p:cNvPr id="34" name="Text 31"/>
          <p:cNvSpPr txBox="1"/>
          <p:nvPr/>
        </p:nvSpPr>
        <p:spPr>
          <a:xfrm>
            <a:off x="374904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ML detectors (roadmap)</a:t>
            </a:r>
            <a:endParaRPr lang="en-US" sz="1600" dirty="0"/>
          </a:p>
        </p:txBody>
      </p:sp>
      <p:sp>
        <p:nvSpPr>
          <p:cNvPr id="35" name="legend-dot"/>
          <p:cNvSpPr/>
          <p:nvPr/>
        </p:nvSpPr>
        <p:spPr>
          <a:xfrm>
            <a:off x="6217920" y="4407408"/>
            <a:ext cx="256032" cy="256032"/>
          </a:xfrm>
          <a:prstGeom prst="ellipse">
            <a:avLst/>
          </a:prstGeom>
          <a:solidFill>
            <a:schemeClr val="accent2"/>
          </a:solidFill>
          <a:ln/>
        </p:spPr>
      </p:sp>
      <p:sp>
        <p:nvSpPr>
          <p:cNvPr id="36" name="Text 33"/>
          <p:cNvSpPr txBox="1"/>
          <p:nvPr/>
        </p:nvSpPr>
        <p:spPr>
          <a:xfrm>
            <a:off x="658368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LLM wording only</a:t>
            </a:r>
            <a:endParaRPr lang="en-US" sz="1600" dirty="0"/>
          </a:p>
        </p:txBody>
      </p:sp>
      <p:sp>
        <p:nvSpPr>
          <p:cNvPr id="37" name="legend-dot"/>
          <p:cNvSpPr/>
          <p:nvPr/>
        </p:nvSpPr>
        <p:spPr>
          <a:xfrm>
            <a:off x="9052560" y="4407408"/>
            <a:ext cx="256032" cy="256032"/>
          </a:xfrm>
          <a:prstGeom prst="ellipse">
            <a:avLst/>
          </a:prstGeom>
          <a:solidFill>
            <a:schemeClr val="accent1"/>
          </a:solidFill>
          <a:ln/>
        </p:spPr>
      </p:sp>
      <p:sp>
        <p:nvSpPr>
          <p:cNvPr id="38" name="Text 35"/>
          <p:cNvSpPr txBox="1"/>
          <p:nvPr/>
        </p:nvSpPr>
        <p:spPr>
          <a:xfrm>
            <a:off x="9418320" y="4343400"/>
            <a:ext cx="2286000" cy="384048"/>
          </a:xfrm>
          <a:prstGeom prst="rect">
            <a:avLst/>
          </a:prstGeom>
          <a:noFill/>
          <a:ln/>
        </p:spPr>
        <p:txBody>
          <a:bodyPr wrap="square" lIns="0" tIns="0" rIns="0" bIns="0" rtlCol="0" anchor="ctr"/>
          <a:lstStyle/>
          <a:p>
            <a:pPr indent="0" marL="0">
              <a:buNone/>
            </a:pPr>
            <a:r>
              <a:rPr lang="en-US" sz="1600" dirty="0">
                <a:solidFill>
                  <a:schemeClr val="tx1"/>
                </a:solidFill>
              </a:rPr>
              <a:t>Delivery</a:t>
            </a:r>
            <a:endParaRPr lang="en-US" sz="1600" dirty="0"/>
          </a:p>
        </p:txBody>
      </p:sp>
      <p:sp>
        <p:nvSpPr>
          <p:cNvPr id="39" name="card"/>
          <p:cNvSpPr/>
          <p:nvPr/>
        </p:nvSpPr>
        <p:spPr>
          <a:xfrm>
            <a:off x="548640" y="5029200"/>
            <a:ext cx="11064240" cy="1188720"/>
          </a:xfrm>
          <a:prstGeom prst="roundRect">
            <a:avLst>
              <a:gd name="adj" fmla="val 6154"/>
            </a:avLst>
          </a:prstGeom>
          <a:solidFill>
            <a:schemeClr val="bg2"/>
          </a:solidFill>
          <a:ln/>
        </p:spPr>
      </p:sp>
      <p:sp>
        <p:nvSpPr>
          <p:cNvPr id="40" name="Text 37"/>
          <p:cNvSpPr txBox="1"/>
          <p:nvPr/>
        </p:nvSpPr>
        <p:spPr>
          <a:xfrm>
            <a:off x="868680" y="5029200"/>
            <a:ext cx="10424160" cy="1188720"/>
          </a:xfrm>
          <a:prstGeom prst="rect">
            <a:avLst/>
          </a:prstGeom>
          <a:noFill/>
          <a:ln/>
        </p:spPr>
        <p:txBody>
          <a:bodyPr wrap="square" lIns="0" tIns="0" rIns="0" bIns="0" rtlCol="0" anchor="ctr"/>
          <a:lstStyle/>
          <a:p>
            <a:pPr indent="0" marL="0">
              <a:buNone/>
            </a:pPr>
            <a:r>
              <a:rPr lang="en-US" sz="2000" b="1" dirty="0">
                <a:solidFill>
                  <a:schemeClr val="tx1"/>
                </a:solidFill>
              </a:rPr>
              <a:t>Key rule: detection is never decided by an LLM. Rules and statistics decide; the model only writes the words.</a:t>
            </a:r>
            <a:endParaRPr lang="en-US" sz="2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 cascade of detectors, one job each</a:t>
            </a:r>
            <a:endParaRPr lang="en-US" sz="3400" dirty="0"/>
          </a:p>
        </p:txBody>
      </p:sp>
      <p:sp>
        <p:nvSpPr>
          <p:cNvPr id="4" name="card"/>
          <p:cNvSpPr/>
          <p:nvPr/>
        </p:nvSpPr>
        <p:spPr>
          <a:xfrm>
            <a:off x="548640" y="1371600"/>
            <a:ext cx="11064240" cy="676656"/>
          </a:xfrm>
          <a:prstGeom prst="roundRect">
            <a:avLst>
              <a:gd name="adj" fmla="val 10811"/>
            </a:avLst>
          </a:prstGeom>
          <a:solidFill>
            <a:schemeClr val="bg2"/>
          </a:solidFill>
          <a:ln/>
        </p:spPr>
      </p:sp>
      <p:sp>
        <p:nvSpPr>
          <p:cNvPr id="5" name="icon-bg"/>
          <p:cNvSpPr/>
          <p:nvPr/>
        </p:nvSpPr>
        <p:spPr>
          <a:xfrm>
            <a:off x="685800" y="1453896"/>
            <a:ext cx="512064" cy="512064"/>
          </a:xfrm>
          <a:prstGeom prst="ellipse">
            <a:avLst/>
          </a:prstGeom>
          <a:solidFill>
            <a:schemeClr val="accent3"/>
          </a:solidFill>
          <a:ln/>
        </p:spPr>
      </p:sp>
      <p:pic>
        <p:nvPicPr>
          <p:cNvPr id="6" name="Image 0" descr="icon">    </p:cNvPr>
          <p:cNvPicPr>
            <a:picLocks noChangeAspect="1"/>
          </p:cNvPicPr>
          <p:nvPr/>
        </p:nvPicPr>
        <p:blipFill>
          <a:blip r:embed="rId1"/>
          <a:stretch>
            <a:fillRect/>
          </a:stretch>
        </p:blipFill>
        <p:spPr>
          <a:xfrm>
            <a:off x="813816" y="1581912"/>
            <a:ext cx="256032" cy="256032"/>
          </a:xfrm>
          <a:prstGeom prst="rect">
            <a:avLst/>
          </a:prstGeom>
        </p:spPr>
      </p:pic>
      <p:sp>
        <p:nvSpPr>
          <p:cNvPr id="7" name="Text 3"/>
          <p:cNvSpPr txBox="1"/>
          <p:nvPr/>
        </p:nvSpPr>
        <p:spPr>
          <a:xfrm>
            <a:off x="1417320" y="1371600"/>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Static rules</a:t>
            </a:r>
            <a:endParaRPr lang="en-US" sz="1700" dirty="0"/>
          </a:p>
        </p:txBody>
      </p:sp>
      <p:sp>
        <p:nvSpPr>
          <p:cNvPr id="8" name="Text 4"/>
          <p:cNvSpPr txBox="1"/>
          <p:nvPr/>
        </p:nvSpPr>
        <p:spPr>
          <a:xfrm>
            <a:off x="4846320" y="1371600"/>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Port scans, brute force, DNS entropy / length / TXT signals</a:t>
            </a:r>
            <a:endParaRPr lang="en-US" sz="1400" dirty="0"/>
          </a:p>
        </p:txBody>
      </p:sp>
      <p:sp>
        <p:nvSpPr>
          <p:cNvPr id="9" name="chip"/>
          <p:cNvSpPr/>
          <p:nvPr/>
        </p:nvSpPr>
        <p:spPr>
          <a:xfrm>
            <a:off x="9555480" y="1508760"/>
            <a:ext cx="1920240" cy="402336"/>
          </a:xfrm>
          <a:prstGeom prst="roundRect">
            <a:avLst>
              <a:gd name="adj" fmla="val 50000"/>
            </a:avLst>
          </a:prstGeom>
          <a:solidFill>
            <a:schemeClr val="accent3"/>
          </a:solidFill>
          <a:ln/>
        </p:spPr>
      </p:sp>
      <p:sp>
        <p:nvSpPr>
          <p:cNvPr id="10" name="Text 6"/>
          <p:cNvSpPr txBox="1"/>
          <p:nvPr/>
        </p:nvSpPr>
        <p:spPr>
          <a:xfrm>
            <a:off x="9555480" y="1508760"/>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11" name="card"/>
          <p:cNvSpPr/>
          <p:nvPr/>
        </p:nvSpPr>
        <p:spPr>
          <a:xfrm>
            <a:off x="548640" y="2157984"/>
            <a:ext cx="11064240" cy="676656"/>
          </a:xfrm>
          <a:prstGeom prst="roundRect">
            <a:avLst>
              <a:gd name="adj" fmla="val 10811"/>
            </a:avLst>
          </a:prstGeom>
          <a:solidFill>
            <a:schemeClr val="bg2"/>
          </a:solidFill>
          <a:ln/>
        </p:spPr>
      </p:sp>
      <p:sp>
        <p:nvSpPr>
          <p:cNvPr id="12" name="icon-bg"/>
          <p:cNvSpPr/>
          <p:nvPr/>
        </p:nvSpPr>
        <p:spPr>
          <a:xfrm>
            <a:off x="685800" y="2240280"/>
            <a:ext cx="512064" cy="512064"/>
          </a:xfrm>
          <a:prstGeom prst="ellipse">
            <a:avLst/>
          </a:prstGeom>
          <a:solidFill>
            <a:schemeClr val="accent3"/>
          </a:solidFill>
          <a:ln/>
        </p:spPr>
      </p:sp>
      <p:pic>
        <p:nvPicPr>
          <p:cNvPr id="13" name="Image 1" descr="icon">    </p:cNvPr>
          <p:cNvPicPr>
            <a:picLocks noChangeAspect="1"/>
          </p:cNvPicPr>
          <p:nvPr/>
        </p:nvPicPr>
        <p:blipFill>
          <a:blip r:embed="rId2"/>
          <a:stretch>
            <a:fillRect/>
          </a:stretch>
        </p:blipFill>
        <p:spPr>
          <a:xfrm>
            <a:off x="813816" y="2368296"/>
            <a:ext cx="256032" cy="256032"/>
          </a:xfrm>
          <a:prstGeom prst="rect">
            <a:avLst/>
          </a:prstGeom>
        </p:spPr>
      </p:pic>
      <p:sp>
        <p:nvSpPr>
          <p:cNvPr id="14" name="Text 9"/>
          <p:cNvSpPr txBox="1"/>
          <p:nvPr/>
        </p:nvSpPr>
        <p:spPr>
          <a:xfrm>
            <a:off x="1417320" y="2157984"/>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Periodicity analysis</a:t>
            </a:r>
            <a:endParaRPr lang="en-US" sz="1700" dirty="0"/>
          </a:p>
        </p:txBody>
      </p:sp>
      <p:sp>
        <p:nvSpPr>
          <p:cNvPr id="15" name="Text 10"/>
          <p:cNvSpPr txBox="1"/>
          <p:nvPr/>
        </p:nvSpPr>
        <p:spPr>
          <a:xfrm>
            <a:off x="4846320" y="2157984"/>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Beaconing: how regular are the connection intervals (jitter)?</a:t>
            </a:r>
            <a:endParaRPr lang="en-US" sz="1400" dirty="0"/>
          </a:p>
        </p:txBody>
      </p:sp>
      <p:sp>
        <p:nvSpPr>
          <p:cNvPr id="16" name="chip"/>
          <p:cNvSpPr/>
          <p:nvPr/>
        </p:nvSpPr>
        <p:spPr>
          <a:xfrm>
            <a:off x="9555480" y="2295144"/>
            <a:ext cx="1920240" cy="402336"/>
          </a:xfrm>
          <a:prstGeom prst="roundRect">
            <a:avLst>
              <a:gd name="adj" fmla="val 50000"/>
            </a:avLst>
          </a:prstGeom>
          <a:solidFill>
            <a:schemeClr val="accent3"/>
          </a:solidFill>
          <a:ln/>
        </p:spPr>
      </p:sp>
      <p:sp>
        <p:nvSpPr>
          <p:cNvPr id="17" name="Text 12"/>
          <p:cNvSpPr txBox="1"/>
          <p:nvPr/>
        </p:nvSpPr>
        <p:spPr>
          <a:xfrm>
            <a:off x="9555480" y="2295144"/>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BUILT</a:t>
            </a:r>
            <a:endParaRPr lang="en-US" sz="1200" dirty="0"/>
          </a:p>
        </p:txBody>
      </p:sp>
      <p:sp>
        <p:nvSpPr>
          <p:cNvPr id="18" name="card"/>
          <p:cNvSpPr/>
          <p:nvPr/>
        </p:nvSpPr>
        <p:spPr>
          <a:xfrm>
            <a:off x="548640" y="2944368"/>
            <a:ext cx="11064240" cy="676656"/>
          </a:xfrm>
          <a:prstGeom prst="roundRect">
            <a:avLst>
              <a:gd name="adj" fmla="val 10811"/>
            </a:avLst>
          </a:prstGeom>
          <a:solidFill>
            <a:schemeClr val="bg2"/>
          </a:solidFill>
          <a:ln/>
        </p:spPr>
      </p:sp>
      <p:sp>
        <p:nvSpPr>
          <p:cNvPr id="19" name="icon-bg"/>
          <p:cNvSpPr/>
          <p:nvPr/>
        </p:nvSpPr>
        <p:spPr>
          <a:xfrm>
            <a:off x="685800" y="3026664"/>
            <a:ext cx="512064" cy="512064"/>
          </a:xfrm>
          <a:prstGeom prst="ellipse">
            <a:avLst/>
          </a:prstGeom>
          <a:solidFill>
            <a:schemeClr val="accent4"/>
          </a:solidFill>
          <a:ln/>
        </p:spPr>
      </p:sp>
      <p:pic>
        <p:nvPicPr>
          <p:cNvPr id="20" name="Image 2" descr="icon">    </p:cNvPr>
          <p:cNvPicPr>
            <a:picLocks noChangeAspect="1"/>
          </p:cNvPicPr>
          <p:nvPr/>
        </p:nvPicPr>
        <p:blipFill>
          <a:blip r:embed="rId3"/>
          <a:stretch>
            <a:fillRect/>
          </a:stretch>
        </p:blipFill>
        <p:spPr>
          <a:xfrm>
            <a:off x="813816" y="3154680"/>
            <a:ext cx="256032" cy="256032"/>
          </a:xfrm>
          <a:prstGeom prst="rect">
            <a:avLst/>
          </a:prstGeom>
        </p:spPr>
      </p:pic>
      <p:sp>
        <p:nvSpPr>
          <p:cNvPr id="21" name="Text 15"/>
          <p:cNvSpPr txBox="1"/>
          <p:nvPr/>
        </p:nvSpPr>
        <p:spPr>
          <a:xfrm>
            <a:off x="1417320" y="2944368"/>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Isolation Forest</a:t>
            </a:r>
            <a:endParaRPr lang="en-US" sz="1700" dirty="0"/>
          </a:p>
        </p:txBody>
      </p:sp>
      <p:sp>
        <p:nvSpPr>
          <p:cNvPr id="22" name="Text 16"/>
          <p:cNvSpPr txBox="1"/>
          <p:nvPr/>
        </p:nvSpPr>
        <p:spPr>
          <a:xfrm>
            <a:off x="4846320" y="2944368"/>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Per-device 'unusual for this device' baseline</a:t>
            </a:r>
            <a:endParaRPr lang="en-US" sz="1400" dirty="0"/>
          </a:p>
        </p:txBody>
      </p:sp>
      <p:sp>
        <p:nvSpPr>
          <p:cNvPr id="23" name="chip"/>
          <p:cNvSpPr/>
          <p:nvPr/>
        </p:nvSpPr>
        <p:spPr>
          <a:xfrm>
            <a:off x="9555480" y="3081528"/>
            <a:ext cx="1920240" cy="402336"/>
          </a:xfrm>
          <a:prstGeom prst="roundRect">
            <a:avLst>
              <a:gd name="adj" fmla="val 50000"/>
            </a:avLst>
          </a:prstGeom>
          <a:solidFill>
            <a:schemeClr val="accent4"/>
          </a:solidFill>
          <a:ln/>
        </p:spPr>
      </p:sp>
      <p:sp>
        <p:nvSpPr>
          <p:cNvPr id="24" name="Text 18"/>
          <p:cNvSpPr txBox="1"/>
          <p:nvPr/>
        </p:nvSpPr>
        <p:spPr>
          <a:xfrm>
            <a:off x="9555480" y="3081528"/>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ROADMAP</a:t>
            </a:r>
            <a:endParaRPr lang="en-US" sz="1200" dirty="0"/>
          </a:p>
        </p:txBody>
      </p:sp>
      <p:sp>
        <p:nvSpPr>
          <p:cNvPr id="25" name="card"/>
          <p:cNvSpPr/>
          <p:nvPr/>
        </p:nvSpPr>
        <p:spPr>
          <a:xfrm>
            <a:off x="548640" y="3730752"/>
            <a:ext cx="11064240" cy="676656"/>
          </a:xfrm>
          <a:prstGeom prst="roundRect">
            <a:avLst>
              <a:gd name="adj" fmla="val 10811"/>
            </a:avLst>
          </a:prstGeom>
          <a:solidFill>
            <a:schemeClr val="bg2"/>
          </a:solidFill>
          <a:ln/>
        </p:spPr>
      </p:sp>
      <p:sp>
        <p:nvSpPr>
          <p:cNvPr id="26" name="icon-bg"/>
          <p:cNvSpPr/>
          <p:nvPr/>
        </p:nvSpPr>
        <p:spPr>
          <a:xfrm>
            <a:off x="685800" y="3813048"/>
            <a:ext cx="512064" cy="512064"/>
          </a:xfrm>
          <a:prstGeom prst="ellipse">
            <a:avLst/>
          </a:prstGeom>
          <a:solidFill>
            <a:schemeClr val="accent4"/>
          </a:solidFill>
          <a:ln/>
        </p:spPr>
      </p:sp>
      <p:pic>
        <p:nvPicPr>
          <p:cNvPr id="27" name="Image 3" descr="icon">    </p:cNvPr>
          <p:cNvPicPr>
            <a:picLocks noChangeAspect="1"/>
          </p:cNvPicPr>
          <p:nvPr/>
        </p:nvPicPr>
        <p:blipFill>
          <a:blip r:embed="rId4"/>
          <a:stretch>
            <a:fillRect/>
          </a:stretch>
        </p:blipFill>
        <p:spPr>
          <a:xfrm>
            <a:off x="813816" y="3941064"/>
            <a:ext cx="256032" cy="256032"/>
          </a:xfrm>
          <a:prstGeom prst="rect">
            <a:avLst/>
          </a:prstGeom>
        </p:spPr>
      </p:pic>
      <p:sp>
        <p:nvSpPr>
          <p:cNvPr id="28" name="Text 21"/>
          <p:cNvSpPr txBox="1"/>
          <p:nvPr/>
        </p:nvSpPr>
        <p:spPr>
          <a:xfrm>
            <a:off x="1417320" y="3730752"/>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n-gram model</a:t>
            </a:r>
            <a:endParaRPr lang="en-US" sz="1700" dirty="0"/>
          </a:p>
        </p:txBody>
      </p:sp>
      <p:sp>
        <p:nvSpPr>
          <p:cNvPr id="29" name="Text 22"/>
          <p:cNvSpPr txBox="1"/>
          <p:nvPr/>
        </p:nvSpPr>
        <p:spPr>
          <a:xfrm>
            <a:off x="4846320" y="3730752"/>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Random-looking domain names (DGA, tunnel payloads)</a:t>
            </a:r>
            <a:endParaRPr lang="en-US" sz="1400" dirty="0"/>
          </a:p>
        </p:txBody>
      </p:sp>
      <p:sp>
        <p:nvSpPr>
          <p:cNvPr id="30" name="chip"/>
          <p:cNvSpPr/>
          <p:nvPr/>
        </p:nvSpPr>
        <p:spPr>
          <a:xfrm>
            <a:off x="9555480" y="3867912"/>
            <a:ext cx="1920240" cy="402336"/>
          </a:xfrm>
          <a:prstGeom prst="roundRect">
            <a:avLst>
              <a:gd name="adj" fmla="val 50000"/>
            </a:avLst>
          </a:prstGeom>
          <a:solidFill>
            <a:schemeClr val="accent4"/>
          </a:solidFill>
          <a:ln/>
        </p:spPr>
      </p:sp>
      <p:sp>
        <p:nvSpPr>
          <p:cNvPr id="31" name="Text 24"/>
          <p:cNvSpPr txBox="1"/>
          <p:nvPr/>
        </p:nvSpPr>
        <p:spPr>
          <a:xfrm>
            <a:off x="9555480" y="3867912"/>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ROADMAP</a:t>
            </a:r>
            <a:endParaRPr lang="en-US" sz="1200" dirty="0"/>
          </a:p>
        </p:txBody>
      </p:sp>
      <p:sp>
        <p:nvSpPr>
          <p:cNvPr id="32" name="card"/>
          <p:cNvSpPr/>
          <p:nvPr/>
        </p:nvSpPr>
        <p:spPr>
          <a:xfrm>
            <a:off x="548640" y="4517136"/>
            <a:ext cx="11064240" cy="676656"/>
          </a:xfrm>
          <a:prstGeom prst="roundRect">
            <a:avLst>
              <a:gd name="adj" fmla="val 10811"/>
            </a:avLst>
          </a:prstGeom>
          <a:solidFill>
            <a:schemeClr val="bg2"/>
          </a:solidFill>
          <a:ln/>
        </p:spPr>
      </p:sp>
      <p:sp>
        <p:nvSpPr>
          <p:cNvPr id="33" name="icon-bg"/>
          <p:cNvSpPr/>
          <p:nvPr/>
        </p:nvSpPr>
        <p:spPr>
          <a:xfrm>
            <a:off x="685800" y="4599432"/>
            <a:ext cx="512064" cy="512064"/>
          </a:xfrm>
          <a:prstGeom prst="ellipse">
            <a:avLst/>
          </a:prstGeom>
          <a:solidFill>
            <a:schemeClr val="accent4"/>
          </a:solidFill>
          <a:ln/>
        </p:spPr>
      </p:sp>
      <p:pic>
        <p:nvPicPr>
          <p:cNvPr id="34" name="Image 4" descr="icon">    </p:cNvPr>
          <p:cNvPicPr>
            <a:picLocks noChangeAspect="1"/>
          </p:cNvPicPr>
          <p:nvPr/>
        </p:nvPicPr>
        <p:blipFill>
          <a:blip r:embed="rId5"/>
          <a:stretch>
            <a:fillRect/>
          </a:stretch>
        </p:blipFill>
        <p:spPr>
          <a:xfrm>
            <a:off x="813816" y="4727448"/>
            <a:ext cx="256032" cy="256032"/>
          </a:xfrm>
          <a:prstGeom prst="rect">
            <a:avLst/>
          </a:prstGeom>
        </p:spPr>
      </p:pic>
      <p:sp>
        <p:nvSpPr>
          <p:cNvPr id="35" name="Text 27"/>
          <p:cNvSpPr txBox="1"/>
          <p:nvPr/>
        </p:nvSpPr>
        <p:spPr>
          <a:xfrm>
            <a:off x="1417320" y="4517136"/>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Autoencoder</a:t>
            </a:r>
            <a:endParaRPr lang="en-US" sz="1700" dirty="0"/>
          </a:p>
        </p:txBody>
      </p:sp>
      <p:sp>
        <p:nvSpPr>
          <p:cNvPr id="36" name="Text 28"/>
          <p:cNvSpPr txBox="1"/>
          <p:nvPr/>
        </p:nvSpPr>
        <p:spPr>
          <a:xfrm>
            <a:off x="4846320" y="4517136"/>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Second opinion: traffic the model cannot reconstruct</a:t>
            </a:r>
            <a:endParaRPr lang="en-US" sz="1400" dirty="0"/>
          </a:p>
        </p:txBody>
      </p:sp>
      <p:sp>
        <p:nvSpPr>
          <p:cNvPr id="37" name="chip"/>
          <p:cNvSpPr/>
          <p:nvPr/>
        </p:nvSpPr>
        <p:spPr>
          <a:xfrm>
            <a:off x="9555480" y="4654296"/>
            <a:ext cx="1920240" cy="402336"/>
          </a:xfrm>
          <a:prstGeom prst="roundRect">
            <a:avLst>
              <a:gd name="adj" fmla="val 50000"/>
            </a:avLst>
          </a:prstGeom>
          <a:solidFill>
            <a:schemeClr val="accent4"/>
          </a:solidFill>
          <a:ln/>
        </p:spPr>
      </p:sp>
      <p:sp>
        <p:nvSpPr>
          <p:cNvPr id="38" name="Text 30"/>
          <p:cNvSpPr txBox="1"/>
          <p:nvPr/>
        </p:nvSpPr>
        <p:spPr>
          <a:xfrm>
            <a:off x="9555480" y="4654296"/>
            <a:ext cx="1920240" cy="402336"/>
          </a:xfrm>
          <a:prstGeom prst="rect">
            <a:avLst/>
          </a:prstGeom>
          <a:noFill/>
          <a:ln/>
        </p:spPr>
        <p:txBody>
          <a:bodyPr wrap="square" lIns="0" tIns="0" rIns="0" bIns="0" rtlCol="0" anchor="ctr"/>
          <a:lstStyle/>
          <a:p>
            <a:pPr algn="ctr" indent="0" marL="0">
              <a:buNone/>
            </a:pPr>
            <a:r>
              <a:rPr lang="en-US" sz="1200" b="1" dirty="0">
                <a:solidFill>
                  <a:schemeClr val="bg1"/>
                </a:solidFill>
              </a:rPr>
              <a:t>ROADMAP</a:t>
            </a:r>
            <a:endParaRPr lang="en-US" sz="1200" dirty="0"/>
          </a:p>
        </p:txBody>
      </p:sp>
      <p:sp>
        <p:nvSpPr>
          <p:cNvPr id="39" name="card"/>
          <p:cNvSpPr/>
          <p:nvPr/>
        </p:nvSpPr>
        <p:spPr>
          <a:xfrm>
            <a:off x="548640" y="5303520"/>
            <a:ext cx="11064240" cy="676656"/>
          </a:xfrm>
          <a:prstGeom prst="roundRect">
            <a:avLst>
              <a:gd name="adj" fmla="val 10811"/>
            </a:avLst>
          </a:prstGeom>
          <a:solidFill>
            <a:schemeClr val="bg2"/>
          </a:solidFill>
          <a:ln/>
        </p:spPr>
      </p:sp>
      <p:sp>
        <p:nvSpPr>
          <p:cNvPr id="40" name="icon-bg"/>
          <p:cNvSpPr/>
          <p:nvPr/>
        </p:nvSpPr>
        <p:spPr>
          <a:xfrm>
            <a:off x="685800" y="5385816"/>
            <a:ext cx="512064" cy="512064"/>
          </a:xfrm>
          <a:prstGeom prst="ellipse">
            <a:avLst/>
          </a:prstGeom>
          <a:solidFill>
            <a:schemeClr val="accent2"/>
          </a:solidFill>
          <a:ln/>
        </p:spPr>
      </p:sp>
      <p:pic>
        <p:nvPicPr>
          <p:cNvPr id="41" name="Image 5" descr="icon">    </p:cNvPr>
          <p:cNvPicPr>
            <a:picLocks noChangeAspect="1"/>
          </p:cNvPicPr>
          <p:nvPr/>
        </p:nvPicPr>
        <p:blipFill>
          <a:blip r:embed="rId6"/>
          <a:stretch>
            <a:fillRect/>
          </a:stretch>
        </p:blipFill>
        <p:spPr>
          <a:xfrm>
            <a:off x="813816" y="5513832"/>
            <a:ext cx="256032" cy="256032"/>
          </a:xfrm>
          <a:prstGeom prst="rect">
            <a:avLst/>
          </a:prstGeom>
        </p:spPr>
      </p:pic>
      <p:sp>
        <p:nvSpPr>
          <p:cNvPr id="42" name="Text 33"/>
          <p:cNvSpPr txBox="1"/>
          <p:nvPr/>
        </p:nvSpPr>
        <p:spPr>
          <a:xfrm>
            <a:off x="1417320" y="5303520"/>
            <a:ext cx="3383280" cy="676656"/>
          </a:xfrm>
          <a:prstGeom prst="rect">
            <a:avLst/>
          </a:prstGeom>
          <a:noFill/>
          <a:ln/>
        </p:spPr>
        <p:txBody>
          <a:bodyPr wrap="square" lIns="0" tIns="0" rIns="0" bIns="0" rtlCol="0" anchor="ctr"/>
          <a:lstStyle/>
          <a:p>
            <a:pPr indent="0" marL="0">
              <a:buNone/>
            </a:pPr>
            <a:r>
              <a:rPr lang="en-US" sz="1700" b="1" dirty="0">
                <a:solidFill>
                  <a:schemeClr val="tx1"/>
                </a:solidFill>
              </a:rPr>
              <a:t>LLM – Gemma 4 E2B (default target)</a:t>
            </a:r>
            <a:endParaRPr lang="en-US" sz="1700" dirty="0"/>
          </a:p>
        </p:txBody>
      </p:sp>
      <p:sp>
        <p:nvSpPr>
          <p:cNvPr id="43" name="Text 34"/>
          <p:cNvSpPr txBox="1"/>
          <p:nvPr/>
        </p:nvSpPr>
        <p:spPr>
          <a:xfrm>
            <a:off x="4846320" y="5303520"/>
            <a:ext cx="4572000" cy="676656"/>
          </a:xfrm>
          <a:prstGeom prst="rect">
            <a:avLst/>
          </a:prstGeom>
          <a:noFill/>
          <a:ln/>
        </p:spPr>
        <p:txBody>
          <a:bodyPr wrap="square" lIns="0" tIns="0" rIns="0" bIns="0" rtlCol="0" anchor="ctr"/>
          <a:lstStyle/>
          <a:p>
            <a:pPr indent="0" marL="0">
              <a:buNone/>
            </a:pPr>
            <a:r>
              <a:rPr lang="en-US" sz="1400" dirty="0">
                <a:solidFill>
                  <a:schemeClr val="accent6"/>
                </a:solidFill>
              </a:rPr>
              <a:t>Writes the alert in plain English; never decides</a:t>
            </a:r>
            <a:endParaRPr lang="en-US" sz="1400" dirty="0"/>
          </a:p>
        </p:txBody>
      </p:sp>
      <p:sp>
        <p:nvSpPr>
          <p:cNvPr id="44" name="chip"/>
          <p:cNvSpPr/>
          <p:nvPr/>
        </p:nvSpPr>
        <p:spPr>
          <a:xfrm>
            <a:off x="9555480" y="5440680"/>
            <a:ext cx="1920240" cy="402336"/>
          </a:xfrm>
          <a:prstGeom prst="roundRect">
            <a:avLst>
              <a:gd name="adj" fmla="val 50000"/>
            </a:avLst>
          </a:prstGeom>
          <a:solidFill>
            <a:schemeClr val="accent2"/>
          </a:solidFill>
          <a:ln/>
        </p:spPr>
      </p:sp>
      <p:sp>
        <p:nvSpPr>
          <p:cNvPr id="45" name="Text 36"/>
          <p:cNvSpPr txBox="1"/>
          <p:nvPr/>
        </p:nvSpPr>
        <p:spPr>
          <a:xfrm>
            <a:off x="9555480" y="5440680"/>
            <a:ext cx="1920240" cy="402336"/>
          </a:xfrm>
          <a:prstGeom prst="rect">
            <a:avLst/>
          </a:prstGeom>
          <a:noFill/>
          <a:ln/>
        </p:spPr>
        <p:txBody>
          <a:bodyPr wrap="square" lIns="0" tIns="0" rIns="0" bIns="0" rtlCol="0" anchor="ctr"/>
          <a:lstStyle/>
          <a:p>
            <a:pPr algn="ctr" indent="0" marL="0">
              <a:buNone/>
            </a:pPr>
            <a:r>
              <a:rPr lang="en-US" sz="1200" b="1" dirty="0">
                <a:solidFill>
                  <a:schemeClr val="tx1"/>
                </a:solidFill>
              </a:rPr>
              <a:t>BUILT · PLUGGABLE</a:t>
            </a:r>
            <a:endParaRPr lang="en-US" sz="1200" dirty="0"/>
          </a:p>
        </p:txBody>
      </p:sp>
      <p:sp>
        <p:nvSpPr>
          <p:cNvPr id="46" name="Text 37"/>
          <p:cNvSpPr txBox="1"/>
          <p:nvPr/>
        </p:nvSpPr>
        <p:spPr>
          <a:xfrm>
            <a:off x="548640" y="6126480"/>
            <a:ext cx="11064240" cy="274320"/>
          </a:xfrm>
          <a:prstGeom prst="rect">
            <a:avLst/>
          </a:prstGeom>
          <a:noFill/>
          <a:ln/>
        </p:spPr>
        <p:txBody>
          <a:bodyPr wrap="square" lIns="0" tIns="0" rIns="0" bIns="0" rtlCol="0" anchor="ctr"/>
          <a:lstStyle/>
          <a:p>
            <a:pPr indent="0" marL="0">
              <a:buNone/>
            </a:pPr>
            <a:r>
              <a:rPr lang="en-US" sz="1400" i="1" dirty="0">
                <a:solidFill>
                  <a:schemeClr val="accent6"/>
                </a:solidFill>
              </a:rPr>
              <a:t>Agreement between detectors raises confidence; one detector alone lowers it.</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Four attack patterns caught today</a:t>
            </a:r>
            <a:endParaRPr lang="en-US" sz="3400" dirty="0"/>
          </a:p>
        </p:txBody>
      </p:sp>
      <p:sp>
        <p:nvSpPr>
          <p:cNvPr id="4" name="card"/>
          <p:cNvSpPr/>
          <p:nvPr/>
        </p:nvSpPr>
        <p:spPr>
          <a:xfrm>
            <a:off x="548640" y="1417320"/>
            <a:ext cx="5440680" cy="2377440"/>
          </a:xfrm>
          <a:prstGeom prst="roundRect">
            <a:avLst>
              <a:gd name="adj" fmla="val 3077"/>
            </a:avLst>
          </a:prstGeom>
          <a:solidFill>
            <a:schemeClr val="bg2"/>
          </a:solidFill>
          <a:ln/>
        </p:spPr>
      </p:sp>
      <p:sp>
        <p:nvSpPr>
          <p:cNvPr id="5" name="icon-bg"/>
          <p:cNvSpPr/>
          <p:nvPr/>
        </p:nvSpPr>
        <p:spPr>
          <a:xfrm>
            <a:off x="822960" y="1691640"/>
            <a:ext cx="822960" cy="822960"/>
          </a:xfrm>
          <a:prstGeom prst="ellipse">
            <a:avLst/>
          </a:prstGeom>
          <a:solidFill>
            <a:schemeClr val="accent1"/>
          </a:solidFill>
          <a:ln/>
        </p:spPr>
      </p:sp>
      <p:pic>
        <p:nvPicPr>
          <p:cNvPr id="6" name="Image 0" descr="icon">    </p:cNvPr>
          <p:cNvPicPr>
            <a:picLocks noChangeAspect="1"/>
          </p:cNvPicPr>
          <p:nvPr/>
        </p:nvPicPr>
        <p:blipFill>
          <a:blip r:embed="rId1"/>
          <a:stretch>
            <a:fillRect/>
          </a:stretch>
        </p:blipFill>
        <p:spPr>
          <a:xfrm>
            <a:off x="1028700" y="1897380"/>
            <a:ext cx="411480" cy="411480"/>
          </a:xfrm>
          <a:prstGeom prst="rect">
            <a:avLst/>
          </a:prstGeom>
        </p:spPr>
      </p:pic>
      <p:sp>
        <p:nvSpPr>
          <p:cNvPr id="7" name="Text 3"/>
          <p:cNvSpPr txBox="1"/>
          <p:nvPr/>
        </p:nvSpPr>
        <p:spPr>
          <a:xfrm>
            <a:off x="1828800" y="167335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Port scan</a:t>
            </a:r>
            <a:endParaRPr lang="en-US" sz="2200" dirty="0"/>
          </a:p>
        </p:txBody>
      </p:sp>
      <p:sp>
        <p:nvSpPr>
          <p:cNvPr id="8" name="chip"/>
          <p:cNvSpPr/>
          <p:nvPr/>
        </p:nvSpPr>
        <p:spPr>
          <a:xfrm>
            <a:off x="4572000" y="1719072"/>
            <a:ext cx="1188720" cy="365760"/>
          </a:xfrm>
          <a:prstGeom prst="roundRect">
            <a:avLst>
              <a:gd name="adj" fmla="val 50000"/>
            </a:avLst>
          </a:prstGeom>
          <a:solidFill>
            <a:schemeClr val="accent6"/>
          </a:solidFill>
          <a:ln/>
        </p:spPr>
      </p:sp>
      <p:sp>
        <p:nvSpPr>
          <p:cNvPr id="9" name="Text 5"/>
          <p:cNvSpPr txBox="1"/>
          <p:nvPr/>
        </p:nvSpPr>
        <p:spPr>
          <a:xfrm>
            <a:off x="4572000" y="171907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T1046</a:t>
            </a:r>
            <a:endParaRPr lang="en-US" sz="1200" dirty="0"/>
          </a:p>
        </p:txBody>
      </p:sp>
      <p:sp>
        <p:nvSpPr>
          <p:cNvPr id="10" name="Text 6"/>
          <p:cNvSpPr txBox="1"/>
          <p:nvPr/>
        </p:nvSpPr>
        <p:spPr>
          <a:xfrm>
            <a:off x="1828800" y="219456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20+ ports or hosts, 60%+ of attempts fail</a:t>
            </a:r>
            <a:endParaRPr lang="en-US" sz="1500" dirty="0"/>
          </a:p>
        </p:txBody>
      </p:sp>
      <p:sp>
        <p:nvSpPr>
          <p:cNvPr id="11" name="Text 7"/>
          <p:cNvSpPr txBox="1"/>
          <p:nvPr/>
        </p:nvSpPr>
        <p:spPr>
          <a:xfrm>
            <a:off x="822960" y="310896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400 ports, 99.75% failed</a:t>
            </a:r>
            <a:endParaRPr lang="en-US" sz="1700" dirty="0"/>
          </a:p>
        </p:txBody>
      </p:sp>
      <p:sp>
        <p:nvSpPr>
          <p:cNvPr id="12" name="card"/>
          <p:cNvSpPr/>
          <p:nvPr/>
        </p:nvSpPr>
        <p:spPr>
          <a:xfrm>
            <a:off x="6172200" y="1417320"/>
            <a:ext cx="5440680" cy="2377440"/>
          </a:xfrm>
          <a:prstGeom prst="roundRect">
            <a:avLst>
              <a:gd name="adj" fmla="val 3077"/>
            </a:avLst>
          </a:prstGeom>
          <a:solidFill>
            <a:schemeClr val="bg2"/>
          </a:solidFill>
          <a:ln/>
        </p:spPr>
      </p:sp>
      <p:sp>
        <p:nvSpPr>
          <p:cNvPr id="13" name="icon-bg"/>
          <p:cNvSpPr/>
          <p:nvPr/>
        </p:nvSpPr>
        <p:spPr>
          <a:xfrm>
            <a:off x="6446520" y="1691640"/>
            <a:ext cx="822960" cy="822960"/>
          </a:xfrm>
          <a:prstGeom prst="ellipse">
            <a:avLst/>
          </a:prstGeom>
          <a:solidFill>
            <a:schemeClr val="accent2"/>
          </a:solidFill>
          <a:ln/>
        </p:spPr>
      </p:sp>
      <p:pic>
        <p:nvPicPr>
          <p:cNvPr id="14" name="Image 1" descr="icon">    </p:cNvPr>
          <p:cNvPicPr>
            <a:picLocks noChangeAspect="1"/>
          </p:cNvPicPr>
          <p:nvPr/>
        </p:nvPicPr>
        <p:blipFill>
          <a:blip r:embed="rId2"/>
          <a:stretch>
            <a:fillRect/>
          </a:stretch>
        </p:blipFill>
        <p:spPr>
          <a:xfrm>
            <a:off x="6652260" y="1897380"/>
            <a:ext cx="411480" cy="411480"/>
          </a:xfrm>
          <a:prstGeom prst="rect">
            <a:avLst/>
          </a:prstGeom>
        </p:spPr>
      </p:pic>
      <p:sp>
        <p:nvSpPr>
          <p:cNvPr id="15" name="Text 10"/>
          <p:cNvSpPr txBox="1"/>
          <p:nvPr/>
        </p:nvSpPr>
        <p:spPr>
          <a:xfrm>
            <a:off x="7452360" y="167335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Brute force</a:t>
            </a:r>
            <a:endParaRPr lang="en-US" sz="2200" dirty="0"/>
          </a:p>
        </p:txBody>
      </p:sp>
      <p:sp>
        <p:nvSpPr>
          <p:cNvPr id="16" name="chip"/>
          <p:cNvSpPr/>
          <p:nvPr/>
        </p:nvSpPr>
        <p:spPr>
          <a:xfrm>
            <a:off x="10195560" y="1719072"/>
            <a:ext cx="1188720" cy="365760"/>
          </a:xfrm>
          <a:prstGeom prst="roundRect">
            <a:avLst>
              <a:gd name="adj" fmla="val 50000"/>
            </a:avLst>
          </a:prstGeom>
          <a:solidFill>
            <a:schemeClr val="accent6"/>
          </a:solidFill>
          <a:ln/>
        </p:spPr>
      </p:sp>
      <p:sp>
        <p:nvSpPr>
          <p:cNvPr id="17" name="Text 12"/>
          <p:cNvSpPr txBox="1"/>
          <p:nvPr/>
        </p:nvSpPr>
        <p:spPr>
          <a:xfrm>
            <a:off x="10195560" y="171907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T1110</a:t>
            </a:r>
            <a:endParaRPr lang="en-US" sz="1200" dirty="0"/>
          </a:p>
        </p:txBody>
      </p:sp>
      <p:sp>
        <p:nvSpPr>
          <p:cNvPr id="18" name="Text 13"/>
          <p:cNvSpPr txBox="1"/>
          <p:nvPr/>
        </p:nvSpPr>
        <p:spPr>
          <a:xfrm>
            <a:off x="7452360" y="219456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8+ connections to a login service, mostly accepted</a:t>
            </a:r>
            <a:endParaRPr lang="en-US" sz="1500" dirty="0"/>
          </a:p>
        </p:txBody>
      </p:sp>
      <p:sp>
        <p:nvSpPr>
          <p:cNvPr id="19" name="Text 14"/>
          <p:cNvSpPr txBox="1"/>
          <p:nvPr/>
        </p:nvSpPr>
        <p:spPr>
          <a:xfrm>
            <a:off x="6446520" y="310896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21 logins to port 2222</a:t>
            </a:r>
            <a:endParaRPr lang="en-US" sz="1700" dirty="0"/>
          </a:p>
        </p:txBody>
      </p:sp>
      <p:sp>
        <p:nvSpPr>
          <p:cNvPr id="20" name="card"/>
          <p:cNvSpPr/>
          <p:nvPr/>
        </p:nvSpPr>
        <p:spPr>
          <a:xfrm>
            <a:off x="548640" y="3977640"/>
            <a:ext cx="5440680" cy="2377440"/>
          </a:xfrm>
          <a:prstGeom prst="roundRect">
            <a:avLst>
              <a:gd name="adj" fmla="val 3077"/>
            </a:avLst>
          </a:prstGeom>
          <a:solidFill>
            <a:schemeClr val="bg2"/>
          </a:solidFill>
          <a:ln/>
        </p:spPr>
      </p:sp>
      <p:sp>
        <p:nvSpPr>
          <p:cNvPr id="21" name="icon-bg"/>
          <p:cNvSpPr/>
          <p:nvPr/>
        </p:nvSpPr>
        <p:spPr>
          <a:xfrm>
            <a:off x="822960" y="4251960"/>
            <a:ext cx="822960" cy="822960"/>
          </a:xfrm>
          <a:prstGeom prst="ellipse">
            <a:avLst/>
          </a:prstGeom>
          <a:solidFill>
            <a:schemeClr val="accent4"/>
          </a:solidFill>
          <a:ln/>
        </p:spPr>
      </p:sp>
      <p:pic>
        <p:nvPicPr>
          <p:cNvPr id="22" name="Image 2" descr="icon">    </p:cNvPr>
          <p:cNvPicPr>
            <a:picLocks noChangeAspect="1"/>
          </p:cNvPicPr>
          <p:nvPr/>
        </p:nvPicPr>
        <p:blipFill>
          <a:blip r:embed="rId3"/>
          <a:stretch>
            <a:fillRect/>
          </a:stretch>
        </p:blipFill>
        <p:spPr>
          <a:xfrm>
            <a:off x="1028700" y="4457700"/>
            <a:ext cx="411480" cy="411480"/>
          </a:xfrm>
          <a:prstGeom prst="rect">
            <a:avLst/>
          </a:prstGeom>
        </p:spPr>
      </p:pic>
      <p:sp>
        <p:nvSpPr>
          <p:cNvPr id="23" name="Text 17"/>
          <p:cNvSpPr txBox="1"/>
          <p:nvPr/>
        </p:nvSpPr>
        <p:spPr>
          <a:xfrm>
            <a:off x="1828800" y="423367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Beaconing</a:t>
            </a:r>
            <a:endParaRPr lang="en-US" sz="2200" dirty="0"/>
          </a:p>
        </p:txBody>
      </p:sp>
      <p:sp>
        <p:nvSpPr>
          <p:cNvPr id="24" name="chip"/>
          <p:cNvSpPr/>
          <p:nvPr/>
        </p:nvSpPr>
        <p:spPr>
          <a:xfrm>
            <a:off x="4572000" y="4279392"/>
            <a:ext cx="1188720" cy="365760"/>
          </a:xfrm>
          <a:prstGeom prst="roundRect">
            <a:avLst>
              <a:gd name="adj" fmla="val 50000"/>
            </a:avLst>
          </a:prstGeom>
          <a:solidFill>
            <a:schemeClr val="accent6"/>
          </a:solidFill>
          <a:ln/>
        </p:spPr>
      </p:sp>
      <p:sp>
        <p:nvSpPr>
          <p:cNvPr id="25" name="Text 19"/>
          <p:cNvSpPr txBox="1"/>
          <p:nvPr/>
        </p:nvSpPr>
        <p:spPr>
          <a:xfrm>
            <a:off x="4572000" y="427939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T1071.001</a:t>
            </a:r>
            <a:endParaRPr lang="en-US" sz="1200" dirty="0"/>
          </a:p>
        </p:txBody>
      </p:sp>
      <p:sp>
        <p:nvSpPr>
          <p:cNvPr id="26" name="Text 20"/>
          <p:cNvSpPr txBox="1"/>
          <p:nvPr/>
        </p:nvSpPr>
        <p:spPr>
          <a:xfrm>
            <a:off x="1828800" y="475488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10+ accepted connections, jitter under 15%</a:t>
            </a:r>
            <a:endParaRPr lang="en-US" sz="1500" dirty="0"/>
          </a:p>
        </p:txBody>
      </p:sp>
      <p:sp>
        <p:nvSpPr>
          <p:cNvPr id="27" name="Text 21"/>
          <p:cNvSpPr txBox="1"/>
          <p:nvPr/>
        </p:nvSpPr>
        <p:spPr>
          <a:xfrm>
            <a:off x="822960" y="566928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13 check-ins, 1.0003 s apart</a:t>
            </a:r>
            <a:endParaRPr lang="en-US" sz="1700" dirty="0"/>
          </a:p>
        </p:txBody>
      </p:sp>
      <p:sp>
        <p:nvSpPr>
          <p:cNvPr id="28" name="card"/>
          <p:cNvSpPr/>
          <p:nvPr/>
        </p:nvSpPr>
        <p:spPr>
          <a:xfrm>
            <a:off x="6172200" y="3977640"/>
            <a:ext cx="5440680" cy="2377440"/>
          </a:xfrm>
          <a:prstGeom prst="roundRect">
            <a:avLst>
              <a:gd name="adj" fmla="val 3077"/>
            </a:avLst>
          </a:prstGeom>
          <a:solidFill>
            <a:schemeClr val="bg2"/>
          </a:solidFill>
          <a:ln/>
        </p:spPr>
      </p:sp>
      <p:sp>
        <p:nvSpPr>
          <p:cNvPr id="29" name="icon-bg"/>
          <p:cNvSpPr/>
          <p:nvPr/>
        </p:nvSpPr>
        <p:spPr>
          <a:xfrm>
            <a:off x="6446520" y="4251960"/>
            <a:ext cx="822960" cy="822960"/>
          </a:xfrm>
          <a:prstGeom prst="ellipse">
            <a:avLst/>
          </a:prstGeom>
          <a:solidFill>
            <a:schemeClr val="accent3"/>
          </a:solidFill>
          <a:ln/>
        </p:spPr>
      </p:sp>
      <p:pic>
        <p:nvPicPr>
          <p:cNvPr id="30" name="Image 3" descr="icon">    </p:cNvPr>
          <p:cNvPicPr>
            <a:picLocks noChangeAspect="1"/>
          </p:cNvPicPr>
          <p:nvPr/>
        </p:nvPicPr>
        <p:blipFill>
          <a:blip r:embed="rId4"/>
          <a:stretch>
            <a:fillRect/>
          </a:stretch>
        </p:blipFill>
        <p:spPr>
          <a:xfrm>
            <a:off x="6652260" y="4457700"/>
            <a:ext cx="411480" cy="411480"/>
          </a:xfrm>
          <a:prstGeom prst="rect">
            <a:avLst/>
          </a:prstGeom>
        </p:spPr>
      </p:pic>
      <p:sp>
        <p:nvSpPr>
          <p:cNvPr id="31" name="Text 24"/>
          <p:cNvSpPr txBox="1"/>
          <p:nvPr/>
        </p:nvSpPr>
        <p:spPr>
          <a:xfrm>
            <a:off x="7452360" y="4233672"/>
            <a:ext cx="2651760" cy="457200"/>
          </a:xfrm>
          <a:prstGeom prst="rect">
            <a:avLst/>
          </a:prstGeom>
          <a:noFill/>
          <a:ln/>
        </p:spPr>
        <p:txBody>
          <a:bodyPr wrap="square" lIns="0" tIns="0" rIns="0" bIns="0" rtlCol="0" anchor="ctr"/>
          <a:lstStyle/>
          <a:p>
            <a:pPr indent="0" marL="0">
              <a:buNone/>
            </a:pPr>
            <a:r>
              <a:rPr lang="en-US" sz="2200" b="1" dirty="0">
                <a:solidFill>
                  <a:schemeClr val="tx1"/>
                </a:solidFill>
              </a:rPr>
              <a:t>DNS tunnel</a:t>
            </a:r>
            <a:endParaRPr lang="en-US" sz="2200" dirty="0"/>
          </a:p>
        </p:txBody>
      </p:sp>
      <p:sp>
        <p:nvSpPr>
          <p:cNvPr id="32" name="chip"/>
          <p:cNvSpPr/>
          <p:nvPr/>
        </p:nvSpPr>
        <p:spPr>
          <a:xfrm>
            <a:off x="10195560" y="4279392"/>
            <a:ext cx="1188720" cy="365760"/>
          </a:xfrm>
          <a:prstGeom prst="roundRect">
            <a:avLst>
              <a:gd name="adj" fmla="val 50000"/>
            </a:avLst>
          </a:prstGeom>
          <a:solidFill>
            <a:schemeClr val="accent6"/>
          </a:solidFill>
          <a:ln/>
        </p:spPr>
      </p:sp>
      <p:sp>
        <p:nvSpPr>
          <p:cNvPr id="33" name="Text 26"/>
          <p:cNvSpPr txBox="1"/>
          <p:nvPr/>
        </p:nvSpPr>
        <p:spPr>
          <a:xfrm>
            <a:off x="10195560" y="4279392"/>
            <a:ext cx="1188720" cy="365760"/>
          </a:xfrm>
          <a:prstGeom prst="rect">
            <a:avLst/>
          </a:prstGeom>
          <a:noFill/>
          <a:ln/>
        </p:spPr>
        <p:txBody>
          <a:bodyPr wrap="square" lIns="0" tIns="0" rIns="0" bIns="0" rtlCol="0" anchor="ctr"/>
          <a:lstStyle/>
          <a:p>
            <a:pPr algn="ctr" indent="0" marL="0">
              <a:buNone/>
            </a:pPr>
            <a:r>
              <a:rPr lang="en-US" sz="1200" b="1" dirty="0">
                <a:solidFill>
                  <a:schemeClr val="bg1"/>
                </a:solidFill>
              </a:rPr>
              <a:t>T1071.004</a:t>
            </a:r>
            <a:endParaRPr lang="en-US" sz="1200" dirty="0"/>
          </a:p>
        </p:txBody>
      </p:sp>
      <p:sp>
        <p:nvSpPr>
          <p:cNvPr id="34" name="Text 27"/>
          <p:cNvSpPr txBox="1"/>
          <p:nvPr/>
        </p:nvSpPr>
        <p:spPr>
          <a:xfrm>
            <a:off x="7452360" y="4754880"/>
            <a:ext cx="3931920" cy="731520"/>
          </a:xfrm>
          <a:prstGeom prst="rect">
            <a:avLst/>
          </a:prstGeom>
          <a:noFill/>
          <a:ln/>
        </p:spPr>
        <p:txBody>
          <a:bodyPr wrap="square" lIns="0" tIns="0" rIns="0" bIns="0" rtlCol="0" anchor="t"/>
          <a:lstStyle/>
          <a:p>
            <a:pPr indent="0" marL="0">
              <a:buNone/>
            </a:pPr>
            <a:r>
              <a:rPr lang="en-US" sz="1500" dirty="0">
                <a:solidFill>
                  <a:schemeClr val="accent6"/>
                </a:solidFill>
              </a:rPr>
              <a:t>10+ lookups with 2 of 4 signals: entropy, length, subdomains, TXT</a:t>
            </a:r>
            <a:endParaRPr lang="en-US" sz="1500" dirty="0"/>
          </a:p>
        </p:txBody>
      </p:sp>
      <p:sp>
        <p:nvSpPr>
          <p:cNvPr id="35" name="Text 28"/>
          <p:cNvSpPr txBox="1"/>
          <p:nvPr/>
        </p:nvSpPr>
        <p:spPr>
          <a:xfrm>
            <a:off x="6446520" y="5669280"/>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Demo: 14 TXT lookups, names 67 chars</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Three clocks catch fast and slow attackers</a:t>
            </a:r>
            <a:endParaRPr lang="en-US" sz="3400" dirty="0"/>
          </a:p>
        </p:txBody>
      </p:sp>
      <p:graphicFrame>
        <p:nvGraphicFramePr>
          <p:cNvPr id="4" name="Chart 0" descr=""/>
          <p:cNvGraphicFramePr/>
          <p:nvPr/>
        </p:nvGraphicFramePr>
        <p:xfrm>
          <a:off x="548640" y="137160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183880" y="1463040"/>
            <a:ext cx="3429000" cy="4572000"/>
          </a:xfrm>
          <a:prstGeom prst="roundRect">
            <a:avLst>
              <a:gd name="adj" fmla="val 2133"/>
            </a:avLst>
          </a:prstGeom>
          <a:solidFill>
            <a:schemeClr val="bg2"/>
          </a:solidFill>
          <a:ln/>
        </p:spPr>
      </p:sp>
      <p:sp>
        <p:nvSpPr>
          <p:cNvPr id="6" name="Text 2"/>
          <p:cNvSpPr txBox="1"/>
          <p:nvPr/>
        </p:nvSpPr>
        <p:spPr>
          <a:xfrm>
            <a:off x="8458200" y="1691640"/>
            <a:ext cx="2926080" cy="457200"/>
          </a:xfrm>
          <a:prstGeom prst="rect">
            <a:avLst/>
          </a:prstGeom>
          <a:noFill/>
          <a:ln/>
        </p:spPr>
        <p:txBody>
          <a:bodyPr wrap="square" lIns="0" tIns="0" rIns="0" bIns="0" rtlCol="0" anchor="ctr"/>
          <a:lstStyle/>
          <a:p>
            <a:pPr indent="0" marL="0">
              <a:buNone/>
            </a:pPr>
            <a:r>
              <a:rPr lang="en-US" sz="2000" b="1" dirty="0">
                <a:solidFill>
                  <a:schemeClr val="tx1"/>
                </a:solidFill>
              </a:rPr>
              <a:t>Why it matters</a:t>
            </a:r>
            <a:endParaRPr lang="en-US" sz="2000" dirty="0"/>
          </a:p>
        </p:txBody>
      </p:sp>
      <p:sp>
        <p:nvSpPr>
          <p:cNvPr id="7" name="Text 3"/>
          <p:cNvSpPr txBox="1"/>
          <p:nvPr/>
        </p:nvSpPr>
        <p:spPr>
          <a:xfrm>
            <a:off x="8458200" y="2240280"/>
            <a:ext cx="2971800" cy="35661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slow scan stays under the 10 s threshold: about 1 port.</a:t>
            </a:r>
            <a:endParaRPr lang="en-US" sz="1600" dirty="0"/>
          </a:p>
          <a:p>
            <a:pPr marL="342900" indent="-342900">
              <a:spcAft>
                <a:spcPts val="1000"/>
              </a:spcAft>
              <a:buSzPct val="100000"/>
              <a:buChar char="•"/>
            </a:pPr>
            <a:r>
              <a:rPr lang="en-US" sz="1600" dirty="0">
                <a:solidFill>
                  <a:schemeClr val="tx1"/>
                </a:solidFill>
              </a:rPr>
              <a:t>The 5 min and 1 h windows see 20 and 240 ports and fire.</a:t>
            </a:r>
            <a:endParaRPr lang="en-US" sz="1600" dirty="0"/>
          </a:p>
          <a:p>
            <a:pPr marL="342900" indent="-342900">
              <a:spcAft>
                <a:spcPts val="1000"/>
              </a:spcAft>
              <a:buSzPct val="100000"/>
              <a:buChar char="•"/>
            </a:pPr>
            <a:r>
              <a:rPr lang="en-US" sz="1600" dirty="0">
                <a:solidFill>
                  <a:schemeClr val="tx1"/>
                </a:solidFill>
              </a:rPr>
              <a:t>Fast attacks are caught within seconds; slow ones still get caught.</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Tested live: attacks caught, noise silent</a:t>
            </a:r>
            <a:endParaRPr lang="en-US" sz="3400" dirty="0"/>
          </a:p>
        </p:txBody>
      </p:sp>
      <p:graphicFrame>
        <p:nvGraphicFramePr>
          <p:cNvPr id="4" name="Chart 0" descr=""/>
          <p:cNvGraphicFramePr/>
          <p:nvPr/>
        </p:nvGraphicFramePr>
        <p:xfrm>
          <a:off x="548640" y="1371600"/>
          <a:ext cx="5852160" cy="47548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6675120" y="1463040"/>
            <a:ext cx="2331720" cy="2103120"/>
          </a:xfrm>
          <a:prstGeom prst="roundRect">
            <a:avLst>
              <a:gd name="adj" fmla="val 3478"/>
            </a:avLst>
          </a:prstGeom>
          <a:solidFill>
            <a:schemeClr val="bg2"/>
          </a:solidFill>
          <a:ln/>
        </p:spPr>
      </p:sp>
      <p:sp>
        <p:nvSpPr>
          <p:cNvPr id="6" name="Text 2"/>
          <p:cNvSpPr txBox="1"/>
          <p:nvPr/>
        </p:nvSpPr>
        <p:spPr>
          <a:xfrm>
            <a:off x="6766560" y="1737360"/>
            <a:ext cx="2148840" cy="914400"/>
          </a:xfrm>
          <a:prstGeom prst="rect">
            <a:avLst/>
          </a:prstGeom>
          <a:noFill/>
          <a:ln/>
        </p:spPr>
        <p:txBody>
          <a:bodyPr wrap="square" lIns="0" tIns="0" rIns="0" bIns="0" rtlCol="0" anchor="ctr"/>
          <a:lstStyle/>
          <a:p>
            <a:pPr algn="ctr" indent="0" marL="0">
              <a:buNone/>
            </a:pPr>
            <a:r>
              <a:rPr lang="en-US" sz="4000" b="1" dirty="0">
                <a:solidFill>
                  <a:schemeClr val="accent1"/>
                </a:solidFill>
              </a:rPr>
              <a:t>4 / 4</a:t>
            </a:r>
            <a:endParaRPr lang="en-US" sz="4000" dirty="0"/>
          </a:p>
        </p:txBody>
      </p:sp>
      <p:sp>
        <p:nvSpPr>
          <p:cNvPr id="7" name="Text 3"/>
          <p:cNvSpPr txBox="1"/>
          <p:nvPr/>
        </p:nvSpPr>
        <p:spPr>
          <a:xfrm>
            <a:off x="6858000" y="269748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attacks detected live</a:t>
            </a:r>
            <a:endParaRPr lang="en-US" sz="1500" dirty="0"/>
          </a:p>
        </p:txBody>
      </p:sp>
      <p:sp>
        <p:nvSpPr>
          <p:cNvPr id="8" name="card"/>
          <p:cNvSpPr/>
          <p:nvPr/>
        </p:nvSpPr>
        <p:spPr>
          <a:xfrm>
            <a:off x="9189720" y="1463040"/>
            <a:ext cx="2331720" cy="2103120"/>
          </a:xfrm>
          <a:prstGeom prst="roundRect">
            <a:avLst>
              <a:gd name="adj" fmla="val 3478"/>
            </a:avLst>
          </a:prstGeom>
          <a:solidFill>
            <a:schemeClr val="bg2"/>
          </a:solidFill>
          <a:ln/>
        </p:spPr>
      </p:sp>
      <p:sp>
        <p:nvSpPr>
          <p:cNvPr id="9" name="Text 5"/>
          <p:cNvSpPr txBox="1"/>
          <p:nvPr/>
        </p:nvSpPr>
        <p:spPr>
          <a:xfrm>
            <a:off x="9281160" y="1737360"/>
            <a:ext cx="2148840" cy="914400"/>
          </a:xfrm>
          <a:prstGeom prst="rect">
            <a:avLst/>
          </a:prstGeom>
          <a:noFill/>
          <a:ln/>
        </p:spPr>
        <p:txBody>
          <a:bodyPr wrap="square" lIns="0" tIns="0" rIns="0" bIns="0" rtlCol="0" anchor="ctr"/>
          <a:lstStyle/>
          <a:p>
            <a:pPr algn="ctr" indent="0" marL="0">
              <a:buNone/>
            </a:pPr>
            <a:r>
              <a:rPr lang="en-US" sz="4000" b="1" dirty="0">
                <a:solidFill>
                  <a:schemeClr val="accent3"/>
                </a:solidFill>
              </a:rPr>
              <a:t>0</a:t>
            </a:r>
            <a:endParaRPr lang="en-US" sz="4000" dirty="0"/>
          </a:p>
        </p:txBody>
      </p:sp>
      <p:sp>
        <p:nvSpPr>
          <p:cNvPr id="10" name="Text 6"/>
          <p:cNvSpPr txBox="1"/>
          <p:nvPr/>
        </p:nvSpPr>
        <p:spPr>
          <a:xfrm>
            <a:off x="9372600" y="269748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alerts on normal web traffic</a:t>
            </a:r>
            <a:endParaRPr lang="en-US" sz="1500" dirty="0"/>
          </a:p>
        </p:txBody>
      </p:sp>
      <p:sp>
        <p:nvSpPr>
          <p:cNvPr id="11" name="card"/>
          <p:cNvSpPr/>
          <p:nvPr/>
        </p:nvSpPr>
        <p:spPr>
          <a:xfrm>
            <a:off x="6675120" y="3703320"/>
            <a:ext cx="2331720" cy="2103120"/>
          </a:xfrm>
          <a:prstGeom prst="roundRect">
            <a:avLst>
              <a:gd name="adj" fmla="val 3478"/>
            </a:avLst>
          </a:prstGeom>
          <a:solidFill>
            <a:schemeClr val="bg2"/>
          </a:solidFill>
          <a:ln/>
        </p:spPr>
      </p:sp>
      <p:sp>
        <p:nvSpPr>
          <p:cNvPr id="12" name="Text 8"/>
          <p:cNvSpPr txBox="1"/>
          <p:nvPr/>
        </p:nvSpPr>
        <p:spPr>
          <a:xfrm>
            <a:off x="6766560" y="3977640"/>
            <a:ext cx="2148840" cy="914400"/>
          </a:xfrm>
          <a:prstGeom prst="rect">
            <a:avLst/>
          </a:prstGeom>
          <a:noFill/>
          <a:ln/>
        </p:spPr>
        <p:txBody>
          <a:bodyPr wrap="square" lIns="0" tIns="0" rIns="0" bIns="0" rtlCol="0" anchor="ctr"/>
          <a:lstStyle/>
          <a:p>
            <a:pPr algn="ctr" indent="0" marL="0">
              <a:buNone/>
            </a:pPr>
            <a:r>
              <a:rPr lang="en-US" sz="4000" b="1" dirty="0">
                <a:solidFill>
                  <a:schemeClr val="accent4"/>
                </a:solidFill>
              </a:rPr>
              <a:t>48 / 48</a:t>
            </a:r>
            <a:endParaRPr lang="en-US" sz="4000" dirty="0"/>
          </a:p>
        </p:txBody>
      </p:sp>
      <p:sp>
        <p:nvSpPr>
          <p:cNvPr id="13" name="Text 9"/>
          <p:cNvSpPr txBox="1"/>
          <p:nvPr/>
        </p:nvSpPr>
        <p:spPr>
          <a:xfrm>
            <a:off x="6858000" y="493776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grid-phase checks passed</a:t>
            </a:r>
            <a:endParaRPr lang="en-US" sz="1500" dirty="0"/>
          </a:p>
        </p:txBody>
      </p:sp>
      <p:sp>
        <p:nvSpPr>
          <p:cNvPr id="14" name="card"/>
          <p:cNvSpPr/>
          <p:nvPr/>
        </p:nvSpPr>
        <p:spPr>
          <a:xfrm>
            <a:off x="9189720" y="3703320"/>
            <a:ext cx="2331720" cy="2103120"/>
          </a:xfrm>
          <a:prstGeom prst="roundRect">
            <a:avLst>
              <a:gd name="adj" fmla="val 3478"/>
            </a:avLst>
          </a:prstGeom>
          <a:solidFill>
            <a:schemeClr val="bg2"/>
          </a:solidFill>
          <a:ln/>
        </p:spPr>
      </p:sp>
      <p:sp>
        <p:nvSpPr>
          <p:cNvPr id="15" name="Text 11"/>
          <p:cNvSpPr txBox="1"/>
          <p:nvPr/>
        </p:nvSpPr>
        <p:spPr>
          <a:xfrm>
            <a:off x="9281160" y="3977640"/>
            <a:ext cx="2148840" cy="914400"/>
          </a:xfrm>
          <a:prstGeom prst="rect">
            <a:avLst/>
          </a:prstGeom>
          <a:noFill/>
          <a:ln/>
        </p:spPr>
        <p:txBody>
          <a:bodyPr wrap="square" lIns="0" tIns="0" rIns="0" bIns="0" rtlCol="0" anchor="ctr"/>
          <a:lstStyle/>
          <a:p>
            <a:pPr algn="ctr" indent="0" marL="0">
              <a:buNone/>
            </a:pPr>
            <a:r>
              <a:rPr lang="en-US" sz="4000" b="1" dirty="0">
                <a:solidFill>
                  <a:schemeClr val="accent2"/>
                </a:solidFill>
              </a:rPr>
              <a:t>0</a:t>
            </a:r>
            <a:endParaRPr lang="en-US" sz="4000" dirty="0"/>
          </a:p>
        </p:txBody>
      </p:sp>
      <p:sp>
        <p:nvSpPr>
          <p:cNvPr id="16" name="Text 12"/>
          <p:cNvSpPr txBox="1"/>
          <p:nvPr/>
        </p:nvSpPr>
        <p:spPr>
          <a:xfrm>
            <a:off x="9372600" y="4937760"/>
            <a:ext cx="1965960" cy="777240"/>
          </a:xfrm>
          <a:prstGeom prst="rect">
            <a:avLst/>
          </a:prstGeom>
          <a:noFill/>
          <a:ln/>
        </p:spPr>
        <p:txBody>
          <a:bodyPr wrap="square" lIns="0" tIns="0" rIns="0" bIns="0" rtlCol="0" anchor="t"/>
          <a:lstStyle/>
          <a:p>
            <a:pPr algn="ctr" indent="0" marL="0">
              <a:buNone/>
            </a:pPr>
            <a:r>
              <a:rPr lang="en-US" sz="1500" dirty="0">
                <a:solidFill>
                  <a:schemeClr val="tx1"/>
                </a:solidFill>
              </a:rPr>
              <a:t>false alarms, 12 benign networks</a:t>
            </a:r>
            <a:endParaRPr lang="en-US" sz="1500" dirty="0"/>
          </a:p>
        </p:txBody>
      </p:sp>
      <p:sp>
        <p:nvSpPr>
          <p:cNvPr id="17" name="Text 13"/>
          <p:cNvSpPr txBox="1"/>
          <p:nvPr/>
        </p:nvSpPr>
        <p:spPr>
          <a:xfrm>
            <a:off x="6675120" y="5943600"/>
            <a:ext cx="4937760" cy="411480"/>
          </a:xfrm>
          <a:prstGeom prst="rect">
            <a:avLst/>
          </a:prstGeom>
          <a:noFill/>
          <a:ln/>
        </p:spPr>
        <p:txBody>
          <a:bodyPr wrap="square" lIns="0" tIns="0" rIns="0" bIns="0" rtlCol="0" anchor="t"/>
          <a:lstStyle/>
          <a:p>
            <a:pPr indent="0" marL="0">
              <a:buNone/>
            </a:pPr>
            <a:r>
              <a:rPr lang="en-US" sz="1200" dirty="0">
                <a:solidFill>
                  <a:schemeClr val="accent6"/>
                </a:solidFill>
              </a:rPr>
              <a:t>Localhost run, 10-second window only, notifications off. Alert time varies with the 10 s grid.</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Criticals stay pinned on top</a:t>
            </a:r>
            <a:endParaRPr lang="en-US" sz="3400" dirty="0"/>
          </a:p>
        </p:txBody>
      </p:sp>
      <p:sp>
        <p:nvSpPr>
          <p:cNvPr id="4" name="terminal"/>
          <p:cNvSpPr/>
          <p:nvPr/>
        </p:nvSpPr>
        <p:spPr>
          <a:xfrm>
            <a:off x="548640" y="1371600"/>
            <a:ext cx="7589520" cy="4800600"/>
          </a:xfrm>
          <a:prstGeom prst="roundRect">
            <a:avLst>
              <a:gd name="adj" fmla="val 1524"/>
            </a:avLst>
          </a:prstGeom>
          <a:solidFill>
            <a:schemeClr val="tx1"/>
          </a:solidFill>
          <a:ln w="12700">
            <a:solidFill>
              <a:schemeClr val="accent6"/>
            </a:solidFill>
            <a:prstDash val="solid"/>
          </a:ln>
        </p:spPr>
      </p:sp>
      <p:sp>
        <p:nvSpPr>
          <p:cNvPr id="5" name="term-header"/>
          <p:cNvSpPr/>
          <p:nvPr/>
        </p:nvSpPr>
        <p:spPr>
          <a:xfrm>
            <a:off x="658368" y="1481328"/>
            <a:ext cx="7370064" cy="310896"/>
          </a:xfrm>
          <a:prstGeom prst="rect">
            <a:avLst/>
          </a:prstGeom>
          <a:solidFill>
            <a:schemeClr val="bg2"/>
          </a:solidFill>
          <a:ln/>
        </p:spPr>
      </p:sp>
      <p:sp>
        <p:nvSpPr>
          <p:cNvPr id="6" name="Text 3"/>
          <p:cNvSpPr txBox="1"/>
          <p:nvPr/>
        </p:nvSpPr>
        <p:spPr>
          <a:xfrm>
            <a:off x="731520" y="1481328"/>
            <a:ext cx="7223760" cy="310896"/>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SENTINEL | watch lo0 | 01:12 | events 4183 | CRIT 4 | q quit  c clear</a:t>
            </a:r>
            <a:endParaRPr lang="en-US" sz="1200" dirty="0"/>
          </a:p>
        </p:txBody>
      </p:sp>
      <p:sp>
        <p:nvSpPr>
          <p:cNvPr id="7" name="Text 4"/>
          <p:cNvSpPr txBox="1"/>
          <p:nvPr/>
        </p:nvSpPr>
        <p:spPr>
          <a:xfrm>
            <a:off x="731520" y="1901952"/>
            <a:ext cx="7223760" cy="2926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PINNED: CRITICAL ALERTS (4)  every one stays; newest on top</a:t>
            </a:r>
            <a:endParaRPr lang="en-US" sz="1200" dirty="0"/>
          </a:p>
        </p:txBody>
      </p:sp>
      <p:sp>
        <p:nvSpPr>
          <p:cNvPr id="8" name="badge"/>
          <p:cNvSpPr/>
          <p:nvPr/>
        </p:nvSpPr>
        <p:spPr>
          <a:xfrm>
            <a:off x="731520" y="2249424"/>
            <a:ext cx="1417320" cy="292608"/>
          </a:xfrm>
          <a:prstGeom prst="rect">
            <a:avLst/>
          </a:prstGeom>
          <a:solidFill>
            <a:schemeClr val="accent1"/>
          </a:solidFill>
          <a:ln/>
        </p:spPr>
      </p:sp>
      <p:sp>
        <p:nvSpPr>
          <p:cNvPr id="9" name="Text 6"/>
          <p:cNvSpPr txBox="1"/>
          <p:nvPr/>
        </p:nvSpPr>
        <p:spPr>
          <a:xfrm>
            <a:off x="731520" y="2249424"/>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0" name="Text 7"/>
          <p:cNvSpPr txBox="1"/>
          <p:nvPr/>
        </p:nvSpPr>
        <p:spPr>
          <a:xfrm>
            <a:off x="2286000" y="2249424"/>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23:52:00  Unusual DNS requests that may hide data</a:t>
            </a:r>
            <a:endParaRPr lang="en-US" sz="1100" dirty="0"/>
          </a:p>
        </p:txBody>
      </p:sp>
      <p:sp>
        <p:nvSpPr>
          <p:cNvPr id="11" name="badge"/>
          <p:cNvSpPr/>
          <p:nvPr/>
        </p:nvSpPr>
        <p:spPr>
          <a:xfrm>
            <a:off x="731520" y="2578608"/>
            <a:ext cx="1417320" cy="292608"/>
          </a:xfrm>
          <a:prstGeom prst="rect">
            <a:avLst/>
          </a:prstGeom>
          <a:solidFill>
            <a:schemeClr val="accent1"/>
          </a:solidFill>
          <a:ln/>
        </p:spPr>
      </p:sp>
      <p:sp>
        <p:nvSpPr>
          <p:cNvPr id="12" name="Text 9"/>
          <p:cNvSpPr txBox="1"/>
          <p:nvPr/>
        </p:nvSpPr>
        <p:spPr>
          <a:xfrm>
            <a:off x="731520" y="2578608"/>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3" name="Text 10"/>
          <p:cNvSpPr txBox="1"/>
          <p:nvPr/>
        </p:nvSpPr>
        <p:spPr>
          <a:xfrm>
            <a:off x="2286000" y="2578608"/>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23:51:40  Device contacts one server at fixed intervals</a:t>
            </a:r>
            <a:endParaRPr lang="en-US" sz="1100" dirty="0"/>
          </a:p>
        </p:txBody>
      </p:sp>
      <p:sp>
        <p:nvSpPr>
          <p:cNvPr id="14" name="badge"/>
          <p:cNvSpPr/>
          <p:nvPr/>
        </p:nvSpPr>
        <p:spPr>
          <a:xfrm>
            <a:off x="731520" y="2907792"/>
            <a:ext cx="1417320" cy="292608"/>
          </a:xfrm>
          <a:prstGeom prst="rect">
            <a:avLst/>
          </a:prstGeom>
          <a:solidFill>
            <a:schemeClr val="accent1"/>
          </a:solidFill>
          <a:ln/>
        </p:spPr>
      </p:sp>
      <p:sp>
        <p:nvSpPr>
          <p:cNvPr id="15" name="Text 12"/>
          <p:cNvSpPr txBox="1"/>
          <p:nvPr/>
        </p:nvSpPr>
        <p:spPr>
          <a:xfrm>
            <a:off x="731520" y="2907792"/>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6" name="Text 13"/>
          <p:cNvSpPr txBox="1"/>
          <p:nvPr/>
        </p:nvSpPr>
        <p:spPr>
          <a:xfrm>
            <a:off x="2286000" y="2907792"/>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23:51:10  Repeated login attempts against a service</a:t>
            </a:r>
            <a:endParaRPr lang="en-US" sz="1100" dirty="0"/>
          </a:p>
        </p:txBody>
      </p:sp>
      <p:sp>
        <p:nvSpPr>
          <p:cNvPr id="17" name="badge"/>
          <p:cNvSpPr/>
          <p:nvPr/>
        </p:nvSpPr>
        <p:spPr>
          <a:xfrm>
            <a:off x="731520" y="3236976"/>
            <a:ext cx="1417320" cy="292608"/>
          </a:xfrm>
          <a:prstGeom prst="rect">
            <a:avLst/>
          </a:prstGeom>
          <a:solidFill>
            <a:schemeClr val="accent1"/>
          </a:solidFill>
          <a:ln/>
        </p:spPr>
      </p:sp>
      <p:sp>
        <p:nvSpPr>
          <p:cNvPr id="18" name="Text 15"/>
          <p:cNvSpPr txBox="1"/>
          <p:nvPr/>
        </p:nvSpPr>
        <p:spPr>
          <a:xfrm>
            <a:off x="731520" y="3236976"/>
            <a:ext cx="1417320" cy="292608"/>
          </a:xfrm>
          <a:prstGeom prst="rect">
            <a:avLst/>
          </a:prstGeom>
          <a:noFill/>
          <a:ln/>
        </p:spPr>
        <p:txBody>
          <a:bodyPr wrap="square" lIns="0" tIns="0" rIns="0" bIns="0"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CRITICAL 1.00</a:t>
            </a:r>
            <a:endParaRPr lang="en-US" sz="1200" dirty="0"/>
          </a:p>
        </p:txBody>
      </p:sp>
      <p:sp>
        <p:nvSpPr>
          <p:cNvPr id="19" name="Text 16"/>
          <p:cNvSpPr txBox="1"/>
          <p:nvPr/>
        </p:nvSpPr>
        <p:spPr>
          <a:xfrm>
            <a:off x="2286000" y="3236976"/>
            <a:ext cx="5669280" cy="29260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23:51:00  Device is probing many network ports</a:t>
            </a:r>
            <a:endParaRPr lang="en-US" sz="1100" dirty="0"/>
          </a:p>
        </p:txBody>
      </p:sp>
      <p:sp>
        <p:nvSpPr>
          <p:cNvPr id="20" name="Text 17"/>
          <p:cNvSpPr txBox="1"/>
          <p:nvPr/>
        </p:nvSpPr>
        <p:spPr>
          <a:xfrm>
            <a:off x="731520" y="3657600"/>
            <a:ext cx="722376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RECENT TRAFFIC (sliding window)</a:t>
            </a:r>
            <a:endParaRPr lang="en-US" sz="1200" dirty="0"/>
          </a:p>
        </p:txBody>
      </p:sp>
      <p:sp>
        <p:nvSpPr>
          <p:cNvPr id="21" name="Text 18"/>
          <p:cNvSpPr txBox="1"/>
          <p:nvPr/>
        </p:nvSpPr>
        <p:spPr>
          <a:xfrm>
            <a:off x="731520" y="3986784"/>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23:52:01.220 127.0.0.1:55012 -&gt; 127.0.0.1:53 udp  dns? x7k2...</a:t>
            </a:r>
            <a:endParaRPr lang="en-US" sz="1100" dirty="0"/>
          </a:p>
        </p:txBody>
      </p:sp>
      <p:sp>
        <p:nvSpPr>
          <p:cNvPr id="22" name="Text 19"/>
          <p:cNvSpPr txBox="1"/>
          <p:nvPr/>
        </p:nvSpPr>
        <p:spPr>
          <a:xfrm>
            <a:off x="731520" y="4270248"/>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23:52:01.331 127.0.0.1:55013 -&gt; 127.0.0.1:53 udp  dns? q9m4...</a:t>
            </a:r>
            <a:endParaRPr lang="en-US" sz="1100" dirty="0"/>
          </a:p>
        </p:txBody>
      </p:sp>
      <p:sp>
        <p:nvSpPr>
          <p:cNvPr id="23" name="Text 20"/>
          <p:cNvSpPr txBox="1"/>
          <p:nvPr/>
        </p:nvSpPr>
        <p:spPr>
          <a:xfrm>
            <a:off x="731520" y="4553712"/>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23:52:01.442 127.0.0.1:55014 -&gt; 127.0.0.1:53 udp  dns? b3zt...</a:t>
            </a:r>
            <a:endParaRPr lang="en-US" sz="1100" dirty="0"/>
          </a:p>
        </p:txBody>
      </p:sp>
      <p:sp>
        <p:nvSpPr>
          <p:cNvPr id="24" name="Text 21"/>
          <p:cNvSpPr txBox="1"/>
          <p:nvPr/>
        </p:nvSpPr>
        <p:spPr>
          <a:xfrm>
            <a:off x="731520" y="4837176"/>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23:52:01.553 127.0.0.1:55015 -&gt; 127.0.0.1:53 udp  dns? h8w1...</a:t>
            </a:r>
            <a:endParaRPr lang="en-US" sz="1100" dirty="0"/>
          </a:p>
        </p:txBody>
      </p:sp>
      <p:sp>
        <p:nvSpPr>
          <p:cNvPr id="25" name="Text 22"/>
          <p:cNvSpPr txBox="1"/>
          <p:nvPr/>
        </p:nvSpPr>
        <p:spPr>
          <a:xfrm>
            <a:off x="731520" y="5120640"/>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23:52:01.664 127.0.0.1:55016 -&gt; 127.0.0.1:53 udp  dns? n5r6...</a:t>
            </a:r>
            <a:endParaRPr lang="en-US" sz="1100" dirty="0"/>
          </a:p>
        </p:txBody>
      </p:sp>
      <p:sp>
        <p:nvSpPr>
          <p:cNvPr id="26" name="Text 23"/>
          <p:cNvSpPr txBox="1"/>
          <p:nvPr/>
        </p:nvSpPr>
        <p:spPr>
          <a:xfrm>
            <a:off x="731520" y="5404104"/>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23:52:01.775 127.0.0.1:55017 -&gt; 127.0.0.1:53 udp  dns? c2v0...</a:t>
            </a:r>
            <a:endParaRPr lang="en-US" sz="1100" dirty="0"/>
          </a:p>
        </p:txBody>
      </p:sp>
      <p:sp>
        <p:nvSpPr>
          <p:cNvPr id="27" name="Text 24"/>
          <p:cNvSpPr txBox="1"/>
          <p:nvPr/>
        </p:nvSpPr>
        <p:spPr>
          <a:xfrm>
            <a:off x="731520" y="5687568"/>
            <a:ext cx="7223760" cy="274320"/>
          </a:xfrm>
          <a:prstGeom prst="rect">
            <a:avLst/>
          </a:prstGeom>
          <a:noFill/>
          <a:ln/>
        </p:spPr>
        <p:txBody>
          <a:bodyPr wrap="square" lIns="0" tIns="0" rIns="0" bIns="0" rtlCol="0" anchor="ctr"/>
          <a:lstStyle/>
          <a:p>
            <a:pPr indent="0" marL="0">
              <a:buNone/>
            </a:pPr>
            <a:r>
              <a:rPr lang="en-US" sz="1100" dirty="0">
                <a:solidFill>
                  <a:schemeClr val="accent5"/>
                </a:solidFill>
                <a:latin typeface="Courier New" pitchFamily="34" charset="0"/>
                <a:ea typeface="Courier New" pitchFamily="34" charset="-122"/>
                <a:cs typeface="Courier New" pitchFamily="34" charset="-120"/>
              </a:rPr>
              <a:t>23:52:01.886 127.0.0.1:55018 -&gt; 127.0.0.1:53 udp  dns? p4d8...</a:t>
            </a:r>
            <a:endParaRPr lang="en-US" sz="1100" dirty="0"/>
          </a:p>
        </p:txBody>
      </p:sp>
      <p:sp>
        <p:nvSpPr>
          <p:cNvPr id="28" name="num"/>
          <p:cNvSpPr/>
          <p:nvPr/>
        </p:nvSpPr>
        <p:spPr>
          <a:xfrm>
            <a:off x="8503920" y="1463040"/>
            <a:ext cx="548640" cy="548640"/>
          </a:xfrm>
          <a:prstGeom prst="ellipse">
            <a:avLst/>
          </a:prstGeom>
          <a:solidFill>
            <a:schemeClr val="accent1"/>
          </a:solidFill>
          <a:ln/>
        </p:spPr>
      </p:sp>
      <p:sp>
        <p:nvSpPr>
          <p:cNvPr id="29" name="Text 26"/>
          <p:cNvSpPr txBox="1"/>
          <p:nvPr/>
        </p:nvSpPr>
        <p:spPr>
          <a:xfrm>
            <a:off x="8503920"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30" name="Text 27"/>
          <p:cNvSpPr txBox="1"/>
          <p:nvPr/>
        </p:nvSpPr>
        <p:spPr>
          <a:xfrm>
            <a:off x="9235440" y="1444752"/>
            <a:ext cx="2377440" cy="365760"/>
          </a:xfrm>
          <a:prstGeom prst="rect">
            <a:avLst/>
          </a:prstGeom>
          <a:noFill/>
          <a:ln/>
        </p:spPr>
        <p:txBody>
          <a:bodyPr wrap="square" lIns="0" tIns="0" rIns="0" bIns="0" rtlCol="0" anchor="ctr"/>
          <a:lstStyle/>
          <a:p>
            <a:pPr indent="0" marL="0">
              <a:buNone/>
            </a:pPr>
            <a:r>
              <a:rPr lang="en-US" sz="1900" b="1" dirty="0">
                <a:solidFill>
                  <a:schemeClr val="tx1"/>
                </a:solidFill>
              </a:rPr>
              <a:t>Pinned</a:t>
            </a:r>
            <a:endParaRPr lang="en-US" sz="1900" dirty="0"/>
          </a:p>
        </p:txBody>
      </p:sp>
      <p:sp>
        <p:nvSpPr>
          <p:cNvPr id="31" name="Text 28"/>
          <p:cNvSpPr txBox="1"/>
          <p:nvPr/>
        </p:nvSpPr>
        <p:spPr>
          <a:xfrm>
            <a:off x="9235440" y="1847088"/>
            <a:ext cx="2377440" cy="1005840"/>
          </a:xfrm>
          <a:prstGeom prst="rect">
            <a:avLst/>
          </a:prstGeom>
          <a:noFill/>
          <a:ln/>
        </p:spPr>
        <p:txBody>
          <a:bodyPr wrap="square" lIns="0" tIns="0" rIns="0" bIns="0" rtlCol="0" anchor="t"/>
          <a:lstStyle/>
          <a:p>
            <a:pPr indent="0" marL="0">
              <a:buNone/>
            </a:pPr>
            <a:r>
              <a:rPr lang="en-US" sz="1400" dirty="0">
                <a:solidFill>
                  <a:schemeClr val="accent6"/>
                </a:solidFill>
              </a:rPr>
              <a:t>Every critical alert stacks, newest on top, and stays until you clear it.</a:t>
            </a:r>
            <a:endParaRPr lang="en-US" sz="1400" dirty="0"/>
          </a:p>
        </p:txBody>
      </p:sp>
      <p:sp>
        <p:nvSpPr>
          <p:cNvPr id="32" name="num"/>
          <p:cNvSpPr/>
          <p:nvPr/>
        </p:nvSpPr>
        <p:spPr>
          <a:xfrm>
            <a:off x="8503920" y="3063240"/>
            <a:ext cx="548640" cy="548640"/>
          </a:xfrm>
          <a:prstGeom prst="ellipse">
            <a:avLst/>
          </a:prstGeom>
          <a:solidFill>
            <a:schemeClr val="accent1"/>
          </a:solidFill>
          <a:ln/>
        </p:spPr>
      </p:sp>
      <p:sp>
        <p:nvSpPr>
          <p:cNvPr id="33" name="Text 30"/>
          <p:cNvSpPr txBox="1"/>
          <p:nvPr/>
        </p:nvSpPr>
        <p:spPr>
          <a:xfrm>
            <a:off x="8503920" y="30632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34" name="Text 31"/>
          <p:cNvSpPr txBox="1"/>
          <p:nvPr/>
        </p:nvSpPr>
        <p:spPr>
          <a:xfrm>
            <a:off x="9235440" y="3044952"/>
            <a:ext cx="2377440" cy="365760"/>
          </a:xfrm>
          <a:prstGeom prst="rect">
            <a:avLst/>
          </a:prstGeom>
          <a:noFill/>
          <a:ln/>
        </p:spPr>
        <p:txBody>
          <a:bodyPr wrap="square" lIns="0" tIns="0" rIns="0" bIns="0" rtlCol="0" anchor="ctr"/>
          <a:lstStyle/>
          <a:p>
            <a:pPr indent="0" marL="0">
              <a:buNone/>
            </a:pPr>
            <a:r>
              <a:rPr lang="en-US" sz="1900" b="1" dirty="0">
                <a:solidFill>
                  <a:schemeClr val="tx1"/>
                </a:solidFill>
              </a:rPr>
              <a:t>Counter</a:t>
            </a:r>
            <a:endParaRPr lang="en-US" sz="1900" dirty="0"/>
          </a:p>
        </p:txBody>
      </p:sp>
      <p:sp>
        <p:nvSpPr>
          <p:cNvPr id="35" name="Text 32"/>
          <p:cNvSpPr txBox="1"/>
          <p:nvPr/>
        </p:nvSpPr>
        <p:spPr>
          <a:xfrm>
            <a:off x="9235440" y="3447288"/>
            <a:ext cx="2377440" cy="1005840"/>
          </a:xfrm>
          <a:prstGeom prst="rect">
            <a:avLst/>
          </a:prstGeom>
          <a:noFill/>
          <a:ln/>
        </p:spPr>
        <p:txBody>
          <a:bodyPr wrap="square" lIns="0" tIns="0" rIns="0" bIns="0" rtlCol="0" anchor="t"/>
          <a:lstStyle/>
          <a:p>
            <a:pPr indent="0" marL="0">
              <a:buNone/>
            </a:pPr>
            <a:r>
              <a:rPr lang="en-US" sz="1400" dirty="0">
                <a:solidFill>
                  <a:schemeClr val="accent6"/>
                </a:solidFill>
              </a:rPr>
              <a:t>CRIT goes up by one for each critical alert.</a:t>
            </a:r>
            <a:endParaRPr lang="en-US" sz="1400" dirty="0"/>
          </a:p>
        </p:txBody>
      </p:sp>
      <p:sp>
        <p:nvSpPr>
          <p:cNvPr id="36" name="num"/>
          <p:cNvSpPr/>
          <p:nvPr/>
        </p:nvSpPr>
        <p:spPr>
          <a:xfrm>
            <a:off x="8503920" y="4663440"/>
            <a:ext cx="548640" cy="548640"/>
          </a:xfrm>
          <a:prstGeom prst="ellipse">
            <a:avLst/>
          </a:prstGeom>
          <a:solidFill>
            <a:schemeClr val="accent1"/>
          </a:solidFill>
          <a:ln/>
        </p:spPr>
      </p:sp>
      <p:sp>
        <p:nvSpPr>
          <p:cNvPr id="37" name="Text 34"/>
          <p:cNvSpPr txBox="1"/>
          <p:nvPr/>
        </p:nvSpPr>
        <p:spPr>
          <a:xfrm>
            <a:off x="8503920" y="46634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8" name="Text 35"/>
          <p:cNvSpPr txBox="1"/>
          <p:nvPr/>
        </p:nvSpPr>
        <p:spPr>
          <a:xfrm>
            <a:off x="9235440" y="4645152"/>
            <a:ext cx="2377440" cy="365760"/>
          </a:xfrm>
          <a:prstGeom prst="rect">
            <a:avLst/>
          </a:prstGeom>
          <a:noFill/>
          <a:ln/>
        </p:spPr>
        <p:txBody>
          <a:bodyPr wrap="square" lIns="0" tIns="0" rIns="0" bIns="0" rtlCol="0" anchor="ctr"/>
          <a:lstStyle/>
          <a:p>
            <a:pPr indent="0" marL="0">
              <a:buNone/>
            </a:pPr>
            <a:r>
              <a:rPr lang="en-US" sz="1900" b="1" dirty="0">
                <a:solidFill>
                  <a:schemeClr val="tx1"/>
                </a:solidFill>
              </a:rPr>
              <a:t>Sliding window</a:t>
            </a:r>
            <a:endParaRPr lang="en-US" sz="1900" dirty="0"/>
          </a:p>
        </p:txBody>
      </p:sp>
      <p:sp>
        <p:nvSpPr>
          <p:cNvPr id="39" name="Text 36"/>
          <p:cNvSpPr txBox="1"/>
          <p:nvPr/>
        </p:nvSpPr>
        <p:spPr>
          <a:xfrm>
            <a:off x="9235440" y="5047488"/>
            <a:ext cx="2377440" cy="1005840"/>
          </a:xfrm>
          <a:prstGeom prst="rect">
            <a:avLst/>
          </a:prstGeom>
          <a:noFill/>
          <a:ln/>
        </p:spPr>
        <p:txBody>
          <a:bodyPr wrap="square" lIns="0" tIns="0" rIns="0" bIns="0" rtlCol="0" anchor="t"/>
          <a:lstStyle/>
          <a:p>
            <a:pPr indent="0" marL="0">
              <a:buNone/>
            </a:pPr>
            <a:r>
              <a:rPr lang="en-US" sz="1400" dirty="0">
                <a:solidFill>
                  <a:schemeClr val="accent6"/>
                </a:solidFill>
              </a:rPr>
              <a:t>Recent traffic fills the rest of the screen and adapts to the terminal size.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From incident to Slack, safely</a:t>
            </a:r>
            <a:endParaRPr lang="en-US" sz="3400" dirty="0"/>
          </a:p>
        </p:txBody>
      </p:sp>
      <p:sp>
        <p:nvSpPr>
          <p:cNvPr id="4" name="step"/>
          <p:cNvSpPr/>
          <p:nvPr/>
        </p:nvSpPr>
        <p:spPr>
          <a:xfrm>
            <a:off x="548640" y="1463040"/>
            <a:ext cx="1920240" cy="1051560"/>
          </a:xfrm>
          <a:prstGeom prst="roundRect">
            <a:avLst>
              <a:gd name="adj" fmla="val 8696"/>
            </a:avLst>
          </a:prstGeom>
          <a:solidFill>
            <a:schemeClr val="accent6"/>
          </a:solidFill>
          <a:ln/>
        </p:spPr>
      </p:sp>
      <p:sp>
        <p:nvSpPr>
          <p:cNvPr id="5" name="Text 2"/>
          <p:cNvSpPr txBox="1"/>
          <p:nvPr/>
        </p:nvSpPr>
        <p:spPr>
          <a:xfrm>
            <a:off x="548640" y="1463040"/>
            <a:ext cx="1920240" cy="1051560"/>
          </a:xfrm>
          <a:prstGeom prst="rect">
            <a:avLst/>
          </a:prstGeom>
          <a:noFill/>
          <a:ln/>
        </p:spPr>
        <p:txBody>
          <a:bodyPr wrap="square" lIns="0" tIns="0" rIns="0" bIns="0" rtlCol="0" anchor="ctr"/>
          <a:lstStyle/>
          <a:p>
            <a:pPr algn="ctr" indent="0" marL="0">
              <a:buNone/>
            </a:pPr>
            <a:r>
              <a:rPr lang="en-US" sz="1800" b="1" dirty="0">
                <a:solidFill>
                  <a:schemeClr val="bg1"/>
                </a:solidFill>
              </a:rPr>
              <a:t>Incident</a:t>
            </a:r>
            <a:endParaRPr lang="en-US" sz="1800" dirty="0"/>
          </a:p>
        </p:txBody>
      </p:sp>
      <p:sp>
        <p:nvSpPr>
          <p:cNvPr id="6" name="Text 3"/>
          <p:cNvSpPr txBox="1"/>
          <p:nvPr/>
        </p:nvSpPr>
        <p:spPr>
          <a:xfrm>
            <a:off x="50292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from the rules</a:t>
            </a:r>
            <a:endParaRPr lang="en-US" sz="1300" dirty="0"/>
          </a:p>
        </p:txBody>
      </p:sp>
      <p:sp>
        <p:nvSpPr>
          <p:cNvPr id="7" name="arrow"/>
          <p:cNvSpPr/>
          <p:nvPr/>
        </p:nvSpPr>
        <p:spPr>
          <a:xfrm>
            <a:off x="2487168" y="1993392"/>
            <a:ext cx="283464" cy="0"/>
          </a:xfrm>
          <a:prstGeom prst="line">
            <a:avLst/>
          </a:prstGeom>
          <a:noFill/>
          <a:ln w="31750">
            <a:solidFill>
              <a:schemeClr val="accent5"/>
            </a:solidFill>
            <a:prstDash val="solid"/>
            <a:tailEnd type="triangle"/>
          </a:ln>
        </p:spPr>
      </p:sp>
      <p:sp>
        <p:nvSpPr>
          <p:cNvPr id="8" name="step"/>
          <p:cNvSpPr/>
          <p:nvPr/>
        </p:nvSpPr>
        <p:spPr>
          <a:xfrm>
            <a:off x="2788920" y="1463040"/>
            <a:ext cx="1920240" cy="1051560"/>
          </a:xfrm>
          <a:prstGeom prst="roundRect">
            <a:avLst>
              <a:gd name="adj" fmla="val 8696"/>
            </a:avLst>
          </a:prstGeom>
          <a:solidFill>
            <a:schemeClr val="accent3"/>
          </a:solidFill>
          <a:ln/>
        </p:spPr>
      </p:sp>
      <p:sp>
        <p:nvSpPr>
          <p:cNvPr id="9" name="Text 6"/>
          <p:cNvSpPr txBox="1"/>
          <p:nvPr/>
        </p:nvSpPr>
        <p:spPr>
          <a:xfrm>
            <a:off x="2788920" y="1463040"/>
            <a:ext cx="1920240" cy="1051560"/>
          </a:xfrm>
          <a:prstGeom prst="rect">
            <a:avLst/>
          </a:prstGeom>
          <a:noFill/>
          <a:ln/>
        </p:spPr>
        <p:txBody>
          <a:bodyPr wrap="square" lIns="0" tIns="0" rIns="0" bIns="0" rtlCol="0" anchor="ctr"/>
          <a:lstStyle/>
          <a:p>
            <a:pPr algn="ctr" indent="0" marL="0">
              <a:buNone/>
            </a:pPr>
            <a:r>
              <a:rPr lang="en-US" sz="1800" b="1" dirty="0">
                <a:solidFill>
                  <a:schemeClr val="bg1"/>
                </a:solidFill>
              </a:rPr>
              <a:t>Sanitizer</a:t>
            </a:r>
            <a:endParaRPr lang="en-US" sz="1800" dirty="0"/>
          </a:p>
        </p:txBody>
      </p:sp>
      <p:sp>
        <p:nvSpPr>
          <p:cNvPr id="10" name="Text 7"/>
          <p:cNvSpPr txBox="1"/>
          <p:nvPr/>
        </p:nvSpPr>
        <p:spPr>
          <a:xfrm>
            <a:off x="274320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only validated numbers and addresses pass</a:t>
            </a:r>
            <a:endParaRPr lang="en-US" sz="1300" dirty="0"/>
          </a:p>
        </p:txBody>
      </p:sp>
      <p:sp>
        <p:nvSpPr>
          <p:cNvPr id="11" name="arrow"/>
          <p:cNvSpPr/>
          <p:nvPr/>
        </p:nvSpPr>
        <p:spPr>
          <a:xfrm>
            <a:off x="4727448" y="1993392"/>
            <a:ext cx="283464" cy="0"/>
          </a:xfrm>
          <a:prstGeom prst="line">
            <a:avLst/>
          </a:prstGeom>
          <a:noFill/>
          <a:ln w="31750">
            <a:solidFill>
              <a:schemeClr val="accent5"/>
            </a:solidFill>
            <a:prstDash val="solid"/>
            <a:tailEnd type="triangle"/>
          </a:ln>
        </p:spPr>
      </p:sp>
      <p:sp>
        <p:nvSpPr>
          <p:cNvPr id="12" name="step"/>
          <p:cNvSpPr/>
          <p:nvPr/>
        </p:nvSpPr>
        <p:spPr>
          <a:xfrm>
            <a:off x="5029200" y="1463040"/>
            <a:ext cx="1920240" cy="1051560"/>
          </a:xfrm>
          <a:prstGeom prst="roundRect">
            <a:avLst>
              <a:gd name="adj" fmla="val 8696"/>
            </a:avLst>
          </a:prstGeom>
          <a:solidFill>
            <a:schemeClr val="accent2"/>
          </a:solidFill>
          <a:ln/>
        </p:spPr>
      </p:sp>
      <p:sp>
        <p:nvSpPr>
          <p:cNvPr id="13" name="Text 10"/>
          <p:cNvSpPr txBox="1"/>
          <p:nvPr/>
        </p:nvSpPr>
        <p:spPr>
          <a:xfrm>
            <a:off x="5029200" y="1463040"/>
            <a:ext cx="1920240" cy="1051560"/>
          </a:xfrm>
          <a:prstGeom prst="rect">
            <a:avLst/>
          </a:prstGeom>
          <a:noFill/>
          <a:ln/>
        </p:spPr>
        <p:txBody>
          <a:bodyPr wrap="square" lIns="0" tIns="0" rIns="0" bIns="0" rtlCol="0" anchor="ctr"/>
          <a:lstStyle/>
          <a:p>
            <a:pPr algn="ctr" indent="0" marL="0">
              <a:buNone/>
            </a:pPr>
            <a:r>
              <a:rPr lang="en-US" sz="1800" b="1" dirty="0">
                <a:solidFill>
                  <a:schemeClr val="tx1"/>
                </a:solidFill>
              </a:rPr>
              <a:t>Gemma 4 E2B</a:t>
            </a:r>
            <a:endParaRPr lang="en-US" sz="1800" dirty="0"/>
          </a:p>
        </p:txBody>
      </p:sp>
      <p:sp>
        <p:nvSpPr>
          <p:cNvPr id="14" name="Text 11"/>
          <p:cNvSpPr txBox="1"/>
          <p:nvPr/>
        </p:nvSpPr>
        <p:spPr>
          <a:xfrm>
            <a:off x="498348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local LLM via Ollama or llama.cpp</a:t>
            </a:r>
            <a:endParaRPr lang="en-US" sz="1300" dirty="0"/>
          </a:p>
        </p:txBody>
      </p:sp>
      <p:sp>
        <p:nvSpPr>
          <p:cNvPr id="15" name="arrow"/>
          <p:cNvSpPr/>
          <p:nvPr/>
        </p:nvSpPr>
        <p:spPr>
          <a:xfrm>
            <a:off x="6967728" y="1993392"/>
            <a:ext cx="283464" cy="0"/>
          </a:xfrm>
          <a:prstGeom prst="line">
            <a:avLst/>
          </a:prstGeom>
          <a:noFill/>
          <a:ln w="31750">
            <a:solidFill>
              <a:schemeClr val="accent5"/>
            </a:solidFill>
            <a:prstDash val="solid"/>
            <a:tailEnd type="triangle"/>
          </a:ln>
        </p:spPr>
      </p:sp>
      <p:sp>
        <p:nvSpPr>
          <p:cNvPr id="16" name="step"/>
          <p:cNvSpPr/>
          <p:nvPr/>
        </p:nvSpPr>
        <p:spPr>
          <a:xfrm>
            <a:off x="7269480" y="1463040"/>
            <a:ext cx="1920240" cy="1051560"/>
          </a:xfrm>
          <a:prstGeom prst="roundRect">
            <a:avLst>
              <a:gd name="adj" fmla="val 8696"/>
            </a:avLst>
          </a:prstGeom>
          <a:solidFill>
            <a:schemeClr val="accent3"/>
          </a:solidFill>
          <a:ln/>
        </p:spPr>
      </p:sp>
      <p:sp>
        <p:nvSpPr>
          <p:cNvPr id="17" name="Text 14"/>
          <p:cNvSpPr txBox="1"/>
          <p:nvPr/>
        </p:nvSpPr>
        <p:spPr>
          <a:xfrm>
            <a:off x="7269480" y="1463040"/>
            <a:ext cx="1920240" cy="1051560"/>
          </a:xfrm>
          <a:prstGeom prst="rect">
            <a:avLst/>
          </a:prstGeom>
          <a:noFill/>
          <a:ln/>
        </p:spPr>
        <p:txBody>
          <a:bodyPr wrap="square" lIns="0" tIns="0" rIns="0" bIns="0" rtlCol="0" anchor="ctr"/>
          <a:lstStyle/>
          <a:p>
            <a:pPr algn="ctr" indent="0" marL="0">
              <a:buNone/>
            </a:pPr>
            <a:r>
              <a:rPr lang="en-US" sz="1800" b="1" dirty="0">
                <a:solidFill>
                  <a:schemeClr val="bg1"/>
                </a:solidFill>
              </a:rPr>
              <a:t>Faithfulness check</a:t>
            </a:r>
            <a:endParaRPr lang="en-US" sz="1800" dirty="0"/>
          </a:p>
        </p:txBody>
      </p:sp>
      <p:sp>
        <p:nvSpPr>
          <p:cNvPr id="18" name="Text 15"/>
          <p:cNvSpPr txBox="1"/>
          <p:nvPr/>
        </p:nvSpPr>
        <p:spPr>
          <a:xfrm>
            <a:off x="7223760" y="2606040"/>
            <a:ext cx="2011680" cy="685800"/>
          </a:xfrm>
          <a:prstGeom prst="rect">
            <a:avLst/>
          </a:prstGeom>
          <a:noFill/>
          <a:ln/>
        </p:spPr>
        <p:txBody>
          <a:bodyPr wrap="square" lIns="0" tIns="0" rIns="0" bIns="0" rtlCol="0" anchor="t"/>
          <a:lstStyle/>
          <a:p>
            <a:pPr algn="ctr" indent="0" marL="0">
              <a:buNone/>
            </a:pPr>
            <a:r>
              <a:rPr lang="en-US" sz="1300" dirty="0">
                <a:solidFill>
                  <a:schemeClr val="accent6"/>
                </a:solidFill>
              </a:rPr>
              <a:t>numbers, IPs, techniques must match evidence</a:t>
            </a:r>
            <a:endParaRPr lang="en-US" sz="1300" dirty="0"/>
          </a:p>
        </p:txBody>
      </p:sp>
      <p:sp>
        <p:nvSpPr>
          <p:cNvPr id="19" name="arrow"/>
          <p:cNvSpPr/>
          <p:nvPr/>
        </p:nvSpPr>
        <p:spPr>
          <a:xfrm>
            <a:off x="9208008" y="1993392"/>
            <a:ext cx="283464" cy="0"/>
          </a:xfrm>
          <a:prstGeom prst="line">
            <a:avLst/>
          </a:prstGeom>
          <a:noFill/>
          <a:ln w="31750">
            <a:solidFill>
              <a:schemeClr val="accent5"/>
            </a:solidFill>
            <a:prstDash val="solid"/>
            <a:tailEnd type="triangle"/>
          </a:ln>
        </p:spPr>
      </p:sp>
      <p:sp>
        <p:nvSpPr>
          <p:cNvPr id="20" name="channel"/>
          <p:cNvSpPr/>
          <p:nvPr/>
        </p:nvSpPr>
        <p:spPr>
          <a:xfrm>
            <a:off x="9509760" y="1371600"/>
            <a:ext cx="2103120" cy="548640"/>
          </a:xfrm>
          <a:prstGeom prst="roundRect">
            <a:avLst>
              <a:gd name="adj" fmla="val 16667"/>
            </a:avLst>
          </a:prstGeom>
          <a:solidFill>
            <a:schemeClr val="tx1"/>
          </a:solidFill>
          <a:ln/>
        </p:spPr>
      </p:sp>
      <p:pic>
        <p:nvPicPr>
          <p:cNvPr id="21" name="Image 0" descr="Slack">    </p:cNvPr>
          <p:cNvPicPr>
            <a:picLocks noChangeAspect="1"/>
          </p:cNvPicPr>
          <p:nvPr/>
        </p:nvPicPr>
        <p:blipFill>
          <a:blip r:embed="rId1"/>
          <a:stretch>
            <a:fillRect/>
          </a:stretch>
        </p:blipFill>
        <p:spPr>
          <a:xfrm>
            <a:off x="9646920" y="1481328"/>
            <a:ext cx="329184" cy="329184"/>
          </a:xfrm>
          <a:prstGeom prst="rect">
            <a:avLst/>
          </a:prstGeom>
        </p:spPr>
      </p:pic>
      <p:sp>
        <p:nvSpPr>
          <p:cNvPr id="22" name="Text 18"/>
          <p:cNvSpPr txBox="1"/>
          <p:nvPr/>
        </p:nvSpPr>
        <p:spPr>
          <a:xfrm>
            <a:off x="10104120" y="1371600"/>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Slack</a:t>
            </a:r>
            <a:endParaRPr lang="en-US" sz="1700" dirty="0"/>
          </a:p>
        </p:txBody>
      </p:sp>
      <p:sp>
        <p:nvSpPr>
          <p:cNvPr id="23" name="channel"/>
          <p:cNvSpPr/>
          <p:nvPr/>
        </p:nvSpPr>
        <p:spPr>
          <a:xfrm>
            <a:off x="9509760" y="2029968"/>
            <a:ext cx="2103120" cy="548640"/>
          </a:xfrm>
          <a:prstGeom prst="roundRect">
            <a:avLst>
              <a:gd name="adj" fmla="val 16667"/>
            </a:avLst>
          </a:prstGeom>
          <a:solidFill>
            <a:schemeClr val="tx1"/>
          </a:solidFill>
          <a:ln/>
        </p:spPr>
      </p:sp>
      <p:pic>
        <p:nvPicPr>
          <p:cNvPr id="24" name="Image 1" descr="Discord">    </p:cNvPr>
          <p:cNvPicPr>
            <a:picLocks noChangeAspect="1"/>
          </p:cNvPicPr>
          <p:nvPr/>
        </p:nvPicPr>
        <p:blipFill>
          <a:blip r:embed="rId2"/>
          <a:stretch>
            <a:fillRect/>
          </a:stretch>
        </p:blipFill>
        <p:spPr>
          <a:xfrm>
            <a:off x="9646920" y="2139696"/>
            <a:ext cx="329184" cy="329184"/>
          </a:xfrm>
          <a:prstGeom prst="rect">
            <a:avLst/>
          </a:prstGeom>
        </p:spPr>
      </p:pic>
      <p:sp>
        <p:nvSpPr>
          <p:cNvPr id="25" name="Text 20"/>
          <p:cNvSpPr txBox="1"/>
          <p:nvPr/>
        </p:nvSpPr>
        <p:spPr>
          <a:xfrm>
            <a:off x="10104120" y="2029968"/>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Discord</a:t>
            </a:r>
            <a:endParaRPr lang="en-US" sz="1700" dirty="0"/>
          </a:p>
        </p:txBody>
      </p:sp>
      <p:sp>
        <p:nvSpPr>
          <p:cNvPr id="26" name="channel"/>
          <p:cNvSpPr/>
          <p:nvPr/>
        </p:nvSpPr>
        <p:spPr>
          <a:xfrm>
            <a:off x="9509760" y="2688336"/>
            <a:ext cx="2103120" cy="548640"/>
          </a:xfrm>
          <a:prstGeom prst="roundRect">
            <a:avLst>
              <a:gd name="adj" fmla="val 16667"/>
            </a:avLst>
          </a:prstGeom>
          <a:solidFill>
            <a:schemeClr val="tx1"/>
          </a:solidFill>
          <a:ln/>
        </p:spPr>
      </p:sp>
      <p:pic>
        <p:nvPicPr>
          <p:cNvPr id="27" name="Image 2" descr="Telegram">    </p:cNvPr>
          <p:cNvPicPr>
            <a:picLocks noChangeAspect="1"/>
          </p:cNvPicPr>
          <p:nvPr/>
        </p:nvPicPr>
        <p:blipFill>
          <a:blip r:embed="rId3"/>
          <a:stretch>
            <a:fillRect/>
          </a:stretch>
        </p:blipFill>
        <p:spPr>
          <a:xfrm>
            <a:off x="9646920" y="2798064"/>
            <a:ext cx="329184" cy="329184"/>
          </a:xfrm>
          <a:prstGeom prst="rect">
            <a:avLst/>
          </a:prstGeom>
        </p:spPr>
      </p:pic>
      <p:sp>
        <p:nvSpPr>
          <p:cNvPr id="28" name="Text 22"/>
          <p:cNvSpPr txBox="1"/>
          <p:nvPr/>
        </p:nvSpPr>
        <p:spPr>
          <a:xfrm>
            <a:off x="10104120" y="2688336"/>
            <a:ext cx="1463040" cy="548640"/>
          </a:xfrm>
          <a:prstGeom prst="rect">
            <a:avLst/>
          </a:prstGeom>
          <a:noFill/>
          <a:ln/>
        </p:spPr>
        <p:txBody>
          <a:bodyPr wrap="square" lIns="0" tIns="0" rIns="0" bIns="0" rtlCol="0" anchor="ctr"/>
          <a:lstStyle/>
          <a:p>
            <a:pPr indent="0" marL="0">
              <a:buNone/>
            </a:pPr>
            <a:r>
              <a:rPr lang="en-US" sz="1700" b="1" dirty="0">
                <a:solidFill>
                  <a:schemeClr val="bg1"/>
                </a:solidFill>
              </a:rPr>
              <a:t>Telegram</a:t>
            </a:r>
            <a:endParaRPr lang="en-US" sz="1700" dirty="0"/>
          </a:p>
        </p:txBody>
      </p:sp>
      <p:sp>
        <p:nvSpPr>
          <p:cNvPr id="29" name="card"/>
          <p:cNvSpPr/>
          <p:nvPr/>
        </p:nvSpPr>
        <p:spPr>
          <a:xfrm>
            <a:off x="548640" y="3429000"/>
            <a:ext cx="3794760" cy="868680"/>
          </a:xfrm>
          <a:prstGeom prst="roundRect">
            <a:avLst>
              <a:gd name="adj" fmla="val 8421"/>
            </a:avLst>
          </a:prstGeom>
          <a:solidFill>
            <a:schemeClr val="bg2"/>
          </a:solidFill>
          <a:ln/>
        </p:spPr>
      </p:sp>
      <p:sp>
        <p:nvSpPr>
          <p:cNvPr id="30" name="Text 24"/>
          <p:cNvSpPr txBox="1"/>
          <p:nvPr/>
        </p:nvSpPr>
        <p:spPr>
          <a:xfrm>
            <a:off x="777240" y="3456432"/>
            <a:ext cx="3474720" cy="365760"/>
          </a:xfrm>
          <a:prstGeom prst="rect">
            <a:avLst/>
          </a:prstGeom>
          <a:noFill/>
          <a:ln/>
        </p:spPr>
        <p:txBody>
          <a:bodyPr wrap="square" lIns="0" tIns="0" rIns="0" bIns="0" rtlCol="0" anchor="ctr"/>
          <a:lstStyle/>
          <a:p>
            <a:pPr indent="0" marL="0">
              <a:buNone/>
            </a:pPr>
            <a:r>
              <a:rPr lang="en-US" sz="1500" b="1" dirty="0">
                <a:solidFill>
                  <a:schemeClr val="accent1"/>
                </a:solidFill>
              </a:rPr>
              <a:t>Model off, slow or wrong?</a:t>
            </a:r>
            <a:endParaRPr lang="en-US" sz="1500" dirty="0"/>
          </a:p>
        </p:txBody>
      </p:sp>
      <p:sp>
        <p:nvSpPr>
          <p:cNvPr id="31" name="Text 25"/>
          <p:cNvSpPr txBox="1"/>
          <p:nvPr/>
        </p:nvSpPr>
        <p:spPr>
          <a:xfrm>
            <a:off x="777240" y="3840480"/>
            <a:ext cx="3474720" cy="365760"/>
          </a:xfrm>
          <a:prstGeom prst="rect">
            <a:avLst/>
          </a:prstGeom>
          <a:noFill/>
          <a:ln/>
        </p:spPr>
        <p:txBody>
          <a:bodyPr wrap="square" lIns="0" tIns="0" rIns="0" bIns="0" rtlCol="0" anchor="ctr"/>
          <a:lstStyle/>
          <a:p>
            <a:pPr indent="0" marL="0">
              <a:buNone/>
            </a:pPr>
            <a:r>
              <a:rPr lang="en-US" sz="1500" dirty="0">
                <a:solidFill>
                  <a:schemeClr val="tx1"/>
                </a:solidFill>
              </a:rPr>
              <a:t>Built-in template text, same facts</a:t>
            </a:r>
            <a:endParaRPr lang="en-US" sz="1500" dirty="0"/>
          </a:p>
        </p:txBody>
      </p:sp>
      <p:sp>
        <p:nvSpPr>
          <p:cNvPr id="32" name="card"/>
          <p:cNvSpPr/>
          <p:nvPr/>
        </p:nvSpPr>
        <p:spPr>
          <a:xfrm>
            <a:off x="4572000" y="3429000"/>
            <a:ext cx="7040880" cy="2697480"/>
          </a:xfrm>
          <a:prstGeom prst="roundRect">
            <a:avLst>
              <a:gd name="adj" fmla="val 2712"/>
            </a:avLst>
          </a:prstGeom>
          <a:solidFill>
            <a:schemeClr val="bg2"/>
          </a:solidFill>
          <a:ln/>
        </p:spPr>
      </p:sp>
      <p:sp>
        <p:nvSpPr>
          <p:cNvPr id="33" name="chip"/>
          <p:cNvSpPr/>
          <p:nvPr/>
        </p:nvSpPr>
        <p:spPr>
          <a:xfrm>
            <a:off x="4846320" y="3657600"/>
            <a:ext cx="1371600" cy="365760"/>
          </a:xfrm>
          <a:prstGeom prst="roundRect">
            <a:avLst>
              <a:gd name="adj" fmla="val 50000"/>
            </a:avLst>
          </a:prstGeom>
          <a:solidFill>
            <a:schemeClr val="accent1"/>
          </a:solidFill>
          <a:ln/>
        </p:spPr>
      </p:sp>
      <p:sp>
        <p:nvSpPr>
          <p:cNvPr id="34" name="Text 28"/>
          <p:cNvSpPr txBox="1"/>
          <p:nvPr/>
        </p:nvSpPr>
        <p:spPr>
          <a:xfrm>
            <a:off x="4846320" y="3657600"/>
            <a:ext cx="1371600" cy="365760"/>
          </a:xfrm>
          <a:prstGeom prst="rect">
            <a:avLst/>
          </a:prstGeom>
          <a:noFill/>
          <a:ln/>
        </p:spPr>
        <p:txBody>
          <a:bodyPr wrap="square" lIns="0" tIns="0" rIns="0" bIns="0" rtlCol="0" anchor="ctr"/>
          <a:lstStyle/>
          <a:p>
            <a:pPr algn="ctr" indent="0" marL="0">
              <a:buNone/>
            </a:pPr>
            <a:r>
              <a:rPr lang="en-US" sz="1300" b="1" dirty="0">
                <a:solidFill>
                  <a:schemeClr val="bg1"/>
                </a:solidFill>
              </a:rPr>
              <a:t>CRITICAL</a:t>
            </a:r>
            <a:endParaRPr lang="en-US" sz="1300" dirty="0"/>
          </a:p>
        </p:txBody>
      </p:sp>
      <p:sp>
        <p:nvSpPr>
          <p:cNvPr id="35" name="Text 29"/>
          <p:cNvSpPr txBox="1"/>
          <p:nvPr/>
        </p:nvSpPr>
        <p:spPr>
          <a:xfrm>
            <a:off x="6355080" y="3657600"/>
            <a:ext cx="5120640" cy="365760"/>
          </a:xfrm>
          <a:prstGeom prst="rect">
            <a:avLst/>
          </a:prstGeom>
          <a:noFill/>
          <a:ln/>
        </p:spPr>
        <p:txBody>
          <a:bodyPr wrap="square" lIns="0" tIns="0" rIns="0" bIns="0" rtlCol="0" anchor="ctr"/>
          <a:lstStyle/>
          <a:p>
            <a:pPr indent="0" marL="0">
              <a:buNone/>
            </a:pPr>
            <a:r>
              <a:rPr lang="en-US" sz="1800" b="1" dirty="0">
                <a:solidFill>
                  <a:schemeClr val="tx1"/>
                </a:solidFill>
              </a:rPr>
              <a:t>Device is probing many network ports</a:t>
            </a:r>
            <a:endParaRPr lang="en-US" sz="1800" dirty="0"/>
          </a:p>
        </p:txBody>
      </p:sp>
      <p:sp>
        <p:nvSpPr>
          <p:cNvPr id="36" name="Text 30"/>
          <p:cNvSpPr txBox="1"/>
          <p:nvPr/>
        </p:nvSpPr>
        <p:spPr>
          <a:xfrm>
            <a:off x="4846320" y="4206240"/>
            <a:ext cx="6583680" cy="731520"/>
          </a:xfrm>
          <a:prstGeom prst="rect">
            <a:avLst/>
          </a:prstGeom>
          <a:noFill/>
          <a:ln/>
        </p:spPr>
        <p:txBody>
          <a:bodyPr wrap="square" lIns="0" tIns="0" rIns="0" bIns="0" rtlCol="0" anchor="t"/>
          <a:lstStyle/>
          <a:p>
            <a:pPr indent="0" marL="0">
              <a:buNone/>
            </a:pPr>
            <a:r>
              <a:rPr lang="en-US" sz="1500" dirty="0">
                <a:solidFill>
                  <a:schemeClr val="tx1"/>
                </a:solidFill>
              </a:rPr>
              <a:t>192.168.2.30 tried 400 different ports on 192.168.2.20 within 10 seconds, and 100% of the attempts failed.</a:t>
            </a:r>
            <a:endParaRPr lang="en-US" sz="1500" dirty="0"/>
          </a:p>
        </p:txBody>
      </p:sp>
      <p:sp>
        <p:nvSpPr>
          <p:cNvPr id="37" name="Text 31"/>
          <p:cNvSpPr txBox="1"/>
          <p:nvPr/>
        </p:nvSpPr>
        <p:spPr>
          <a:xfrm>
            <a:off x="4846320" y="4983480"/>
            <a:ext cx="6583680" cy="457200"/>
          </a:xfrm>
          <a:prstGeom prst="rect">
            <a:avLst/>
          </a:prstGeom>
          <a:noFill/>
          <a:ln/>
        </p:spPr>
        <p:txBody>
          <a:bodyPr wrap="square" lIns="0" tIns="0" rIns="0" bIns="0" rtlCol="0" anchor="t"/>
          <a:lstStyle/>
          <a:p>
            <a:pPr indent="0" marL="0">
              <a:buNone/>
            </a:pPr>
            <a:r>
              <a:rPr lang="en-US" sz="1500" dirty="0">
                <a:solidFill>
                  <a:schemeClr val="accent6"/>
                </a:solidFill>
              </a:rPr>
              <a:t>Suggested: if you do not recognise this activity, disconnect the device.</a:t>
            </a:r>
            <a:endParaRPr lang="en-US" sz="1500" dirty="0"/>
          </a:p>
        </p:txBody>
      </p:sp>
      <p:sp>
        <p:nvSpPr>
          <p:cNvPr id="38" name="Text 32"/>
          <p:cNvSpPr txBox="1"/>
          <p:nvPr/>
        </p:nvSpPr>
        <p:spPr>
          <a:xfrm>
            <a:off x="4846320" y="5577840"/>
            <a:ext cx="6583680" cy="365760"/>
          </a:xfrm>
          <a:prstGeom prst="rect">
            <a:avLst/>
          </a:prstGeom>
          <a:noFill/>
          <a:ln/>
        </p:spPr>
        <p:txBody>
          <a:bodyPr wrap="square" lIns="0" tIns="0" rIns="0" bIns="0" rtlCol="0" anchor="ctr"/>
          <a:lstStyle/>
          <a:p>
            <a:pPr indent="0" marL="0">
              <a:buNone/>
            </a:pPr>
            <a:r>
              <a:rPr lang="en-US" sz="1300" dirty="0">
                <a:solidFill>
                  <a:schemeClr val="accent5"/>
                </a:solidFill>
              </a:rPr>
              <a:t>T1046 Network Service Discovery · Confidence 100%</a:t>
            </a:r>
            <a:endParaRPr lang="en-US" sz="1300" dirty="0"/>
          </a:p>
        </p:txBody>
      </p:sp>
      <p:sp>
        <p:nvSpPr>
          <p:cNvPr id="39" name="Text 33"/>
          <p:cNvSpPr txBox="1"/>
          <p:nvPr/>
        </p:nvSpPr>
        <p:spPr>
          <a:xfrm>
            <a:off x="548640" y="4480560"/>
            <a:ext cx="3794760" cy="1463040"/>
          </a:xfrm>
          <a:prstGeom prst="rect">
            <a:avLst/>
          </a:prstGeom>
          <a:noFill/>
          <a:ln/>
        </p:spPr>
        <p:txBody>
          <a:bodyPr wrap="square" lIns="0" tIns="0" rIns="0" bIns="0" rtlCol="0" anchor="t"/>
          <a:lstStyle/>
          <a:p>
            <a:pPr indent="0" marL="0">
              <a:buNone/>
            </a:pPr>
            <a:r>
              <a:rPr lang="en-US" sz="1400" dirty="0">
                <a:solidFill>
                  <a:schemeClr val="accent6"/>
                </a:solidFill>
              </a:rPr>
              <a:t>Retries, circuit breaker, rate limits and disabled @mentions on every channel.</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Safe by design</a:t>
            </a:r>
            <a:endParaRPr lang="en-US" sz="3400" dirty="0"/>
          </a:p>
        </p:txBody>
      </p:sp>
      <p:sp>
        <p:nvSpPr>
          <p:cNvPr id="4" name="card"/>
          <p:cNvSpPr/>
          <p:nvPr/>
        </p:nvSpPr>
        <p:spPr>
          <a:xfrm>
            <a:off x="548640" y="1417320"/>
            <a:ext cx="3474720" cy="2286000"/>
          </a:xfrm>
          <a:prstGeom prst="roundRect">
            <a:avLst>
              <a:gd name="adj" fmla="val 3200"/>
            </a:avLst>
          </a:prstGeom>
          <a:solidFill>
            <a:schemeClr val="bg2"/>
          </a:solidFill>
          <a:ln/>
        </p:spPr>
      </p:sp>
      <p:sp>
        <p:nvSpPr>
          <p:cNvPr id="5" name="icon-bg"/>
          <p:cNvSpPr/>
          <p:nvPr/>
        </p:nvSpPr>
        <p:spPr>
          <a:xfrm>
            <a:off x="822960" y="1691640"/>
            <a:ext cx="731520" cy="731520"/>
          </a:xfrm>
          <a:prstGeom prst="ellipse">
            <a:avLst/>
          </a:prstGeom>
          <a:solidFill>
            <a:schemeClr val="accent3"/>
          </a:solidFill>
          <a:ln/>
        </p:spPr>
      </p:sp>
      <p:pic>
        <p:nvPicPr>
          <p:cNvPr id="6" name="Image 0" descr="icon">    </p:cNvPr>
          <p:cNvPicPr>
            <a:picLocks noChangeAspect="1"/>
          </p:cNvPicPr>
          <p:nvPr/>
        </p:nvPicPr>
        <p:blipFill>
          <a:blip r:embed="rId1"/>
          <a:stretch>
            <a:fillRect/>
          </a:stretch>
        </p:blipFill>
        <p:spPr>
          <a:xfrm>
            <a:off x="1005840" y="1874520"/>
            <a:ext cx="365760" cy="365760"/>
          </a:xfrm>
          <a:prstGeom prst="rect">
            <a:avLst/>
          </a:prstGeom>
        </p:spPr>
      </p:pic>
      <p:sp>
        <p:nvSpPr>
          <p:cNvPr id="7" name="Text 3"/>
          <p:cNvSpPr txBox="1"/>
          <p:nvPr/>
        </p:nvSpPr>
        <p:spPr>
          <a:xfrm>
            <a:off x="1737360" y="169164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Observe only</a:t>
            </a:r>
            <a:endParaRPr lang="en-US" sz="1900" dirty="0"/>
          </a:p>
        </p:txBody>
      </p:sp>
      <p:sp>
        <p:nvSpPr>
          <p:cNvPr id="8" name="Text 4"/>
          <p:cNvSpPr txBox="1"/>
          <p:nvPr/>
        </p:nvSpPr>
        <p:spPr>
          <a:xfrm>
            <a:off x="822960" y="260604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Never blocks or changes the network.</a:t>
            </a:r>
            <a:endParaRPr lang="en-US" sz="1700" dirty="0"/>
          </a:p>
        </p:txBody>
      </p:sp>
      <p:sp>
        <p:nvSpPr>
          <p:cNvPr id="9" name="card"/>
          <p:cNvSpPr/>
          <p:nvPr/>
        </p:nvSpPr>
        <p:spPr>
          <a:xfrm>
            <a:off x="4297680" y="1417320"/>
            <a:ext cx="3474720" cy="2286000"/>
          </a:xfrm>
          <a:prstGeom prst="roundRect">
            <a:avLst>
              <a:gd name="adj" fmla="val 3200"/>
            </a:avLst>
          </a:prstGeom>
          <a:solidFill>
            <a:schemeClr val="bg2"/>
          </a:solidFill>
          <a:ln/>
        </p:spPr>
      </p:sp>
      <p:sp>
        <p:nvSpPr>
          <p:cNvPr id="10" name="icon-bg"/>
          <p:cNvSpPr/>
          <p:nvPr/>
        </p:nvSpPr>
        <p:spPr>
          <a:xfrm>
            <a:off x="4572000" y="1691640"/>
            <a:ext cx="731520" cy="731520"/>
          </a:xfrm>
          <a:prstGeom prst="ellipse">
            <a:avLst/>
          </a:prstGeom>
          <a:solidFill>
            <a:schemeClr val="accent4"/>
          </a:solidFill>
          <a:ln/>
        </p:spPr>
      </p:sp>
      <p:pic>
        <p:nvPicPr>
          <p:cNvPr id="11" name="Image 1" descr="icon">    </p:cNvPr>
          <p:cNvPicPr>
            <a:picLocks noChangeAspect="1"/>
          </p:cNvPicPr>
          <p:nvPr/>
        </p:nvPicPr>
        <p:blipFill>
          <a:blip r:embed="rId2"/>
          <a:stretch>
            <a:fillRect/>
          </a:stretch>
        </p:blipFill>
        <p:spPr>
          <a:xfrm>
            <a:off x="4754880" y="1874520"/>
            <a:ext cx="365760" cy="365760"/>
          </a:xfrm>
          <a:prstGeom prst="rect">
            <a:avLst/>
          </a:prstGeom>
        </p:spPr>
      </p:pic>
      <p:sp>
        <p:nvSpPr>
          <p:cNvPr id="12" name="Text 7"/>
          <p:cNvSpPr txBox="1"/>
          <p:nvPr/>
        </p:nvSpPr>
        <p:spPr>
          <a:xfrm>
            <a:off x="5486400" y="169164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Hostile-text proof</a:t>
            </a:r>
            <a:endParaRPr lang="en-US" sz="1900" dirty="0"/>
          </a:p>
        </p:txBody>
      </p:sp>
      <p:sp>
        <p:nvSpPr>
          <p:cNvPr id="13" name="Text 8"/>
          <p:cNvSpPr txBox="1"/>
          <p:nvPr/>
        </p:nvSpPr>
        <p:spPr>
          <a:xfrm>
            <a:off x="4572000" y="260604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Network strings never reach the LLM, chat or terminal unescaped.</a:t>
            </a:r>
            <a:endParaRPr lang="en-US" sz="1700" dirty="0"/>
          </a:p>
        </p:txBody>
      </p:sp>
      <p:sp>
        <p:nvSpPr>
          <p:cNvPr id="14" name="card"/>
          <p:cNvSpPr/>
          <p:nvPr/>
        </p:nvSpPr>
        <p:spPr>
          <a:xfrm>
            <a:off x="8046720" y="1417320"/>
            <a:ext cx="3474720" cy="2286000"/>
          </a:xfrm>
          <a:prstGeom prst="roundRect">
            <a:avLst>
              <a:gd name="adj" fmla="val 3200"/>
            </a:avLst>
          </a:prstGeom>
          <a:solidFill>
            <a:schemeClr val="bg2"/>
          </a:solidFill>
          <a:ln/>
        </p:spPr>
      </p:sp>
      <p:sp>
        <p:nvSpPr>
          <p:cNvPr id="15" name="icon-bg"/>
          <p:cNvSpPr/>
          <p:nvPr/>
        </p:nvSpPr>
        <p:spPr>
          <a:xfrm>
            <a:off x="8321040" y="1691640"/>
            <a:ext cx="731520" cy="731520"/>
          </a:xfrm>
          <a:prstGeom prst="ellipse">
            <a:avLst/>
          </a:prstGeom>
          <a:solidFill>
            <a:schemeClr val="accent2"/>
          </a:solidFill>
          <a:ln/>
        </p:spPr>
      </p:sp>
      <p:pic>
        <p:nvPicPr>
          <p:cNvPr id="16" name="Image 2" descr="icon">    </p:cNvPr>
          <p:cNvPicPr>
            <a:picLocks noChangeAspect="1"/>
          </p:cNvPicPr>
          <p:nvPr/>
        </p:nvPicPr>
        <p:blipFill>
          <a:blip r:embed="rId3"/>
          <a:stretch>
            <a:fillRect/>
          </a:stretch>
        </p:blipFill>
        <p:spPr>
          <a:xfrm>
            <a:off x="8503920" y="1874520"/>
            <a:ext cx="365760" cy="365760"/>
          </a:xfrm>
          <a:prstGeom prst="rect">
            <a:avLst/>
          </a:prstGeom>
        </p:spPr>
      </p:pic>
      <p:sp>
        <p:nvSpPr>
          <p:cNvPr id="17" name="Text 11"/>
          <p:cNvSpPr txBox="1"/>
          <p:nvPr/>
        </p:nvSpPr>
        <p:spPr>
          <a:xfrm>
            <a:off x="9235440" y="169164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No payloads</a:t>
            </a:r>
            <a:endParaRPr lang="en-US" sz="1900" dirty="0"/>
          </a:p>
        </p:txBody>
      </p:sp>
      <p:sp>
        <p:nvSpPr>
          <p:cNvPr id="18" name="Text 12"/>
          <p:cNvSpPr txBox="1"/>
          <p:nvPr/>
        </p:nvSpPr>
        <p:spPr>
          <a:xfrm>
            <a:off x="8321040" y="260604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Stores alerts and summaries, not packet contents.</a:t>
            </a:r>
            <a:endParaRPr lang="en-US" sz="1700" dirty="0"/>
          </a:p>
        </p:txBody>
      </p:sp>
      <p:sp>
        <p:nvSpPr>
          <p:cNvPr id="19" name="card"/>
          <p:cNvSpPr/>
          <p:nvPr/>
        </p:nvSpPr>
        <p:spPr>
          <a:xfrm>
            <a:off x="548640" y="3886200"/>
            <a:ext cx="3474720" cy="2286000"/>
          </a:xfrm>
          <a:prstGeom prst="roundRect">
            <a:avLst>
              <a:gd name="adj" fmla="val 3200"/>
            </a:avLst>
          </a:prstGeom>
          <a:solidFill>
            <a:schemeClr val="bg2"/>
          </a:solidFill>
          <a:ln/>
        </p:spPr>
      </p:sp>
      <p:sp>
        <p:nvSpPr>
          <p:cNvPr id="20" name="icon-bg"/>
          <p:cNvSpPr/>
          <p:nvPr/>
        </p:nvSpPr>
        <p:spPr>
          <a:xfrm>
            <a:off x="822960" y="4160520"/>
            <a:ext cx="731520" cy="731520"/>
          </a:xfrm>
          <a:prstGeom prst="ellipse">
            <a:avLst/>
          </a:prstGeom>
          <a:solidFill>
            <a:schemeClr val="accent1"/>
          </a:solidFill>
          <a:ln/>
        </p:spPr>
      </p:sp>
      <p:pic>
        <p:nvPicPr>
          <p:cNvPr id="21" name="Image 3" descr="icon">    </p:cNvPr>
          <p:cNvPicPr>
            <a:picLocks noChangeAspect="1"/>
          </p:cNvPicPr>
          <p:nvPr/>
        </p:nvPicPr>
        <p:blipFill>
          <a:blip r:embed="rId4"/>
          <a:stretch>
            <a:fillRect/>
          </a:stretch>
        </p:blipFill>
        <p:spPr>
          <a:xfrm>
            <a:off x="1005840" y="4343400"/>
            <a:ext cx="365760" cy="365760"/>
          </a:xfrm>
          <a:prstGeom prst="rect">
            <a:avLst/>
          </a:prstGeom>
        </p:spPr>
      </p:pic>
      <p:sp>
        <p:nvSpPr>
          <p:cNvPr id="22" name="Text 15"/>
          <p:cNvSpPr txBox="1"/>
          <p:nvPr/>
        </p:nvSpPr>
        <p:spPr>
          <a:xfrm>
            <a:off x="1737360" y="416052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Secrets stay private</a:t>
            </a:r>
            <a:endParaRPr lang="en-US" sz="1900" dirty="0"/>
          </a:p>
        </p:txBody>
      </p:sp>
      <p:sp>
        <p:nvSpPr>
          <p:cNvPr id="23" name="Text 16"/>
          <p:cNvSpPr txBox="1"/>
          <p:nvPr/>
        </p:nvSpPr>
        <p:spPr>
          <a:xfrm>
            <a:off x="822960" y="507492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Webhook URLs and tokens in a chmod 600 file, never printed.</a:t>
            </a:r>
            <a:endParaRPr lang="en-US" sz="1700" dirty="0"/>
          </a:p>
        </p:txBody>
      </p:sp>
      <p:sp>
        <p:nvSpPr>
          <p:cNvPr id="24" name="card"/>
          <p:cNvSpPr/>
          <p:nvPr/>
        </p:nvSpPr>
        <p:spPr>
          <a:xfrm>
            <a:off x="4297680" y="3886200"/>
            <a:ext cx="3474720" cy="2286000"/>
          </a:xfrm>
          <a:prstGeom prst="roundRect">
            <a:avLst>
              <a:gd name="adj" fmla="val 3200"/>
            </a:avLst>
          </a:prstGeom>
          <a:solidFill>
            <a:schemeClr val="bg2"/>
          </a:solidFill>
          <a:ln/>
        </p:spPr>
      </p:sp>
      <p:sp>
        <p:nvSpPr>
          <p:cNvPr id="25" name="icon-bg"/>
          <p:cNvSpPr/>
          <p:nvPr/>
        </p:nvSpPr>
        <p:spPr>
          <a:xfrm>
            <a:off x="4572000" y="4160520"/>
            <a:ext cx="731520" cy="731520"/>
          </a:xfrm>
          <a:prstGeom prst="ellipse">
            <a:avLst/>
          </a:prstGeom>
          <a:solidFill>
            <a:schemeClr val="accent3"/>
          </a:solidFill>
          <a:ln/>
        </p:spPr>
      </p:sp>
      <p:pic>
        <p:nvPicPr>
          <p:cNvPr id="26" name="Image 4" descr="icon">    </p:cNvPr>
          <p:cNvPicPr>
            <a:picLocks noChangeAspect="1"/>
          </p:cNvPicPr>
          <p:nvPr/>
        </p:nvPicPr>
        <p:blipFill>
          <a:blip r:embed="rId5"/>
          <a:stretch>
            <a:fillRect/>
          </a:stretch>
        </p:blipFill>
        <p:spPr>
          <a:xfrm>
            <a:off x="4754880" y="4343400"/>
            <a:ext cx="365760" cy="365760"/>
          </a:xfrm>
          <a:prstGeom prst="rect">
            <a:avLst/>
          </a:prstGeom>
        </p:spPr>
      </p:pic>
      <p:sp>
        <p:nvSpPr>
          <p:cNvPr id="27" name="Text 19"/>
          <p:cNvSpPr txBox="1"/>
          <p:nvPr/>
        </p:nvSpPr>
        <p:spPr>
          <a:xfrm>
            <a:off x="5486400" y="416052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Local-first</a:t>
            </a:r>
            <a:endParaRPr lang="en-US" sz="1900" dirty="0"/>
          </a:p>
        </p:txBody>
      </p:sp>
      <p:sp>
        <p:nvSpPr>
          <p:cNvPr id="28" name="Text 20"/>
          <p:cNvSpPr txBox="1"/>
          <p:nvPr/>
        </p:nvSpPr>
        <p:spPr>
          <a:xfrm>
            <a:off x="4572000" y="507492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The LLM runs on your machine; only alerts you choose leave.</a:t>
            </a:r>
            <a:endParaRPr lang="en-US" sz="1700" dirty="0"/>
          </a:p>
        </p:txBody>
      </p:sp>
      <p:sp>
        <p:nvSpPr>
          <p:cNvPr id="29" name="card"/>
          <p:cNvSpPr/>
          <p:nvPr/>
        </p:nvSpPr>
        <p:spPr>
          <a:xfrm>
            <a:off x="8046720" y="3886200"/>
            <a:ext cx="3474720" cy="2286000"/>
          </a:xfrm>
          <a:prstGeom prst="roundRect">
            <a:avLst>
              <a:gd name="adj" fmla="val 3200"/>
            </a:avLst>
          </a:prstGeom>
          <a:solidFill>
            <a:schemeClr val="bg2"/>
          </a:solidFill>
          <a:ln/>
        </p:spPr>
      </p:sp>
      <p:sp>
        <p:nvSpPr>
          <p:cNvPr id="30" name="icon-bg"/>
          <p:cNvSpPr/>
          <p:nvPr/>
        </p:nvSpPr>
        <p:spPr>
          <a:xfrm>
            <a:off x="8321040" y="4160520"/>
            <a:ext cx="731520" cy="731520"/>
          </a:xfrm>
          <a:prstGeom prst="ellipse">
            <a:avLst/>
          </a:prstGeom>
          <a:solidFill>
            <a:schemeClr val="accent4"/>
          </a:solidFill>
          <a:ln/>
        </p:spPr>
      </p:sp>
      <p:pic>
        <p:nvPicPr>
          <p:cNvPr id="31" name="Image 5" descr="icon">    </p:cNvPr>
          <p:cNvPicPr>
            <a:picLocks noChangeAspect="1"/>
          </p:cNvPicPr>
          <p:nvPr/>
        </p:nvPicPr>
        <p:blipFill>
          <a:blip r:embed="rId6"/>
          <a:stretch>
            <a:fillRect/>
          </a:stretch>
        </p:blipFill>
        <p:spPr>
          <a:xfrm>
            <a:off x="8503920" y="4343400"/>
            <a:ext cx="365760" cy="365760"/>
          </a:xfrm>
          <a:prstGeom prst="rect">
            <a:avLst/>
          </a:prstGeom>
        </p:spPr>
      </p:pic>
      <p:sp>
        <p:nvSpPr>
          <p:cNvPr id="32" name="Text 23"/>
          <p:cNvSpPr txBox="1"/>
          <p:nvPr/>
        </p:nvSpPr>
        <p:spPr>
          <a:xfrm>
            <a:off x="9235440" y="4160520"/>
            <a:ext cx="2148840" cy="731520"/>
          </a:xfrm>
          <a:prstGeom prst="rect">
            <a:avLst/>
          </a:prstGeom>
          <a:noFill/>
          <a:ln/>
        </p:spPr>
        <p:txBody>
          <a:bodyPr wrap="square" lIns="0" tIns="0" rIns="0" bIns="0" rtlCol="0" anchor="ctr"/>
          <a:lstStyle/>
          <a:p>
            <a:pPr indent="0" marL="0">
              <a:buNone/>
            </a:pPr>
            <a:r>
              <a:rPr lang="en-US" sz="1900" b="1" dirty="0">
                <a:solidFill>
                  <a:schemeClr val="tx1"/>
                </a:solidFill>
              </a:rPr>
              <a:t>Claims are checked</a:t>
            </a:r>
            <a:endParaRPr lang="en-US" sz="1900" dirty="0"/>
          </a:p>
        </p:txBody>
      </p:sp>
      <p:sp>
        <p:nvSpPr>
          <p:cNvPr id="33" name="Text 24"/>
          <p:cNvSpPr txBox="1"/>
          <p:nvPr/>
        </p:nvSpPr>
        <p:spPr>
          <a:xfrm>
            <a:off x="8321040" y="5074920"/>
            <a:ext cx="2971800" cy="1005840"/>
          </a:xfrm>
          <a:prstGeom prst="rect">
            <a:avLst/>
          </a:prstGeom>
          <a:noFill/>
          <a:ln/>
        </p:spPr>
        <p:txBody>
          <a:bodyPr wrap="square" lIns="0" tIns="0" rIns="0" bIns="0" rtlCol="0" anchor="t"/>
          <a:lstStyle/>
          <a:p>
            <a:pPr indent="0" marL="0">
              <a:buNone/>
            </a:pPr>
            <a:r>
              <a:rPr lang="en-US" sz="1700" dirty="0">
                <a:solidFill>
                  <a:schemeClr val="accent6"/>
                </a:solidFill>
              </a:rPr>
              <a:t>Model text is rejected if it invents a number, IP or technique.</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to run it</a:t>
            </a:r>
            <a:endParaRPr lang="en-US" sz="3400" dirty="0"/>
          </a:p>
        </p:txBody>
      </p:sp>
      <p:sp>
        <p:nvSpPr>
          <p:cNvPr id="4" name="num"/>
          <p:cNvSpPr/>
          <p:nvPr/>
        </p:nvSpPr>
        <p:spPr>
          <a:xfrm>
            <a:off x="548640" y="1508760"/>
            <a:ext cx="566928" cy="566928"/>
          </a:xfrm>
          <a:prstGeom prst="ellipse">
            <a:avLst/>
          </a:prstGeom>
          <a:solidFill>
            <a:schemeClr val="accent1"/>
          </a:solidFill>
          <a:ln/>
        </p:spPr>
      </p:sp>
      <p:sp>
        <p:nvSpPr>
          <p:cNvPr id="5" name="Text 2"/>
          <p:cNvSpPr txBox="1"/>
          <p:nvPr/>
        </p:nvSpPr>
        <p:spPr>
          <a:xfrm>
            <a:off x="548640" y="15087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325880" y="1417320"/>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Install</a:t>
            </a:r>
            <a:endParaRPr lang="en-US" sz="1700" dirty="0"/>
          </a:p>
        </p:txBody>
      </p:sp>
      <p:sp>
        <p:nvSpPr>
          <p:cNvPr id="7" name="code"/>
          <p:cNvSpPr/>
          <p:nvPr/>
        </p:nvSpPr>
        <p:spPr>
          <a:xfrm>
            <a:off x="3566160" y="1472184"/>
            <a:ext cx="4754880" cy="640080"/>
          </a:xfrm>
          <a:prstGeom prst="roundRect">
            <a:avLst>
              <a:gd name="adj" fmla="val 8571"/>
            </a:avLst>
          </a:prstGeom>
          <a:solidFill>
            <a:schemeClr val="tx1"/>
          </a:solidFill>
          <a:ln/>
        </p:spPr>
      </p:sp>
      <p:sp>
        <p:nvSpPr>
          <p:cNvPr id="8" name="Text 5"/>
          <p:cNvSpPr txBox="1"/>
          <p:nvPr/>
        </p:nvSpPr>
        <p:spPr>
          <a:xfrm>
            <a:off x="3703320" y="1472184"/>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make bootstrap</a:t>
            </a:r>
            <a:endParaRPr lang="en-US" sz="1400" dirty="0"/>
          </a:p>
        </p:txBody>
      </p:sp>
      <p:sp>
        <p:nvSpPr>
          <p:cNvPr id="9" name="num"/>
          <p:cNvSpPr/>
          <p:nvPr/>
        </p:nvSpPr>
        <p:spPr>
          <a:xfrm>
            <a:off x="548640" y="2441448"/>
            <a:ext cx="566928" cy="566928"/>
          </a:xfrm>
          <a:prstGeom prst="ellipse">
            <a:avLst/>
          </a:prstGeom>
          <a:solidFill>
            <a:schemeClr val="accent1"/>
          </a:solidFill>
          <a:ln/>
        </p:spPr>
      </p:sp>
      <p:sp>
        <p:nvSpPr>
          <p:cNvPr id="10" name="Text 7"/>
          <p:cNvSpPr txBox="1"/>
          <p:nvPr/>
        </p:nvSpPr>
        <p:spPr>
          <a:xfrm>
            <a:off x="548640" y="2441448"/>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8"/>
          <p:cNvSpPr txBox="1"/>
          <p:nvPr/>
        </p:nvSpPr>
        <p:spPr>
          <a:xfrm>
            <a:off x="1325880" y="2350008"/>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Check</a:t>
            </a:r>
            <a:endParaRPr lang="en-US" sz="1700" dirty="0"/>
          </a:p>
        </p:txBody>
      </p:sp>
      <p:sp>
        <p:nvSpPr>
          <p:cNvPr id="12" name="code"/>
          <p:cNvSpPr/>
          <p:nvPr/>
        </p:nvSpPr>
        <p:spPr>
          <a:xfrm>
            <a:off x="3566160" y="2404872"/>
            <a:ext cx="4754880" cy="640080"/>
          </a:xfrm>
          <a:prstGeom prst="roundRect">
            <a:avLst>
              <a:gd name="adj" fmla="val 8571"/>
            </a:avLst>
          </a:prstGeom>
          <a:solidFill>
            <a:schemeClr val="tx1"/>
          </a:solidFill>
          <a:ln/>
        </p:spPr>
      </p:sp>
      <p:sp>
        <p:nvSpPr>
          <p:cNvPr id="13" name="Text 10"/>
          <p:cNvSpPr txBox="1"/>
          <p:nvPr/>
        </p:nvSpPr>
        <p:spPr>
          <a:xfrm>
            <a:off x="3703320" y="2404872"/>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sentinel doctor</a:t>
            </a:r>
            <a:endParaRPr lang="en-US" sz="1400" dirty="0"/>
          </a:p>
        </p:txBody>
      </p:sp>
      <p:sp>
        <p:nvSpPr>
          <p:cNvPr id="14" name="num"/>
          <p:cNvSpPr/>
          <p:nvPr/>
        </p:nvSpPr>
        <p:spPr>
          <a:xfrm>
            <a:off x="548640" y="3374136"/>
            <a:ext cx="566928" cy="566928"/>
          </a:xfrm>
          <a:prstGeom prst="ellipse">
            <a:avLst/>
          </a:prstGeom>
          <a:solidFill>
            <a:schemeClr val="accent1"/>
          </a:solidFill>
          <a:ln/>
        </p:spPr>
      </p:sp>
      <p:sp>
        <p:nvSpPr>
          <p:cNvPr id="15" name="Text 12"/>
          <p:cNvSpPr txBox="1"/>
          <p:nvPr/>
        </p:nvSpPr>
        <p:spPr>
          <a:xfrm>
            <a:off x="548640" y="3374136"/>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3"/>
          <p:cNvSpPr txBox="1"/>
          <p:nvPr/>
        </p:nvSpPr>
        <p:spPr>
          <a:xfrm>
            <a:off x="1325880" y="3282696"/>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Monitor</a:t>
            </a:r>
            <a:endParaRPr lang="en-US" sz="1700" dirty="0"/>
          </a:p>
        </p:txBody>
      </p:sp>
      <p:sp>
        <p:nvSpPr>
          <p:cNvPr id="17" name="code"/>
          <p:cNvSpPr/>
          <p:nvPr/>
        </p:nvSpPr>
        <p:spPr>
          <a:xfrm>
            <a:off x="3566160" y="3337560"/>
            <a:ext cx="4754880" cy="640080"/>
          </a:xfrm>
          <a:prstGeom prst="roundRect">
            <a:avLst>
              <a:gd name="adj" fmla="val 8571"/>
            </a:avLst>
          </a:prstGeom>
          <a:solidFill>
            <a:schemeClr val="tx1"/>
          </a:solidFill>
          <a:ln/>
        </p:spPr>
      </p:sp>
      <p:sp>
        <p:nvSpPr>
          <p:cNvPr id="18" name="Text 15"/>
          <p:cNvSpPr txBox="1"/>
          <p:nvPr/>
        </p:nvSpPr>
        <p:spPr>
          <a:xfrm>
            <a:off x="3703320" y="3337560"/>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sentinel watch --iface lo0 -d</a:t>
            </a:r>
            <a:endParaRPr lang="en-US" sz="1400" dirty="0"/>
          </a:p>
        </p:txBody>
      </p:sp>
      <p:sp>
        <p:nvSpPr>
          <p:cNvPr id="19" name="num"/>
          <p:cNvSpPr/>
          <p:nvPr/>
        </p:nvSpPr>
        <p:spPr>
          <a:xfrm>
            <a:off x="548640" y="4306824"/>
            <a:ext cx="566928" cy="566928"/>
          </a:xfrm>
          <a:prstGeom prst="ellipse">
            <a:avLst/>
          </a:prstGeom>
          <a:solidFill>
            <a:schemeClr val="accent1"/>
          </a:solidFill>
          <a:ln/>
        </p:spPr>
      </p:sp>
      <p:sp>
        <p:nvSpPr>
          <p:cNvPr id="20" name="Text 17"/>
          <p:cNvSpPr txBox="1"/>
          <p:nvPr/>
        </p:nvSpPr>
        <p:spPr>
          <a:xfrm>
            <a:off x="548640" y="4306824"/>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8"/>
          <p:cNvSpPr txBox="1"/>
          <p:nvPr/>
        </p:nvSpPr>
        <p:spPr>
          <a:xfrm>
            <a:off x="1325880" y="4215384"/>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Attack (2nd console)</a:t>
            </a:r>
            <a:endParaRPr lang="en-US" sz="1700" dirty="0"/>
          </a:p>
        </p:txBody>
      </p:sp>
      <p:sp>
        <p:nvSpPr>
          <p:cNvPr id="22" name="code"/>
          <p:cNvSpPr/>
          <p:nvPr/>
        </p:nvSpPr>
        <p:spPr>
          <a:xfrm>
            <a:off x="3566160" y="4270248"/>
            <a:ext cx="4754880" cy="640080"/>
          </a:xfrm>
          <a:prstGeom prst="roundRect">
            <a:avLst>
              <a:gd name="adj" fmla="val 8571"/>
            </a:avLst>
          </a:prstGeom>
          <a:solidFill>
            <a:schemeClr val="tx1"/>
          </a:solidFill>
          <a:ln/>
        </p:spPr>
      </p:sp>
      <p:sp>
        <p:nvSpPr>
          <p:cNvPr id="23" name="Text 20"/>
          <p:cNvSpPr txBox="1"/>
          <p:nvPr/>
        </p:nvSpPr>
        <p:spPr>
          <a:xfrm>
            <a:off x="3703320" y="4270248"/>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python tools/demo_attacks.py</a:t>
            </a:r>
            <a:endParaRPr lang="en-US" sz="1400" dirty="0"/>
          </a:p>
        </p:txBody>
      </p:sp>
      <p:sp>
        <p:nvSpPr>
          <p:cNvPr id="24" name="num"/>
          <p:cNvSpPr/>
          <p:nvPr/>
        </p:nvSpPr>
        <p:spPr>
          <a:xfrm>
            <a:off x="548640" y="5239512"/>
            <a:ext cx="566928" cy="566928"/>
          </a:xfrm>
          <a:prstGeom prst="ellipse">
            <a:avLst/>
          </a:prstGeom>
          <a:solidFill>
            <a:schemeClr val="accent1"/>
          </a:solidFill>
          <a:ln/>
        </p:spPr>
      </p:sp>
      <p:sp>
        <p:nvSpPr>
          <p:cNvPr id="25" name="Text 22"/>
          <p:cNvSpPr txBox="1"/>
          <p:nvPr/>
        </p:nvSpPr>
        <p:spPr>
          <a:xfrm>
            <a:off x="548640" y="5239512"/>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3"/>
          <p:cNvSpPr txBox="1"/>
          <p:nvPr/>
        </p:nvSpPr>
        <p:spPr>
          <a:xfrm>
            <a:off x="1325880" y="5148072"/>
            <a:ext cx="2286000" cy="749808"/>
          </a:xfrm>
          <a:prstGeom prst="rect">
            <a:avLst/>
          </a:prstGeom>
          <a:noFill/>
          <a:ln/>
        </p:spPr>
        <p:txBody>
          <a:bodyPr wrap="square" lIns="0" tIns="0" rIns="0" bIns="0" rtlCol="0" anchor="ctr"/>
          <a:lstStyle/>
          <a:p>
            <a:pPr indent="0" marL="0">
              <a:buNone/>
            </a:pPr>
            <a:r>
              <a:rPr lang="en-US" sz="1700" b="1" dirty="0">
                <a:solidFill>
                  <a:schemeClr val="tx1"/>
                </a:solidFill>
              </a:rPr>
              <a:t>Review</a:t>
            </a:r>
            <a:endParaRPr lang="en-US" sz="1700" dirty="0"/>
          </a:p>
        </p:txBody>
      </p:sp>
      <p:sp>
        <p:nvSpPr>
          <p:cNvPr id="27" name="code"/>
          <p:cNvSpPr/>
          <p:nvPr/>
        </p:nvSpPr>
        <p:spPr>
          <a:xfrm>
            <a:off x="3566160" y="5202936"/>
            <a:ext cx="4754880" cy="640080"/>
          </a:xfrm>
          <a:prstGeom prst="roundRect">
            <a:avLst>
              <a:gd name="adj" fmla="val 8571"/>
            </a:avLst>
          </a:prstGeom>
          <a:solidFill>
            <a:schemeClr val="tx1"/>
          </a:solidFill>
          <a:ln/>
        </p:spPr>
      </p:sp>
      <p:sp>
        <p:nvSpPr>
          <p:cNvPr id="28" name="Text 25"/>
          <p:cNvSpPr txBox="1"/>
          <p:nvPr/>
        </p:nvSpPr>
        <p:spPr>
          <a:xfrm>
            <a:off x="3703320" y="5202936"/>
            <a:ext cx="4526280" cy="640080"/>
          </a:xfrm>
          <a:prstGeom prst="rect">
            <a:avLst/>
          </a:prstGeom>
          <a:noFill/>
          <a:ln/>
        </p:spPr>
        <p:txBody>
          <a:bodyPr wrap="square" lIns="0" tIns="0" rIns="0" bIns="0" rtlCol="0" anchor="ctr"/>
          <a:lstStyle/>
          <a:p>
            <a:pPr indent="0" marL="0">
              <a:buNone/>
            </a:pPr>
            <a:r>
              <a:rPr lang="en-US" sz="1400" dirty="0">
                <a:solidFill>
                  <a:schemeClr val="accent3"/>
                </a:solidFill>
                <a:latin typeface="Courier New" pitchFamily="34" charset="0"/>
                <a:ea typeface="Courier New" pitchFamily="34" charset="-122"/>
                <a:cs typeface="Courier New" pitchFamily="34" charset="-120"/>
              </a:rPr>
              <a:t>uv run sentinel incidents</a:t>
            </a:r>
            <a:endParaRPr lang="en-US" sz="1400" dirty="0"/>
          </a:p>
        </p:txBody>
      </p:sp>
      <p:sp>
        <p:nvSpPr>
          <p:cNvPr id="29" name="card"/>
          <p:cNvSpPr/>
          <p:nvPr/>
        </p:nvSpPr>
        <p:spPr>
          <a:xfrm>
            <a:off x="8595360" y="1417320"/>
            <a:ext cx="3017520" cy="4572000"/>
          </a:xfrm>
          <a:prstGeom prst="roundRect">
            <a:avLst>
              <a:gd name="adj" fmla="val 2424"/>
            </a:avLst>
          </a:prstGeom>
          <a:solidFill>
            <a:schemeClr val="bg2"/>
          </a:solidFill>
          <a:ln/>
        </p:spPr>
      </p:sp>
      <p:sp>
        <p:nvSpPr>
          <p:cNvPr id="30" name="Text 27"/>
          <p:cNvSpPr txBox="1"/>
          <p:nvPr/>
        </p:nvSpPr>
        <p:spPr>
          <a:xfrm>
            <a:off x="8823960" y="1600200"/>
            <a:ext cx="2651760" cy="411480"/>
          </a:xfrm>
          <a:prstGeom prst="rect">
            <a:avLst/>
          </a:prstGeom>
          <a:noFill/>
          <a:ln/>
        </p:spPr>
        <p:txBody>
          <a:bodyPr wrap="square" lIns="0" tIns="0" rIns="0" bIns="0" rtlCol="0" anchor="ctr"/>
          <a:lstStyle/>
          <a:p>
            <a:pPr indent="0" marL="0">
              <a:buNone/>
            </a:pPr>
            <a:r>
              <a:rPr lang="en-US" sz="1900" b="1" dirty="0">
                <a:solidFill>
                  <a:schemeClr val="tx1"/>
                </a:solidFill>
              </a:rPr>
              <a:t>Optional add-ons</a:t>
            </a:r>
            <a:endParaRPr lang="en-US" sz="1900" dirty="0"/>
          </a:p>
        </p:txBody>
      </p:sp>
      <p:sp>
        <p:nvSpPr>
          <p:cNvPr id="31" name="Text 28"/>
          <p:cNvSpPr txBox="1"/>
          <p:nvPr/>
        </p:nvSpPr>
        <p:spPr>
          <a:xfrm>
            <a:off x="8823960" y="2148840"/>
            <a:ext cx="265176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accent6"/>
                </a:solidFill>
              </a:rPr>
              <a:t>Chat alerts: fill secrets.env, add -n</a:t>
            </a:r>
            <a:endParaRPr lang="en-US" sz="1500" dirty="0"/>
          </a:p>
          <a:p>
            <a:pPr marL="342900" indent="-342900">
              <a:spcAft>
                <a:spcPts val="1000"/>
              </a:spcAft>
              <a:buSzPct val="100000"/>
              <a:buChar char="•"/>
            </a:pPr>
            <a:r>
              <a:rPr lang="en-US" sz="1500" dirty="0">
                <a:solidFill>
                  <a:schemeClr val="accent6"/>
                </a:solidFill>
              </a:rPr>
              <a:t>LLM text: enable [llm], run sentinel llm test</a:t>
            </a:r>
            <a:endParaRPr lang="en-US" sz="1500" dirty="0"/>
          </a:p>
          <a:p>
            <a:pPr marL="342900" indent="-342900">
              <a:spcAft>
                <a:spcPts val="1000"/>
              </a:spcAft>
              <a:buSzPct val="100000"/>
              <a:buChar char="•"/>
            </a:pPr>
            <a:r>
              <a:rPr lang="en-US" sz="1500" dirty="0">
                <a:solidFill>
                  <a:schemeClr val="accent6"/>
                </a:solidFill>
              </a:rPr>
              <a:t>Offline demo: sentinel replay demo.pcap -d</a:t>
            </a:r>
            <a:endParaRPr lang="en-US" sz="1500" dirty="0"/>
          </a:p>
          <a:p>
            <a:pPr marL="342900" indent="-342900">
              <a:spcAft>
                <a:spcPts val="1000"/>
              </a:spcAft>
              <a:buSzPct val="100000"/>
              <a:buChar char="•"/>
            </a:pPr>
            <a:r>
              <a:rPr lang="en-US" sz="1500" dirty="0">
                <a:solidFill>
                  <a:schemeClr val="accent6"/>
                </a:solidFill>
              </a:rPr>
              <a:t>Narrated attacks: demo_attacks.py</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How it's meant to be used</a:t>
            </a:r>
            <a:endParaRPr lang="en-US" sz="3400" dirty="0"/>
          </a:p>
        </p:txBody>
      </p:sp>
      <p:sp>
        <p:nvSpPr>
          <p:cNvPr id="4" name="card"/>
          <p:cNvSpPr/>
          <p:nvPr/>
        </p:nvSpPr>
        <p:spPr>
          <a:xfrm>
            <a:off x="548640" y="1463040"/>
            <a:ext cx="1920240" cy="2286000"/>
          </a:xfrm>
          <a:prstGeom prst="roundRect">
            <a:avLst>
              <a:gd name="adj" fmla="val 3810"/>
            </a:avLst>
          </a:prstGeom>
          <a:solidFill>
            <a:schemeClr val="bg2"/>
          </a:solidFill>
          <a:ln/>
        </p:spPr>
      </p:sp>
      <p:sp>
        <p:nvSpPr>
          <p:cNvPr id="5" name="icon-bg"/>
          <p:cNvSpPr/>
          <p:nvPr/>
        </p:nvSpPr>
        <p:spPr>
          <a:xfrm>
            <a:off x="1051560" y="1691640"/>
            <a:ext cx="914400" cy="914400"/>
          </a:xfrm>
          <a:prstGeom prst="ellipse">
            <a:avLst/>
          </a:prstGeom>
          <a:solidFill>
            <a:schemeClr val="accent4"/>
          </a:solidFill>
          <a:ln/>
        </p:spPr>
      </p:sp>
      <p:pic>
        <p:nvPicPr>
          <p:cNvPr id="6" name="Image 0" descr="icon">    </p:cNvPr>
          <p:cNvPicPr>
            <a:picLocks noChangeAspect="1"/>
          </p:cNvPicPr>
          <p:nvPr/>
        </p:nvPicPr>
        <p:blipFill>
          <a:blip r:embed="rId1"/>
          <a:stretch>
            <a:fillRect/>
          </a:stretch>
        </p:blipFill>
        <p:spPr>
          <a:xfrm>
            <a:off x="1280160" y="1920240"/>
            <a:ext cx="457200" cy="457200"/>
          </a:xfrm>
          <a:prstGeom prst="rect">
            <a:avLst/>
          </a:prstGeom>
        </p:spPr>
      </p:pic>
      <p:sp>
        <p:nvSpPr>
          <p:cNvPr id="7" name="Text 3"/>
          <p:cNvSpPr txBox="1"/>
          <p:nvPr/>
        </p:nvSpPr>
        <p:spPr>
          <a:xfrm>
            <a:off x="548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Install</a:t>
            </a:r>
            <a:endParaRPr lang="en-US" sz="1900" dirty="0"/>
          </a:p>
        </p:txBody>
      </p:sp>
      <p:sp>
        <p:nvSpPr>
          <p:cNvPr id="8" name="Text 4"/>
          <p:cNvSpPr txBox="1"/>
          <p:nvPr/>
        </p:nvSpPr>
        <p:spPr>
          <a:xfrm>
            <a:off x="640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on the gateway Mac</a:t>
            </a:r>
            <a:endParaRPr lang="en-US" sz="1300" dirty="0"/>
          </a:p>
        </p:txBody>
      </p:sp>
      <p:sp>
        <p:nvSpPr>
          <p:cNvPr id="9" name="arrow"/>
          <p:cNvSpPr/>
          <p:nvPr/>
        </p:nvSpPr>
        <p:spPr>
          <a:xfrm>
            <a:off x="2487168" y="2606040"/>
            <a:ext cx="329184" cy="0"/>
          </a:xfrm>
          <a:prstGeom prst="line">
            <a:avLst/>
          </a:prstGeom>
          <a:noFill/>
          <a:ln w="31750">
            <a:solidFill>
              <a:schemeClr val="accent5"/>
            </a:solidFill>
            <a:prstDash val="solid"/>
            <a:tailEnd type="triangle"/>
          </a:ln>
        </p:spPr>
      </p:sp>
      <p:sp>
        <p:nvSpPr>
          <p:cNvPr id="10" name="card"/>
          <p:cNvSpPr/>
          <p:nvPr/>
        </p:nvSpPr>
        <p:spPr>
          <a:xfrm>
            <a:off x="2834640" y="1463040"/>
            <a:ext cx="1920240" cy="2286000"/>
          </a:xfrm>
          <a:prstGeom prst="roundRect">
            <a:avLst>
              <a:gd name="adj" fmla="val 3810"/>
            </a:avLst>
          </a:prstGeom>
          <a:solidFill>
            <a:schemeClr val="bg2"/>
          </a:solidFill>
          <a:ln/>
        </p:spPr>
      </p:sp>
      <p:sp>
        <p:nvSpPr>
          <p:cNvPr id="11" name="icon-bg"/>
          <p:cNvSpPr/>
          <p:nvPr/>
        </p:nvSpPr>
        <p:spPr>
          <a:xfrm>
            <a:off x="3337560" y="1691640"/>
            <a:ext cx="914400" cy="914400"/>
          </a:xfrm>
          <a:prstGeom prst="ellipse">
            <a:avLst/>
          </a:prstGeom>
          <a:solidFill>
            <a:schemeClr val="accent3"/>
          </a:solidFill>
          <a:ln/>
        </p:spPr>
      </p:sp>
      <p:pic>
        <p:nvPicPr>
          <p:cNvPr id="12" name="Image 1" descr="icon">    </p:cNvPr>
          <p:cNvPicPr>
            <a:picLocks noChangeAspect="1"/>
          </p:cNvPicPr>
          <p:nvPr/>
        </p:nvPicPr>
        <p:blipFill>
          <a:blip r:embed="rId2"/>
          <a:stretch>
            <a:fillRect/>
          </a:stretch>
        </p:blipFill>
        <p:spPr>
          <a:xfrm>
            <a:off x="3566160" y="1920240"/>
            <a:ext cx="457200" cy="457200"/>
          </a:xfrm>
          <a:prstGeom prst="rect">
            <a:avLst/>
          </a:prstGeom>
        </p:spPr>
      </p:pic>
      <p:sp>
        <p:nvSpPr>
          <p:cNvPr id="13" name="Text 8"/>
          <p:cNvSpPr txBox="1"/>
          <p:nvPr/>
        </p:nvSpPr>
        <p:spPr>
          <a:xfrm>
            <a:off x="2834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Watch</a:t>
            </a:r>
            <a:endParaRPr lang="en-US" sz="1900" dirty="0"/>
          </a:p>
        </p:txBody>
      </p:sp>
      <p:sp>
        <p:nvSpPr>
          <p:cNvPr id="14" name="Text 9"/>
          <p:cNvSpPr txBox="1"/>
          <p:nvPr/>
        </p:nvSpPr>
        <p:spPr>
          <a:xfrm>
            <a:off x="2926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dashboard or background</a:t>
            </a:r>
            <a:endParaRPr lang="en-US" sz="1300" dirty="0"/>
          </a:p>
        </p:txBody>
      </p:sp>
      <p:sp>
        <p:nvSpPr>
          <p:cNvPr id="15" name="arrow"/>
          <p:cNvSpPr/>
          <p:nvPr/>
        </p:nvSpPr>
        <p:spPr>
          <a:xfrm>
            <a:off x="4773168" y="2606040"/>
            <a:ext cx="329184" cy="0"/>
          </a:xfrm>
          <a:prstGeom prst="line">
            <a:avLst/>
          </a:prstGeom>
          <a:noFill/>
          <a:ln w="31750">
            <a:solidFill>
              <a:schemeClr val="accent5"/>
            </a:solidFill>
            <a:prstDash val="solid"/>
            <a:tailEnd type="triangle"/>
          </a:ln>
        </p:spPr>
      </p:sp>
      <p:sp>
        <p:nvSpPr>
          <p:cNvPr id="16" name="card"/>
          <p:cNvSpPr/>
          <p:nvPr/>
        </p:nvSpPr>
        <p:spPr>
          <a:xfrm>
            <a:off x="5120640" y="1463040"/>
            <a:ext cx="1920240" cy="2286000"/>
          </a:xfrm>
          <a:prstGeom prst="roundRect">
            <a:avLst>
              <a:gd name="adj" fmla="val 3810"/>
            </a:avLst>
          </a:prstGeom>
          <a:solidFill>
            <a:schemeClr val="bg2"/>
          </a:solidFill>
          <a:ln/>
        </p:spPr>
      </p:sp>
      <p:sp>
        <p:nvSpPr>
          <p:cNvPr id="17" name="icon-bg"/>
          <p:cNvSpPr/>
          <p:nvPr/>
        </p:nvSpPr>
        <p:spPr>
          <a:xfrm>
            <a:off x="5623560" y="1691640"/>
            <a:ext cx="914400" cy="914400"/>
          </a:xfrm>
          <a:prstGeom prst="ellipse">
            <a:avLst/>
          </a:prstGeom>
          <a:solidFill>
            <a:schemeClr val="accent1"/>
          </a:solidFill>
          <a:ln/>
        </p:spPr>
      </p:sp>
      <p:pic>
        <p:nvPicPr>
          <p:cNvPr id="18" name="Image 2" descr="icon">    </p:cNvPr>
          <p:cNvPicPr>
            <a:picLocks noChangeAspect="1"/>
          </p:cNvPicPr>
          <p:nvPr/>
        </p:nvPicPr>
        <p:blipFill>
          <a:blip r:embed="rId3"/>
          <a:stretch>
            <a:fillRect/>
          </a:stretch>
        </p:blipFill>
        <p:spPr>
          <a:xfrm>
            <a:off x="5852160" y="1920240"/>
            <a:ext cx="457200" cy="457200"/>
          </a:xfrm>
          <a:prstGeom prst="rect">
            <a:avLst/>
          </a:prstGeom>
        </p:spPr>
      </p:pic>
      <p:sp>
        <p:nvSpPr>
          <p:cNvPr id="19" name="Text 13"/>
          <p:cNvSpPr txBox="1"/>
          <p:nvPr/>
        </p:nvSpPr>
        <p:spPr>
          <a:xfrm>
            <a:off x="5120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Get alerted</a:t>
            </a:r>
            <a:endParaRPr lang="en-US" sz="1900" dirty="0"/>
          </a:p>
        </p:txBody>
      </p:sp>
      <p:sp>
        <p:nvSpPr>
          <p:cNvPr id="20" name="Text 14"/>
          <p:cNvSpPr txBox="1"/>
          <p:nvPr/>
        </p:nvSpPr>
        <p:spPr>
          <a:xfrm>
            <a:off x="5212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Slack, Discord, Telegram</a:t>
            </a:r>
            <a:endParaRPr lang="en-US" sz="1300" dirty="0"/>
          </a:p>
        </p:txBody>
      </p:sp>
      <p:sp>
        <p:nvSpPr>
          <p:cNvPr id="21" name="arrow"/>
          <p:cNvSpPr/>
          <p:nvPr/>
        </p:nvSpPr>
        <p:spPr>
          <a:xfrm>
            <a:off x="7059168" y="2606040"/>
            <a:ext cx="329184" cy="0"/>
          </a:xfrm>
          <a:prstGeom prst="line">
            <a:avLst/>
          </a:prstGeom>
          <a:noFill/>
          <a:ln w="31750">
            <a:solidFill>
              <a:schemeClr val="accent5"/>
            </a:solidFill>
            <a:prstDash val="solid"/>
            <a:tailEnd type="triangle"/>
          </a:ln>
        </p:spPr>
      </p:sp>
      <p:sp>
        <p:nvSpPr>
          <p:cNvPr id="22" name="card"/>
          <p:cNvSpPr/>
          <p:nvPr/>
        </p:nvSpPr>
        <p:spPr>
          <a:xfrm>
            <a:off x="7406640" y="1463040"/>
            <a:ext cx="1920240" cy="2286000"/>
          </a:xfrm>
          <a:prstGeom prst="roundRect">
            <a:avLst>
              <a:gd name="adj" fmla="val 3810"/>
            </a:avLst>
          </a:prstGeom>
          <a:solidFill>
            <a:schemeClr val="bg2"/>
          </a:solidFill>
          <a:ln/>
        </p:spPr>
      </p:sp>
      <p:sp>
        <p:nvSpPr>
          <p:cNvPr id="23" name="icon-bg"/>
          <p:cNvSpPr/>
          <p:nvPr/>
        </p:nvSpPr>
        <p:spPr>
          <a:xfrm>
            <a:off x="7909560" y="1691640"/>
            <a:ext cx="914400" cy="914400"/>
          </a:xfrm>
          <a:prstGeom prst="ellipse">
            <a:avLst/>
          </a:prstGeom>
          <a:solidFill>
            <a:schemeClr val="accent2"/>
          </a:solidFill>
          <a:ln/>
        </p:spPr>
      </p:sp>
      <p:pic>
        <p:nvPicPr>
          <p:cNvPr id="24" name="Image 3" descr="icon">    </p:cNvPr>
          <p:cNvPicPr>
            <a:picLocks noChangeAspect="1"/>
          </p:cNvPicPr>
          <p:nvPr/>
        </p:nvPicPr>
        <p:blipFill>
          <a:blip r:embed="rId4"/>
          <a:stretch>
            <a:fillRect/>
          </a:stretch>
        </p:blipFill>
        <p:spPr>
          <a:xfrm>
            <a:off x="8138160" y="1920240"/>
            <a:ext cx="457200" cy="457200"/>
          </a:xfrm>
          <a:prstGeom prst="rect">
            <a:avLst/>
          </a:prstGeom>
        </p:spPr>
      </p:pic>
      <p:sp>
        <p:nvSpPr>
          <p:cNvPr id="25" name="Text 18"/>
          <p:cNvSpPr txBox="1"/>
          <p:nvPr/>
        </p:nvSpPr>
        <p:spPr>
          <a:xfrm>
            <a:off x="7406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Triage</a:t>
            </a:r>
            <a:endParaRPr lang="en-US" sz="1900" dirty="0"/>
          </a:p>
        </p:txBody>
      </p:sp>
      <p:sp>
        <p:nvSpPr>
          <p:cNvPr id="26" name="Text 19"/>
          <p:cNvSpPr txBox="1"/>
          <p:nvPr/>
        </p:nvSpPr>
        <p:spPr>
          <a:xfrm>
            <a:off x="7498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ack, dismiss, resolve</a:t>
            </a:r>
            <a:endParaRPr lang="en-US" sz="1300" dirty="0"/>
          </a:p>
        </p:txBody>
      </p:sp>
      <p:sp>
        <p:nvSpPr>
          <p:cNvPr id="27" name="arrow"/>
          <p:cNvSpPr/>
          <p:nvPr/>
        </p:nvSpPr>
        <p:spPr>
          <a:xfrm>
            <a:off x="9345168" y="2606040"/>
            <a:ext cx="329184" cy="0"/>
          </a:xfrm>
          <a:prstGeom prst="line">
            <a:avLst/>
          </a:prstGeom>
          <a:noFill/>
          <a:ln w="31750">
            <a:solidFill>
              <a:schemeClr val="accent5"/>
            </a:solidFill>
            <a:prstDash val="solid"/>
            <a:tailEnd type="triangle"/>
          </a:ln>
        </p:spPr>
      </p:sp>
      <p:sp>
        <p:nvSpPr>
          <p:cNvPr id="28" name="card"/>
          <p:cNvSpPr/>
          <p:nvPr/>
        </p:nvSpPr>
        <p:spPr>
          <a:xfrm>
            <a:off x="9692640" y="1463040"/>
            <a:ext cx="1920240" cy="2286000"/>
          </a:xfrm>
          <a:prstGeom prst="roundRect">
            <a:avLst>
              <a:gd name="adj" fmla="val 3810"/>
            </a:avLst>
          </a:prstGeom>
          <a:solidFill>
            <a:schemeClr val="bg2"/>
          </a:solidFill>
          <a:ln/>
        </p:spPr>
      </p:sp>
      <p:sp>
        <p:nvSpPr>
          <p:cNvPr id="29" name="icon-bg"/>
          <p:cNvSpPr/>
          <p:nvPr/>
        </p:nvSpPr>
        <p:spPr>
          <a:xfrm>
            <a:off x="10195560" y="1691640"/>
            <a:ext cx="914400" cy="914400"/>
          </a:xfrm>
          <a:prstGeom prst="ellipse">
            <a:avLst/>
          </a:prstGeom>
          <a:solidFill>
            <a:schemeClr val="accent6"/>
          </a:solidFill>
          <a:ln/>
        </p:spPr>
      </p:sp>
      <p:pic>
        <p:nvPicPr>
          <p:cNvPr id="30" name="Image 4" descr="icon">    </p:cNvPr>
          <p:cNvPicPr>
            <a:picLocks noChangeAspect="1"/>
          </p:cNvPicPr>
          <p:nvPr/>
        </p:nvPicPr>
        <p:blipFill>
          <a:blip r:embed="rId5"/>
          <a:stretch>
            <a:fillRect/>
          </a:stretch>
        </p:blipFill>
        <p:spPr>
          <a:xfrm>
            <a:off x="10424160" y="1920240"/>
            <a:ext cx="457200" cy="457200"/>
          </a:xfrm>
          <a:prstGeom prst="rect">
            <a:avLst/>
          </a:prstGeom>
        </p:spPr>
      </p:pic>
      <p:sp>
        <p:nvSpPr>
          <p:cNvPr id="31" name="Text 23"/>
          <p:cNvSpPr txBox="1"/>
          <p:nvPr/>
        </p:nvSpPr>
        <p:spPr>
          <a:xfrm>
            <a:off x="9692640" y="2743200"/>
            <a:ext cx="1920240" cy="411480"/>
          </a:xfrm>
          <a:prstGeom prst="rect">
            <a:avLst/>
          </a:prstGeom>
          <a:noFill/>
          <a:ln/>
        </p:spPr>
        <p:txBody>
          <a:bodyPr wrap="square" lIns="0" tIns="0" rIns="0" bIns="0" rtlCol="0" anchor="ctr"/>
          <a:lstStyle/>
          <a:p>
            <a:pPr algn="ctr" indent="0" marL="0">
              <a:buNone/>
            </a:pPr>
            <a:r>
              <a:rPr lang="en-US" sz="1900" b="1" dirty="0">
                <a:solidFill>
                  <a:schemeClr val="tx1"/>
                </a:solidFill>
              </a:rPr>
              <a:t>Tune</a:t>
            </a:r>
            <a:endParaRPr lang="en-US" sz="1900" dirty="0"/>
          </a:p>
        </p:txBody>
      </p:sp>
      <p:sp>
        <p:nvSpPr>
          <p:cNvPr id="32" name="Text 24"/>
          <p:cNvSpPr txBox="1"/>
          <p:nvPr/>
        </p:nvSpPr>
        <p:spPr>
          <a:xfrm>
            <a:off x="9784080" y="3154680"/>
            <a:ext cx="1737360" cy="502920"/>
          </a:xfrm>
          <a:prstGeom prst="rect">
            <a:avLst/>
          </a:prstGeom>
          <a:noFill/>
          <a:ln/>
        </p:spPr>
        <p:txBody>
          <a:bodyPr wrap="square" lIns="0" tIns="0" rIns="0" bIns="0" rtlCol="0" anchor="t"/>
          <a:lstStyle/>
          <a:p>
            <a:pPr algn="ctr" indent="0" marL="0">
              <a:buNone/>
            </a:pPr>
            <a:r>
              <a:rPr lang="en-US" sz="1300" dirty="0">
                <a:solidFill>
                  <a:schemeClr val="accent6"/>
                </a:solidFill>
              </a:rPr>
              <a:t>allow-lists for known-good</a:t>
            </a:r>
            <a:endParaRPr lang="en-US" sz="1300" dirty="0"/>
          </a:p>
        </p:txBody>
      </p:sp>
      <p:sp>
        <p:nvSpPr>
          <p:cNvPr id="33" name="loop-line"/>
          <p:cNvSpPr/>
          <p:nvPr/>
        </p:nvSpPr>
        <p:spPr>
          <a:xfrm>
            <a:off x="10652760" y="3749040"/>
            <a:ext cx="0" cy="411480"/>
          </a:xfrm>
          <a:prstGeom prst="line">
            <a:avLst/>
          </a:prstGeom>
          <a:noFill/>
          <a:ln w="31750">
            <a:solidFill>
              <a:schemeClr val="accent5"/>
            </a:solidFill>
            <a:prstDash val="solid"/>
          </a:ln>
        </p:spPr>
      </p:sp>
      <p:sp>
        <p:nvSpPr>
          <p:cNvPr id="34" name="loop-line"/>
          <p:cNvSpPr/>
          <p:nvPr/>
        </p:nvSpPr>
        <p:spPr>
          <a:xfrm flipH="1">
            <a:off x="3794760" y="4160520"/>
            <a:ext cx="6858000" cy="0"/>
          </a:xfrm>
          <a:prstGeom prst="line">
            <a:avLst/>
          </a:prstGeom>
          <a:noFill/>
          <a:ln w="31750">
            <a:solidFill>
              <a:schemeClr val="accent5"/>
            </a:solidFill>
            <a:prstDash val="solid"/>
          </a:ln>
        </p:spPr>
      </p:sp>
      <p:sp>
        <p:nvSpPr>
          <p:cNvPr id="35" name="arrow"/>
          <p:cNvSpPr/>
          <p:nvPr/>
        </p:nvSpPr>
        <p:spPr>
          <a:xfrm>
            <a:off x="3794760" y="4160520"/>
            <a:ext cx="0" cy="-393192"/>
          </a:xfrm>
          <a:prstGeom prst="line">
            <a:avLst/>
          </a:prstGeom>
          <a:noFill/>
          <a:ln w="31750">
            <a:solidFill>
              <a:schemeClr val="accent5"/>
            </a:solidFill>
            <a:prstDash val="solid"/>
            <a:tailEnd type="triangle"/>
          </a:ln>
        </p:spPr>
      </p:sp>
      <p:sp>
        <p:nvSpPr>
          <p:cNvPr id="36" name="Text 28"/>
          <p:cNvSpPr txBox="1"/>
          <p:nvPr/>
        </p:nvSpPr>
        <p:spPr>
          <a:xfrm>
            <a:off x="5029200" y="4224528"/>
            <a:ext cx="2103120" cy="320040"/>
          </a:xfrm>
          <a:prstGeom prst="rect">
            <a:avLst/>
          </a:prstGeom>
          <a:noFill/>
          <a:ln/>
        </p:spPr>
        <p:txBody>
          <a:bodyPr wrap="square" lIns="0" tIns="0" rIns="0" bIns="0" rtlCol="0" anchor="ctr"/>
          <a:lstStyle/>
          <a:p>
            <a:pPr algn="ctr" indent="0" marL="0">
              <a:buNone/>
            </a:pPr>
            <a:r>
              <a:rPr lang="en-US" sz="1300" i="1" dirty="0">
                <a:solidFill>
                  <a:schemeClr val="accent6"/>
                </a:solidFill>
              </a:rPr>
              <a:t>repeat</a:t>
            </a:r>
            <a:endParaRPr lang="en-US" sz="1300" dirty="0"/>
          </a:p>
        </p:txBody>
      </p:sp>
      <p:sp>
        <p:nvSpPr>
          <p:cNvPr id="37" name="card"/>
          <p:cNvSpPr/>
          <p:nvPr/>
        </p:nvSpPr>
        <p:spPr>
          <a:xfrm>
            <a:off x="548640" y="4846320"/>
            <a:ext cx="2651760" cy="1234440"/>
          </a:xfrm>
          <a:prstGeom prst="roundRect">
            <a:avLst>
              <a:gd name="adj" fmla="val 5926"/>
            </a:avLst>
          </a:prstGeom>
          <a:solidFill>
            <a:schemeClr val="bg2"/>
          </a:solidFill>
          <a:ln/>
        </p:spPr>
      </p:sp>
      <p:sp>
        <p:nvSpPr>
          <p:cNvPr id="38" name="Text 30"/>
          <p:cNvSpPr txBox="1"/>
          <p:nvPr/>
        </p:nvSpPr>
        <p:spPr>
          <a:xfrm>
            <a:off x="731520"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Replay a capture</a:t>
            </a:r>
            <a:endParaRPr lang="en-US" sz="1600" dirty="0"/>
          </a:p>
        </p:txBody>
      </p:sp>
      <p:sp>
        <p:nvSpPr>
          <p:cNvPr id="39" name="Text 31"/>
          <p:cNvSpPr txBox="1"/>
          <p:nvPr/>
        </p:nvSpPr>
        <p:spPr>
          <a:xfrm>
            <a:off x="731520"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sentinel replay file.pcap</a:t>
            </a:r>
            <a:endParaRPr lang="en-US" sz="1200" dirty="0"/>
          </a:p>
        </p:txBody>
      </p:sp>
      <p:sp>
        <p:nvSpPr>
          <p:cNvPr id="40" name="card"/>
          <p:cNvSpPr/>
          <p:nvPr/>
        </p:nvSpPr>
        <p:spPr>
          <a:xfrm>
            <a:off x="3364992" y="4846320"/>
            <a:ext cx="2651760" cy="1234440"/>
          </a:xfrm>
          <a:prstGeom prst="roundRect">
            <a:avLst>
              <a:gd name="adj" fmla="val 5926"/>
            </a:avLst>
          </a:prstGeom>
          <a:solidFill>
            <a:schemeClr val="bg2"/>
          </a:solidFill>
          <a:ln/>
        </p:spPr>
      </p:sp>
      <p:sp>
        <p:nvSpPr>
          <p:cNvPr id="41" name="Text 33"/>
          <p:cNvSpPr txBox="1"/>
          <p:nvPr/>
        </p:nvSpPr>
        <p:spPr>
          <a:xfrm>
            <a:off x="3547872"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Watch live</a:t>
            </a:r>
            <a:endParaRPr lang="en-US" sz="1600" dirty="0"/>
          </a:p>
        </p:txBody>
      </p:sp>
      <p:sp>
        <p:nvSpPr>
          <p:cNvPr id="42" name="Text 34"/>
          <p:cNvSpPr txBox="1"/>
          <p:nvPr/>
        </p:nvSpPr>
        <p:spPr>
          <a:xfrm>
            <a:off x="3547872"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sentinel watch --iface en0</a:t>
            </a:r>
            <a:endParaRPr lang="en-US" sz="1200" dirty="0"/>
          </a:p>
        </p:txBody>
      </p:sp>
      <p:sp>
        <p:nvSpPr>
          <p:cNvPr id="43" name="card"/>
          <p:cNvSpPr/>
          <p:nvPr/>
        </p:nvSpPr>
        <p:spPr>
          <a:xfrm>
            <a:off x="6181344" y="4846320"/>
            <a:ext cx="2651760" cy="1234440"/>
          </a:xfrm>
          <a:prstGeom prst="roundRect">
            <a:avLst>
              <a:gd name="adj" fmla="val 5926"/>
            </a:avLst>
          </a:prstGeom>
          <a:solidFill>
            <a:schemeClr val="bg2"/>
          </a:solidFill>
          <a:ln/>
        </p:spPr>
      </p:sp>
      <p:sp>
        <p:nvSpPr>
          <p:cNvPr id="44" name="Text 36"/>
          <p:cNvSpPr txBox="1"/>
          <p:nvPr/>
        </p:nvSpPr>
        <p:spPr>
          <a:xfrm>
            <a:off x="6364224"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Full-screen dashboard</a:t>
            </a:r>
            <a:endParaRPr lang="en-US" sz="1600" dirty="0"/>
          </a:p>
        </p:txBody>
      </p:sp>
      <p:sp>
        <p:nvSpPr>
          <p:cNvPr id="45" name="Text 37"/>
          <p:cNvSpPr txBox="1"/>
          <p:nvPr/>
        </p:nvSpPr>
        <p:spPr>
          <a:xfrm>
            <a:off x="6364224"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add -d</a:t>
            </a:r>
            <a:endParaRPr lang="en-US" sz="1200" dirty="0"/>
          </a:p>
        </p:txBody>
      </p:sp>
      <p:sp>
        <p:nvSpPr>
          <p:cNvPr id="46" name="card"/>
          <p:cNvSpPr/>
          <p:nvPr/>
        </p:nvSpPr>
        <p:spPr>
          <a:xfrm>
            <a:off x="8997696" y="4846320"/>
            <a:ext cx="2651760" cy="1234440"/>
          </a:xfrm>
          <a:prstGeom prst="roundRect">
            <a:avLst>
              <a:gd name="adj" fmla="val 5926"/>
            </a:avLst>
          </a:prstGeom>
          <a:solidFill>
            <a:schemeClr val="bg2"/>
          </a:solidFill>
          <a:ln/>
        </p:spPr>
      </p:sp>
      <p:sp>
        <p:nvSpPr>
          <p:cNvPr id="47" name="Text 39"/>
          <p:cNvSpPr txBox="1"/>
          <p:nvPr/>
        </p:nvSpPr>
        <p:spPr>
          <a:xfrm>
            <a:off x="9180576" y="4937760"/>
            <a:ext cx="2286000" cy="457200"/>
          </a:xfrm>
          <a:prstGeom prst="rect">
            <a:avLst/>
          </a:prstGeom>
          <a:noFill/>
          <a:ln/>
        </p:spPr>
        <p:txBody>
          <a:bodyPr wrap="square" lIns="0" tIns="0" rIns="0" bIns="0" rtlCol="0" anchor="ctr"/>
          <a:lstStyle/>
          <a:p>
            <a:pPr indent="0" marL="0">
              <a:buNone/>
            </a:pPr>
            <a:r>
              <a:rPr lang="en-US" sz="1600" b="1" dirty="0">
                <a:solidFill>
                  <a:schemeClr val="tx1"/>
                </a:solidFill>
              </a:rPr>
              <a:t>Send alerts</a:t>
            </a:r>
            <a:endParaRPr lang="en-US" sz="1600" dirty="0"/>
          </a:p>
        </p:txBody>
      </p:sp>
      <p:sp>
        <p:nvSpPr>
          <p:cNvPr id="48" name="Text 40"/>
          <p:cNvSpPr txBox="1"/>
          <p:nvPr/>
        </p:nvSpPr>
        <p:spPr>
          <a:xfrm>
            <a:off x="9180576" y="5440680"/>
            <a:ext cx="2286000" cy="457200"/>
          </a:xfrm>
          <a:prstGeom prst="rect">
            <a:avLst/>
          </a:prstGeom>
          <a:noFill/>
          <a:ln/>
        </p:spPr>
        <p:txBody>
          <a:bodyPr wrap="square" lIns="0" tIns="0" rIns="0" bIns="0" rtlCol="0" anchor="ctr"/>
          <a:lstStyle/>
          <a:p>
            <a:pPr indent="0" marL="0">
              <a:buNone/>
            </a:pPr>
            <a:r>
              <a:rPr lang="en-US" sz="1200" dirty="0">
                <a:solidFill>
                  <a:schemeClr val="accent1"/>
                </a:solidFill>
                <a:latin typeface="Courier New" pitchFamily="34" charset="0"/>
                <a:ea typeface="Courier New" pitchFamily="34" charset="-122"/>
                <a:cs typeface="Courier New" pitchFamily="34" charset="-120"/>
              </a:rPr>
              <a:t>add -n</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Where it stands today</a:t>
            </a:r>
            <a:endParaRPr lang="en-US" sz="3400" dirty="0"/>
          </a:p>
        </p:txBody>
      </p:sp>
      <p:sp>
        <p:nvSpPr>
          <p:cNvPr id="4" name="card"/>
          <p:cNvSpPr/>
          <p:nvPr/>
        </p:nvSpPr>
        <p:spPr>
          <a:xfrm>
            <a:off x="548640" y="1463040"/>
            <a:ext cx="3474720" cy="4572000"/>
          </a:xfrm>
          <a:prstGeom prst="roundRect">
            <a:avLst>
              <a:gd name="adj" fmla="val 2105"/>
            </a:avLst>
          </a:prstGeom>
          <a:solidFill>
            <a:schemeClr val="bg2"/>
          </a:solidFill>
          <a:ln/>
        </p:spPr>
      </p:sp>
      <p:sp>
        <p:nvSpPr>
          <p:cNvPr id="5" name="col-head"/>
          <p:cNvSpPr/>
          <p:nvPr/>
        </p:nvSpPr>
        <p:spPr>
          <a:xfrm>
            <a:off x="548640" y="1463040"/>
            <a:ext cx="3474720" cy="685800"/>
          </a:xfrm>
          <a:prstGeom prst="roundRect">
            <a:avLst>
              <a:gd name="adj" fmla="val 10667"/>
            </a:avLst>
          </a:prstGeom>
          <a:solidFill>
            <a:schemeClr val="accent3"/>
          </a:solidFill>
          <a:ln/>
        </p:spPr>
      </p:sp>
      <p:sp>
        <p:nvSpPr>
          <p:cNvPr id="6" name="Text 3"/>
          <p:cNvSpPr txBox="1"/>
          <p:nvPr/>
        </p:nvSpPr>
        <p:spPr>
          <a:xfrm>
            <a:off x="731520" y="1463040"/>
            <a:ext cx="3108960" cy="685800"/>
          </a:xfrm>
          <a:prstGeom prst="rect">
            <a:avLst/>
          </a:prstGeom>
          <a:noFill/>
          <a:ln/>
        </p:spPr>
        <p:txBody>
          <a:bodyPr wrap="square" lIns="0" tIns="0" rIns="0" bIns="0" rtlCol="0" anchor="ctr"/>
          <a:lstStyle/>
          <a:p>
            <a:pPr indent="0" marL="0">
              <a:buNone/>
            </a:pPr>
            <a:r>
              <a:rPr lang="en-US" sz="1800" b="1" dirty="0">
                <a:solidFill>
                  <a:schemeClr val="bg1"/>
                </a:solidFill>
              </a:rPr>
              <a:t>Verified</a:t>
            </a:r>
            <a:endParaRPr lang="en-US" sz="1800" dirty="0"/>
          </a:p>
        </p:txBody>
      </p:sp>
      <p:sp>
        <p:nvSpPr>
          <p:cNvPr id="7" name="Text 4"/>
          <p:cNvSpPr txBox="1"/>
          <p:nvPr/>
        </p:nvSpPr>
        <p:spPr>
          <a:xfrm>
            <a:off x="777240" y="237744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Live capture on localhost</a:t>
            </a:r>
            <a:endParaRPr lang="en-US" sz="1800" dirty="0"/>
          </a:p>
          <a:p>
            <a:pPr marL="342900" indent="-342900">
              <a:spcAft>
                <a:spcPts val="1400"/>
              </a:spcAft>
              <a:buSzPct val="100000"/>
              <a:buChar char="•"/>
            </a:pPr>
            <a:r>
              <a:rPr lang="en-US" sz="1800" dirty="0">
                <a:solidFill>
                  <a:schemeClr val="tx1"/>
                </a:solidFill>
              </a:rPr>
              <a:t>4 attack patterns + a silent control</a:t>
            </a:r>
            <a:endParaRPr lang="en-US" sz="1800" dirty="0"/>
          </a:p>
          <a:p>
            <a:pPr marL="342900" indent="-342900">
              <a:spcAft>
                <a:spcPts val="1400"/>
              </a:spcAft>
              <a:buSzPct val="100000"/>
              <a:buChar char="•"/>
            </a:pPr>
            <a:r>
              <a:rPr lang="en-US" sz="1800" dirty="0">
                <a:solidFill>
                  <a:schemeClr val="tx1"/>
                </a:solidFill>
              </a:rPr>
              <a:t>Pinned live dashboard</a:t>
            </a:r>
            <a:endParaRPr lang="en-US" sz="1800" dirty="0"/>
          </a:p>
          <a:p>
            <a:pPr marL="342900" indent="-342900">
              <a:spcAft>
                <a:spcPts val="1400"/>
              </a:spcAft>
              <a:buSzPct val="100000"/>
              <a:buChar char="•"/>
            </a:pPr>
            <a:r>
              <a:rPr lang="en-US" sz="1800" dirty="0">
                <a:solidFill>
                  <a:schemeClr val="tx1"/>
                </a:solidFill>
              </a:rPr>
              <a:t>327 automated tests, all passing</a:t>
            </a:r>
            <a:endParaRPr lang="en-US" sz="1800" dirty="0"/>
          </a:p>
        </p:txBody>
      </p:sp>
      <p:sp>
        <p:nvSpPr>
          <p:cNvPr id="8" name="card"/>
          <p:cNvSpPr/>
          <p:nvPr/>
        </p:nvSpPr>
        <p:spPr>
          <a:xfrm>
            <a:off x="4297680" y="1463040"/>
            <a:ext cx="3474720" cy="4572000"/>
          </a:xfrm>
          <a:prstGeom prst="roundRect">
            <a:avLst>
              <a:gd name="adj" fmla="val 2105"/>
            </a:avLst>
          </a:prstGeom>
          <a:solidFill>
            <a:schemeClr val="bg2"/>
          </a:solidFill>
          <a:ln/>
        </p:spPr>
      </p:sp>
      <p:sp>
        <p:nvSpPr>
          <p:cNvPr id="9" name="col-head"/>
          <p:cNvSpPr/>
          <p:nvPr/>
        </p:nvSpPr>
        <p:spPr>
          <a:xfrm>
            <a:off x="4297680" y="1463040"/>
            <a:ext cx="3474720" cy="685800"/>
          </a:xfrm>
          <a:prstGeom prst="roundRect">
            <a:avLst>
              <a:gd name="adj" fmla="val 10667"/>
            </a:avLst>
          </a:prstGeom>
          <a:solidFill>
            <a:schemeClr val="accent2"/>
          </a:solidFill>
          <a:ln/>
        </p:spPr>
      </p:sp>
      <p:sp>
        <p:nvSpPr>
          <p:cNvPr id="10" name="Text 7"/>
          <p:cNvSpPr txBox="1"/>
          <p:nvPr/>
        </p:nvSpPr>
        <p:spPr>
          <a:xfrm>
            <a:off x="4480560" y="1463040"/>
            <a:ext cx="3108960" cy="685800"/>
          </a:xfrm>
          <a:prstGeom prst="rect">
            <a:avLst/>
          </a:prstGeom>
          <a:noFill/>
          <a:ln/>
        </p:spPr>
        <p:txBody>
          <a:bodyPr wrap="square" lIns="0" tIns="0" rIns="0" bIns="0" rtlCol="0" anchor="ctr"/>
          <a:lstStyle/>
          <a:p>
            <a:pPr indent="0" marL="0">
              <a:buNone/>
            </a:pPr>
            <a:r>
              <a:rPr lang="en-US" sz="1800" b="1" dirty="0">
                <a:solidFill>
                  <a:schemeClr val="tx1"/>
                </a:solidFill>
              </a:rPr>
              <a:t>Built, awaiting a real-world run</a:t>
            </a:r>
            <a:endParaRPr lang="en-US" sz="1800" dirty="0"/>
          </a:p>
        </p:txBody>
      </p:sp>
      <p:sp>
        <p:nvSpPr>
          <p:cNvPr id="11" name="Text 8"/>
          <p:cNvSpPr txBox="1"/>
          <p:nvPr/>
        </p:nvSpPr>
        <p:spPr>
          <a:xfrm>
            <a:off x="4526280" y="237744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Slack, Discord, Telegram delivery</a:t>
            </a:r>
            <a:endParaRPr lang="en-US" sz="1800" dirty="0"/>
          </a:p>
          <a:p>
            <a:pPr marL="342900" indent="-342900">
              <a:spcAft>
                <a:spcPts val="1400"/>
              </a:spcAft>
              <a:buSzPct val="100000"/>
              <a:buChar char="•"/>
            </a:pPr>
            <a:r>
              <a:rPr lang="en-US" sz="1800" dirty="0">
                <a:solidFill>
                  <a:schemeClr val="tx1"/>
                </a:solidFill>
              </a:rPr>
              <a:t>Gemma 4 E2B via Ollama / llama.cpp</a:t>
            </a:r>
            <a:endParaRPr lang="en-US" sz="1800" dirty="0"/>
          </a:p>
          <a:p>
            <a:pPr marL="342900" indent="-342900">
              <a:spcAft>
                <a:spcPts val="1400"/>
              </a:spcAft>
              <a:buSzPct val="100000"/>
              <a:buChar char="•"/>
            </a:pPr>
            <a:r>
              <a:rPr lang="en-US" sz="1800" dirty="0">
                <a:solidFill>
                  <a:schemeClr val="tx1"/>
                </a:solidFill>
              </a:rPr>
              <a:t>Gateway capture with other devices</a:t>
            </a:r>
            <a:endParaRPr lang="en-US" sz="1800" dirty="0"/>
          </a:p>
        </p:txBody>
      </p:sp>
      <p:sp>
        <p:nvSpPr>
          <p:cNvPr id="12" name="card"/>
          <p:cNvSpPr/>
          <p:nvPr/>
        </p:nvSpPr>
        <p:spPr>
          <a:xfrm>
            <a:off x="8046720" y="1463040"/>
            <a:ext cx="3474720" cy="4572000"/>
          </a:xfrm>
          <a:prstGeom prst="roundRect">
            <a:avLst>
              <a:gd name="adj" fmla="val 2105"/>
            </a:avLst>
          </a:prstGeom>
          <a:solidFill>
            <a:schemeClr val="bg2"/>
          </a:solidFill>
          <a:ln/>
        </p:spPr>
      </p:sp>
      <p:sp>
        <p:nvSpPr>
          <p:cNvPr id="13" name="col-head"/>
          <p:cNvSpPr/>
          <p:nvPr/>
        </p:nvSpPr>
        <p:spPr>
          <a:xfrm>
            <a:off x="8046720" y="1463040"/>
            <a:ext cx="3474720" cy="685800"/>
          </a:xfrm>
          <a:prstGeom prst="roundRect">
            <a:avLst>
              <a:gd name="adj" fmla="val 10667"/>
            </a:avLst>
          </a:prstGeom>
          <a:solidFill>
            <a:schemeClr val="accent4"/>
          </a:solidFill>
          <a:ln/>
        </p:spPr>
      </p:sp>
      <p:sp>
        <p:nvSpPr>
          <p:cNvPr id="14" name="Text 11"/>
          <p:cNvSpPr txBox="1"/>
          <p:nvPr/>
        </p:nvSpPr>
        <p:spPr>
          <a:xfrm>
            <a:off x="8229600" y="1463040"/>
            <a:ext cx="3108960" cy="685800"/>
          </a:xfrm>
          <a:prstGeom prst="rect">
            <a:avLst/>
          </a:prstGeom>
          <a:noFill/>
          <a:ln/>
        </p:spPr>
        <p:txBody>
          <a:bodyPr wrap="square" lIns="0" tIns="0" rIns="0" bIns="0" rtlCol="0" anchor="ctr"/>
          <a:lstStyle/>
          <a:p>
            <a:pPr indent="0" marL="0">
              <a:buNone/>
            </a:pPr>
            <a:r>
              <a:rPr lang="en-US" sz="1800" b="1" dirty="0">
                <a:solidFill>
                  <a:schemeClr val="bg1"/>
                </a:solidFill>
              </a:rPr>
              <a:t>Next</a:t>
            </a:r>
            <a:endParaRPr lang="en-US" sz="1800" dirty="0"/>
          </a:p>
        </p:txBody>
      </p:sp>
      <p:sp>
        <p:nvSpPr>
          <p:cNvPr id="15" name="Text 12"/>
          <p:cNvSpPr txBox="1"/>
          <p:nvPr/>
        </p:nvSpPr>
        <p:spPr>
          <a:xfrm>
            <a:off x="8275320" y="2377440"/>
            <a:ext cx="3063240" cy="34747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Isolation Forest baselines</a:t>
            </a:r>
            <a:endParaRPr lang="en-US" sz="1800" dirty="0"/>
          </a:p>
          <a:p>
            <a:pPr marL="342900" indent="-342900">
              <a:spcAft>
                <a:spcPts val="1400"/>
              </a:spcAft>
              <a:buSzPct val="100000"/>
              <a:buChar char="•"/>
            </a:pPr>
            <a:r>
              <a:rPr lang="en-US" sz="1800" dirty="0">
                <a:solidFill>
                  <a:schemeClr val="tx1"/>
                </a:solidFill>
              </a:rPr>
              <a:t>n-gram domain model</a:t>
            </a:r>
            <a:endParaRPr lang="en-US" sz="1800" dirty="0"/>
          </a:p>
          <a:p>
            <a:pPr marL="342900" indent="-342900">
              <a:spcAft>
                <a:spcPts val="1400"/>
              </a:spcAft>
              <a:buSzPct val="100000"/>
              <a:buChar char="•"/>
            </a:pPr>
            <a:r>
              <a:rPr lang="en-US" sz="1800" dirty="0">
                <a:solidFill>
                  <a:schemeClr val="tx1"/>
                </a:solidFill>
              </a:rPr>
              <a:t>Autoencoder second opinion</a:t>
            </a:r>
            <a:endParaRPr lang="en-US" sz="1800" dirty="0"/>
          </a:p>
          <a:p>
            <a:pPr marL="342900" indent="-342900">
              <a:spcAft>
                <a:spcPts val="1400"/>
              </a:spcAft>
              <a:buSzPct val="100000"/>
              <a:buChar char="•"/>
            </a:pPr>
            <a:r>
              <a:rPr lang="en-US" sz="1800" dirty="0">
                <a:solidFill>
                  <a:schemeClr val="tx1"/>
                </a:solidFill>
              </a:rPr>
              <a:t>ARP spoofing, rogue DHCP, canary</a:t>
            </a:r>
            <a:endParaRPr lang="en-US" sz="1800" dirty="0"/>
          </a:p>
          <a:p>
            <a:pPr marL="342900" indent="-342900">
              <a:spcAft>
                <a:spcPts val="1400"/>
              </a:spcAft>
              <a:buSzPct val="100000"/>
              <a:buChar char="•"/>
            </a:pPr>
            <a:r>
              <a:rPr lang="en-US" sz="1800" dirty="0">
                <a:solidFill>
                  <a:schemeClr val="tx1"/>
                </a:solidFill>
              </a:rPr>
              <a:t>Web interface</a:t>
            </a:r>
            <a:endParaRPr lang="en-US" sz="1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radar-ring"/>
          <p:cNvSpPr/>
          <p:nvPr/>
        </p:nvSpPr>
        <p:spPr>
          <a:xfrm>
            <a:off x="8229600" y="1965960"/>
            <a:ext cx="2926080" cy="2926080"/>
          </a:xfrm>
          <a:prstGeom prst="ellipse">
            <a:avLst/>
          </a:prstGeom>
          <a:ln w="19050">
            <a:solidFill>
              <a:schemeClr val="accent6"/>
            </a:solidFill>
            <a:prstDash val="solid"/>
          </a:ln>
        </p:spPr>
      </p:sp>
      <p:sp>
        <p:nvSpPr>
          <p:cNvPr id="4" name="radar-ring"/>
          <p:cNvSpPr/>
          <p:nvPr/>
        </p:nvSpPr>
        <p:spPr>
          <a:xfrm>
            <a:off x="8686800" y="2423160"/>
            <a:ext cx="2011680" cy="2011680"/>
          </a:xfrm>
          <a:prstGeom prst="ellipse">
            <a:avLst/>
          </a:prstGeom>
          <a:ln w="15240">
            <a:solidFill>
              <a:schemeClr val="accent6"/>
            </a:solidFill>
            <a:prstDash val="solid"/>
          </a:ln>
        </p:spPr>
      </p:sp>
      <p:sp>
        <p:nvSpPr>
          <p:cNvPr id="5" name="radar-ring"/>
          <p:cNvSpPr/>
          <p:nvPr/>
        </p:nvSpPr>
        <p:spPr>
          <a:xfrm>
            <a:off x="9144000" y="2880360"/>
            <a:ext cx="1097280" cy="1097280"/>
          </a:xfrm>
          <a:prstGeom prst="ellipse">
            <a:avLst/>
          </a:prstGeom>
          <a:ln w="11430">
            <a:solidFill>
              <a:schemeClr val="accent6"/>
            </a:solidFill>
            <a:prstDash val="solid"/>
          </a:ln>
        </p:spPr>
      </p:sp>
      <p:sp>
        <p:nvSpPr>
          <p:cNvPr id="6" name="radar-core"/>
          <p:cNvSpPr/>
          <p:nvPr/>
        </p:nvSpPr>
        <p:spPr>
          <a:xfrm>
            <a:off x="9326880" y="3063240"/>
            <a:ext cx="731520" cy="731520"/>
          </a:xfrm>
          <a:prstGeom prst="ellipse">
            <a:avLst/>
          </a:prstGeom>
          <a:solidFill>
            <a:schemeClr val="accent1"/>
          </a:solidFill>
          <a:ln/>
        </p:spPr>
      </p:sp>
      <p:pic>
        <p:nvPicPr>
          <p:cNvPr id="7" name="Image 0" descr="play">    </p:cNvPr>
          <p:cNvPicPr>
            <a:picLocks noChangeAspect="1"/>
          </p:cNvPicPr>
          <p:nvPr/>
        </p:nvPicPr>
        <p:blipFill>
          <a:blip r:embed="rId1"/>
          <a:stretch>
            <a:fillRect/>
          </a:stretch>
        </p:blipFill>
        <p:spPr>
          <a:xfrm>
            <a:off x="9537192" y="3246120"/>
            <a:ext cx="365760" cy="365760"/>
          </a:xfrm>
          <a:prstGeom prst="rect">
            <a:avLst/>
          </a:prstGeom>
        </p:spPr>
      </p:pic>
      <p:sp>
        <p:nvSpPr>
          <p:cNvPr id="8" name="Text 4"/>
          <p:cNvSpPr txBox="1"/>
          <p:nvPr/>
        </p:nvSpPr>
        <p:spPr>
          <a:xfrm>
            <a:off x="731520" y="1645920"/>
            <a:ext cx="7315200" cy="118872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Demo time</a:t>
            </a:r>
            <a:endParaRPr lang="en-US" sz="6000" dirty="0"/>
          </a:p>
        </p:txBody>
      </p:sp>
      <p:sp>
        <p:nvSpPr>
          <p:cNvPr id="9" name="Text 5"/>
          <p:cNvSpPr txBox="1"/>
          <p:nvPr/>
        </p:nvSpPr>
        <p:spPr>
          <a:xfrm>
            <a:off x="731520" y="2926080"/>
            <a:ext cx="7315200" cy="731520"/>
          </a:xfrm>
          <a:prstGeom prst="rect">
            <a:avLst/>
          </a:prstGeom>
          <a:noFill/>
          <a:ln/>
        </p:spPr>
        <p:txBody>
          <a:bodyPr wrap="square" lIns="0" tIns="0" rIns="0" bIns="0" rtlCol="0" anchor="t"/>
          <a:lstStyle/>
          <a:p>
            <a:pPr indent="0" marL="0">
              <a:buNone/>
            </a:pPr>
            <a:r>
              <a:rPr lang="en-US" sz="2400" dirty="0">
                <a:solidFill>
                  <a:schemeClr val="accent3"/>
                </a:solidFill>
              </a:rPr>
              <a:t>Watch four attacks turn into four red alerts, live.</a:t>
            </a:r>
            <a:endParaRPr lang="en-US" sz="2400" dirty="0"/>
          </a:p>
        </p:txBody>
      </p:sp>
      <p:sp>
        <p:nvSpPr>
          <p:cNvPr id="10" name="code"/>
          <p:cNvSpPr/>
          <p:nvPr/>
        </p:nvSpPr>
        <p:spPr>
          <a:xfrm>
            <a:off x="731520" y="4114800"/>
            <a:ext cx="6949440" cy="685800"/>
          </a:xfrm>
          <a:prstGeom prst="roundRect">
            <a:avLst>
              <a:gd name="adj" fmla="val 8000"/>
            </a:avLst>
          </a:prstGeom>
          <a:solidFill>
            <a:schemeClr val="accent6"/>
          </a:solidFill>
          <a:ln/>
        </p:spPr>
      </p:sp>
      <p:sp>
        <p:nvSpPr>
          <p:cNvPr id="11" name="Text 7"/>
          <p:cNvSpPr txBox="1"/>
          <p:nvPr/>
        </p:nvSpPr>
        <p:spPr>
          <a:xfrm>
            <a:off x="914400" y="4114800"/>
            <a:ext cx="6675120" cy="6858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uv run sentinel watch --iface lo0 -d</a:t>
            </a:r>
            <a:endParaRPr lang="en-US" sz="1500" dirty="0"/>
          </a:p>
        </p:txBody>
      </p:sp>
      <p:sp>
        <p:nvSpPr>
          <p:cNvPr id="12" name="code"/>
          <p:cNvSpPr/>
          <p:nvPr/>
        </p:nvSpPr>
        <p:spPr>
          <a:xfrm>
            <a:off x="731520" y="4937760"/>
            <a:ext cx="6949440" cy="685800"/>
          </a:xfrm>
          <a:prstGeom prst="roundRect">
            <a:avLst>
              <a:gd name="adj" fmla="val 8000"/>
            </a:avLst>
          </a:prstGeom>
          <a:solidFill>
            <a:schemeClr val="accent6"/>
          </a:solidFill>
          <a:ln/>
        </p:spPr>
      </p:sp>
      <p:sp>
        <p:nvSpPr>
          <p:cNvPr id="13" name="Text 9"/>
          <p:cNvSpPr txBox="1"/>
          <p:nvPr/>
        </p:nvSpPr>
        <p:spPr>
          <a:xfrm>
            <a:off x="914400" y="4937760"/>
            <a:ext cx="6675120" cy="685800"/>
          </a:xfrm>
          <a:prstGeom prst="rect">
            <a:avLst/>
          </a:prstGeom>
          <a:noFill/>
          <a:ln/>
        </p:spPr>
        <p:txBody>
          <a:bodyPr wrap="square" lIns="0" tIns="0" rIns="0" bIns="0" rtlCol="0" anchor="ctr"/>
          <a:lstStyle/>
          <a:p>
            <a:pPr indent="0" marL="0">
              <a:buNone/>
            </a:pPr>
            <a:r>
              <a:rPr lang="en-US" sz="1500" dirty="0">
                <a:solidFill>
                  <a:schemeClr val="bg1"/>
                </a:solidFill>
                <a:latin typeface="Courier New" pitchFamily="34" charset="0"/>
                <a:ea typeface="Courier New" pitchFamily="34" charset="-122"/>
                <a:cs typeface="Courier New" pitchFamily="34" charset="-120"/>
              </a:rPr>
              <a:t>uv run python tools/demo_attacks.py</a:t>
            </a:r>
            <a:endParaRPr lang="en-US" sz="1500" dirty="0"/>
          </a:p>
        </p:txBody>
      </p:sp>
    </p:spTree>
  </p:cSld>
  <p:clrMapOvr>
    <a:masterClrMapping/>
  </p:clrMapOvr>
</p:sld>
</file>

<file path=ppt/theme/theme1.xml><?xml version="1.0" encoding="utf-8"?>
<a:theme xmlns:a="http://schemas.openxmlformats.org/drawingml/2006/main" name="Sentinel">
  <a:themeElements>
    <a:clrScheme name="Sentinel">
      <a:dk1>
        <a:srgbClr val="0B1B2B"/>
      </a:dk1>
      <a:lt1>
        <a:srgbClr val="FFFFFF"/>
      </a:lt1>
      <a:dk2>
        <a:srgbClr val="16324F"/>
      </a:dk2>
      <a:lt2>
        <a:srgbClr val="EEF2F6"/>
      </a:lt2>
      <a:accent1>
        <a:srgbClr val="E5383B"/>
      </a:accent1>
      <a:accent2>
        <a:srgbClr val="F4A261"/>
      </a:accent2>
      <a:accent3>
        <a:srgbClr val="2EC4B6"/>
      </a:accent3>
      <a:accent4>
        <a:srgbClr val="5C7CFA"/>
      </a:accent4>
      <a:accent5>
        <a:srgbClr val="8D99AE"/>
      </a:accent5>
      <a:accent6>
        <a:srgbClr val="3A506B"/>
      </a:accent6>
      <a:hlink>
        <a:srgbClr val="5C7CFA"/>
      </a:hlink>
      <a:folHlink>
        <a:srgbClr val="8D99AE"/>
      </a:folHlink>
    </a:clrScheme>
    <a:fontScheme name="Sentin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network security for places with no security team</dc:title>
  <dc:subject>PptxGenJS Presentation</dc:subject>
  <dc:creator>Sentinel</dc:creator>
  <cp:lastModifiedBy>Sentinel</cp:lastModifiedBy>
  <cp:revision>1</cp:revision>
  <dcterms:created xsi:type="dcterms:W3CDTF">2026-10-24T18:59:41Z</dcterms:created>
  <dcterms:modified xsi:type="dcterms:W3CDTF">2026-10-24T18:59:41Z</dcterms:modified>
</cp:coreProperties>
</file>